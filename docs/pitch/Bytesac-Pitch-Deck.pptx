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2b15b92b-80e0-cbd8-4580-accc56fc329f}">
          <p14:sldIdLst>
            <p14:sldId id="256"/>
            <p14:sldId id="257"/>
            <p14:sldId id="258"/>
            <p14:sldId id="259"/>
            <p14:sldId id="260"/>
            <p14:sldId id="261"/>
            <p14:sldId id="262"/>
            <p14:sldId id="263"/>
            <p14:sldId id="264"/>
            <p14:sldId id="265"/>
            <p14:sldId id="266"/>
            <p14:sldId id="267"/>
          </p14:sldIdLst>
        </p14:section>
        <p14:section name="Appendix" id="{5cdf1212-642c-a2fe-ee07-9df81199cf05}">
          <p14:sldIdLst>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E3A"/>
                </a:solidFill>
                <a:latin typeface="+mn-lt"/>
              </a:defRPr>
            </a:pPr>
            <a:r>
              <a:rPr sz="1300" b="0" i="0" u="none" strike="noStrike">
                <a:solidFill>
                  <a:srgbClr val="0F1E3A"/>
                </a:solidFill>
                <a:latin typeface="+mn-lt"/>
              </a:rPr>
              <a:t>Illustrative: BTC weight vs 25% target</a:t>
            </a:r>
          </a:p>
        </c:rich>
      </c:tx>
      <c:layout/>
      <c:overlay val="0"/>
    </c:title>
    <c:autoTitleDeleted val="0"/>
    <c:plotArea>
      <c:layout/>
      <c:lineChart>
        <c:varyColors val="0"/>
        <c:ser>
          <c:idx val="0"/>
          <c:order val="0"/>
          <c:tx>
            <c:strRef>
              <c:f>Sheet1!$B$1</c:f>
              <c:strCache>
                <c:ptCount val="1"/>
                <c:pt idx="0">
                  <c:v>BTC weight</c:v>
                </c:pt>
              </c:strCache>
            </c:strRef>
          </c:tx>
          <c:spPr>
            <a:solidFill>
              <a:srgbClr val="3D63D9"/>
            </a:solidFill>
            <a:ln w="25400" cap="flat">
              <a:solidFill>
                <a:srgbClr val="3D63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D63D9"/>
              </a:solidFill>
              <a:ln w="9525" cap="flat">
                <a:solidFill>
                  <a:srgbClr val="3D63D9"/>
                </a:solidFill>
                <a:prstDash val="solid"/>
                <a:round/>
              </a:ln>
              <a:effectLst/>
            </c:spPr>
          </c:marker>
          <c:cat>
            <c:multiLvlStrRef>
              <c:f>Sheet1!$A$2:$A$8</c:f>
              <c:multiLvlStrCache>
                <c:ptCount val="7"/>
                <c:lvl>
                  <c:pt idx="0">
                    <c:v>Wk 1</c:v>
                  </c:pt>
                  <c:pt idx="1">
                    <c:v>Wk 2</c:v>
                  </c:pt>
                  <c:pt idx="2">
                    <c:v>Wk 3</c:v>
                  </c:pt>
                  <c:pt idx="3">
                    <c:v>Wk 4</c:v>
                  </c:pt>
                  <c:pt idx="4">
                    <c:v>Wk 5</c:v>
                  </c:pt>
                  <c:pt idx="5">
                    <c:v>Wk 6</c:v>
                  </c:pt>
                  <c:pt idx="6">
                    <c:v>Wk 7</c:v>
                  </c:pt>
                </c:lvl>
              </c:multiLvlStrCache>
            </c:multiLvlStrRef>
          </c:cat>
          <c:val>
            <c:numRef>
              <c:f>Sheet1!$B$2:$B$8</c:f>
              <c:numCache>
                <c:formatCode>General</c:formatCode>
                <c:ptCount val="7"/>
                <c:pt idx="0">
                  <c:v>25</c:v>
                </c:pt>
                <c:pt idx="1">
                  <c:v>25.8</c:v>
                </c:pt>
                <c:pt idx="2">
                  <c:v>27</c:v>
                </c:pt>
                <c:pt idx="3">
                  <c:v>28.4</c:v>
                </c:pt>
                <c:pt idx="4">
                  <c:v>30.9</c:v>
                </c:pt>
                <c:pt idx="5">
                  <c:v>25.2</c:v>
                </c:pt>
                <c:pt idx="6">
                  <c:v>25.5</c:v>
                </c:pt>
              </c:numCache>
            </c:numRef>
          </c:val>
          <c:smooth val="0"/>
        </c:ser>
        <c:ser>
          <c:idx val="1"/>
          <c:order val="1"/>
          <c:tx>
            <c:strRef>
              <c:f>Sheet1!$C$1</c:f>
              <c:strCache>
                <c:ptCount val="1"/>
                <c:pt idx="0">
                  <c:v>Target</c:v>
                </c:pt>
              </c:strCache>
            </c:strRef>
          </c:tx>
          <c:spPr>
            <a:solidFill>
              <a:srgbClr val="1C2B4A"/>
            </a:solidFill>
            <a:ln w="25400" cap="flat">
              <a:solidFill>
                <a:srgbClr val="1C2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C2B4A"/>
              </a:solidFill>
              <a:ln w="9525" cap="flat">
                <a:solidFill>
                  <a:srgbClr val="1C2B4A"/>
                </a:solidFill>
                <a:prstDash val="solid"/>
                <a:round/>
              </a:ln>
              <a:effectLst/>
            </c:spPr>
          </c:marker>
          <c:cat>
            <c:multiLvlStrRef>
              <c:f>Sheet1!$A$2:$A$8</c:f>
              <c:multiLvlStrCache>
                <c:ptCount val="7"/>
                <c:lvl>
                  <c:pt idx="0">
                    <c:v>Wk 1</c:v>
                  </c:pt>
                  <c:pt idx="1">
                    <c:v>Wk 2</c:v>
                  </c:pt>
                  <c:pt idx="2">
                    <c:v>Wk 3</c:v>
                  </c:pt>
                  <c:pt idx="3">
                    <c:v>Wk 4</c:v>
                  </c:pt>
                  <c:pt idx="4">
                    <c:v>Wk 5</c:v>
                  </c:pt>
                  <c:pt idx="5">
                    <c:v>Wk 6</c:v>
                  </c:pt>
                  <c:pt idx="6">
                    <c:v>Wk 7</c:v>
                  </c:pt>
                </c:lvl>
              </c:multiLvlStrCache>
            </c:multiLvlStrRef>
          </c:cat>
          <c:val>
            <c:numRef>
              <c:f>Sheet1!$C$2:$C$8</c:f>
              <c:numCache>
                <c:formatCode>General</c:formatCode>
                <c:ptCount val="7"/>
                <c:pt idx="0">
                  <c:v>25</c:v>
                </c:pt>
                <c:pt idx="1">
                  <c:v>25</c:v>
                </c:pt>
                <c:pt idx="2">
                  <c:v>25</c:v>
                </c:pt>
                <c:pt idx="3">
                  <c:v>25</c:v>
                </c:pt>
                <c:pt idx="4">
                  <c:v>25</c:v>
                </c:pt>
                <c:pt idx="5">
                  <c:v>25</c:v>
                </c:pt>
                <c:pt idx="6">
                  <c:v>25</c:v>
                </c:pt>
              </c:numCache>
            </c:numRef>
          </c:val>
          <c:smooth val="0"/>
        </c:ser>
        <c:ser>
          <c:idx val="2"/>
          <c:order val="2"/>
          <c:tx>
            <c:strRef>
              <c:f>Sheet1!$D$1</c:f>
              <c:strCache>
                <c:ptCount val="1"/>
                <c:pt idx="0">
                  <c:v>Band +5%</c:v>
                </c:pt>
              </c:strCache>
            </c:strRef>
          </c:tx>
          <c:spPr>
            <a:solidFill>
              <a:srgbClr val="B6C7F0"/>
            </a:solidFill>
            <a:ln w="25400" cap="flat">
              <a:solidFill>
                <a:srgbClr val="B6C7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6C7F0"/>
              </a:solidFill>
              <a:ln w="9525" cap="flat">
                <a:solidFill>
                  <a:srgbClr val="B6C7F0"/>
                </a:solidFill>
                <a:prstDash val="solid"/>
                <a:round/>
              </a:ln>
              <a:effectLst/>
            </c:spPr>
          </c:marker>
          <c:cat>
            <c:multiLvlStrRef>
              <c:f>Sheet1!$A$2:$A$8</c:f>
              <c:multiLvlStrCache>
                <c:ptCount val="7"/>
                <c:lvl>
                  <c:pt idx="0">
                    <c:v>Wk 1</c:v>
                  </c:pt>
                  <c:pt idx="1">
                    <c:v>Wk 2</c:v>
                  </c:pt>
                  <c:pt idx="2">
                    <c:v>Wk 3</c:v>
                  </c:pt>
                  <c:pt idx="3">
                    <c:v>Wk 4</c:v>
                  </c:pt>
                  <c:pt idx="4">
                    <c:v>Wk 5</c:v>
                  </c:pt>
                  <c:pt idx="5">
                    <c:v>Wk 6</c:v>
                  </c:pt>
                  <c:pt idx="6">
                    <c:v>Wk 7</c:v>
                  </c:pt>
                </c:lvl>
              </c:multiLvlStrCache>
            </c:multiLvlStrRef>
          </c:cat>
          <c:val>
            <c:numRef>
              <c:f>Sheet1!$D$2:$D$8</c:f>
              <c:numCache>
                <c:formatCode>General</c:formatCode>
                <c:ptCount val="7"/>
                <c:pt idx="0">
                  <c:v>30</c:v>
                </c:pt>
                <c:pt idx="1">
                  <c:v>30</c:v>
                </c:pt>
                <c:pt idx="2">
                  <c:v>30</c:v>
                </c:pt>
                <c:pt idx="3">
                  <c:v>30</c:v>
                </c:pt>
                <c:pt idx="4">
                  <c:v>30</c:v>
                </c:pt>
                <c:pt idx="5">
                  <c:v>30</c:v>
                </c:pt>
                <c:pt idx="6">
                  <c:v>30</c:v>
                </c:pt>
              </c:numCache>
            </c:numRef>
          </c:val>
          <c:smooth val="0"/>
        </c:ser>
        <c:ser>
          <c:idx val="3"/>
          <c:order val="3"/>
          <c:tx>
            <c:strRef>
              <c:f>Sheet1!$E$1</c:f>
              <c:strCache>
                <c:ptCount val="1"/>
                <c:pt idx="0">
                  <c:v>Band −5%</c:v>
                </c:pt>
              </c:strCache>
            </c:strRef>
          </c:tx>
          <c:spPr>
            <a:solidFill>
              <a:srgbClr val="B6C7F0"/>
            </a:solidFill>
            <a:ln w="25400" cap="flat">
              <a:solidFill>
                <a:srgbClr val="B6C7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6C7F0"/>
              </a:solidFill>
              <a:ln w="9525" cap="flat">
                <a:solidFill>
                  <a:srgbClr val="B6C7F0"/>
                </a:solidFill>
                <a:prstDash val="solid"/>
                <a:round/>
              </a:ln>
              <a:effectLst/>
            </c:spPr>
          </c:marker>
          <c:cat>
            <c:multiLvlStrRef>
              <c:f>Sheet1!$A$2:$A$8</c:f>
              <c:multiLvlStrCache>
                <c:ptCount val="7"/>
                <c:lvl>
                  <c:pt idx="0">
                    <c:v>Wk 1</c:v>
                  </c:pt>
                  <c:pt idx="1">
                    <c:v>Wk 2</c:v>
                  </c:pt>
                  <c:pt idx="2">
                    <c:v>Wk 3</c:v>
                  </c:pt>
                  <c:pt idx="3">
                    <c:v>Wk 4</c:v>
                  </c:pt>
                  <c:pt idx="4">
                    <c:v>Wk 5</c:v>
                  </c:pt>
                  <c:pt idx="5">
                    <c:v>Wk 6</c:v>
                  </c:pt>
                  <c:pt idx="6">
                    <c:v>Wk 7</c:v>
                  </c:pt>
                </c:lvl>
              </c:multiLvlStrCache>
            </c:multiLvlStrRef>
          </c:cat>
          <c:val>
            <c:numRef>
              <c:f>Sheet1!$E$2:$E$8</c:f>
              <c:numCache>
                <c:formatCode>General</c:formatCode>
                <c:ptCount val="7"/>
                <c:pt idx="0">
                  <c:v>20</c:v>
                </c:pt>
                <c:pt idx="1">
                  <c:v>20</c:v>
                </c:pt>
                <c:pt idx="2">
                  <c:v>20</c:v>
                </c:pt>
                <c:pt idx="3">
                  <c:v>20</c:v>
                </c:pt>
                <c:pt idx="4">
                  <c:v>20</c:v>
                </c:pt>
                <c:pt idx="5">
                  <c:v>20</c:v>
                </c:pt>
                <c:pt idx="6">
                  <c:v>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2"/>
        <c:crosses val="autoZero"/>
        <c:auto val="1"/>
        <c:lblAlgn val="ctr"/>
        <c:noMultiLvlLbl val="1"/>
      </c:catAx>
      <c:valAx>
        <c:axId val="2094734552"/>
        <c:scaling>
          <c:orientation val="minMax"/>
          <c:max val="35"/>
          <c:min val="15"/>
        </c:scaling>
        <c:delete val="0"/>
        <c:axPos val="l"/>
        <c:majorGridlines>
          <c:spPr>
            <a:ln w="6350" cap="flat">
              <a:solidFill>
                <a:srgbClr val="E2E7E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5662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E3A"/>
                </a:solidFill>
                <a:latin typeface="+mn-lt"/>
              </a:defRPr>
            </a:pPr>
            <a:r>
              <a:rPr sz="1300" b="0" i="0" u="none" strike="noStrike">
                <a:solidFill>
                  <a:srgbClr val="0F1E3A"/>
                </a:solidFill>
                <a:latin typeface="+mn-lt"/>
              </a:rPr>
              <a:t>Tokenized RWAs, distributed value ($B)</a:t>
            </a:r>
          </a:p>
        </c:rich>
      </c:tx>
      <c:layout/>
      <c:overlay val="0"/>
    </c:title>
    <c:autoTitleDeleted val="0"/>
    <c:plotArea>
      <c:layout/>
      <c:lineChart>
        <c:varyColors val="0"/>
        <c:ser>
          <c:idx val="0"/>
          <c:order val="0"/>
          <c:tx>
            <c:strRef>
              <c:f>Sheet1!$B$1</c:f>
              <c:strCache>
                <c:ptCount val="1"/>
                <c:pt idx="0">
                  <c:v>Tokenized RWAs ($B)</c:v>
                </c:pt>
              </c:strCache>
            </c:strRef>
          </c:tx>
          <c:spPr>
            <a:solidFill>
              <a:srgbClr val="3D63D9"/>
            </a:solidFill>
            <a:ln w="38100" cap="flat">
              <a:solidFill>
                <a:srgbClr val="3D63D9"/>
              </a:solidFill>
              <a:prstDash val="solid"/>
              <a:round/>
            </a:ln>
            <a:effectLst/>
          </c:spPr>
          <c:invertIfNegative val="0"/>
          <c:dLbls>
            <c:numFmt formatCode="0.0" sourceLinked="0"/>
            <c:txPr>
              <a:bodyPr/>
              <a:lstStyle/>
              <a:p>
                <a:pPr>
                  <a:defRPr b="1" i="0" strike="noStrike" sz="1200" u="none">
                    <a:solidFill>
                      <a:srgbClr val="0F1E3A"/>
                    </a:solidFill>
                    <a:latin typeface="+mn-lt"/>
                  </a:defRPr>
                </a:pPr>
              </a:p>
            </c:txPr>
            <c:dLblPos val="t"/>
            <c:showLegendKey val="0"/>
            <c:showVal val="1"/>
            <c:showCatName val="0"/>
            <c:showSerName val="0"/>
            <c:showPercent val="0"/>
            <c:showBubbleSize val="0"/>
            <c:showLeaderLines val="0"/>
          </c:dLbls>
          <c:marker>
            <c:symbol val="circle"/>
            <c:size val="8"/>
            <c:spPr>
              <a:solidFill>
                <a:srgbClr val="3D63D9"/>
              </a:solidFill>
              <a:ln w="9525" cap="flat">
                <a:solidFill>
                  <a:srgbClr val="3D63D9"/>
                </a:solidFill>
                <a:prstDash val="solid"/>
                <a:round/>
              </a:ln>
              <a:effectLst/>
            </c:spPr>
          </c:marker>
          <c:cat>
            <c:multiLvlStrRef>
              <c:f>Sheet1!$A$2:$A$5</c:f>
              <c:multiLvlStrCache>
                <c:ptCount val="4"/>
                <c:lvl>
                  <c:pt idx="0">
                    <c:v>Jan 2026</c:v>
                  </c:pt>
                  <c:pt idx="1">
                    <c:v>31 Mar</c:v>
                  </c:pt>
                  <c:pt idx="2">
                    <c:v>15 Aug</c:v>
                  </c:pt>
                  <c:pt idx="3">
                    <c:v>9 Oct</c:v>
                  </c:pt>
                </c:lvl>
              </c:multiLvlStrCache>
            </c:multiLvlStrRef>
          </c:cat>
          <c:val>
            <c:numRef>
              <c:f>Sheet1!$B$2:$B$5</c:f>
              <c:numCache>
                <c:formatCode>General</c:formatCode>
                <c:ptCount val="4"/>
                <c:pt idx="0">
                  <c:v>21</c:v>
                </c:pt>
                <c:pt idx="1">
                  <c:v>27.5</c:v>
                </c:pt>
                <c:pt idx="2">
                  <c:v>38.3</c:v>
                </c:pt>
                <c:pt idx="3">
                  <c:v>39</c:v>
                </c:pt>
              </c:numCache>
            </c:numRef>
          </c:val>
          <c:smooth val="0"/>
        </c:ser>
        <c:dLbls>
          <c:numFmt formatCode="0.0" sourceLinked="0"/>
          <c:txPr>
            <a:bodyPr/>
            <a:lstStyle/>
            <a:p>
              <a:pPr>
                <a:defRPr b="1" i="0" strike="noStrike" sz="1200" u="none">
                  <a:solidFill>
                    <a:srgbClr val="0F1E3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6350" cap="flat">
              <a:solidFill>
                <a:srgbClr val="E2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4"/>
        <c:crosses val="autoZero"/>
        <c:crossBetween val="between"/>
        <c:majorUnit val="1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E3A"/>
                </a:solidFill>
                <a:latin typeface="+mn-lt"/>
              </a:defRPr>
            </a:pPr>
            <a:r>
              <a:rPr sz="1300" b="0" i="0" u="none" strike="noStrike">
                <a:solidFill>
                  <a:srgbClr val="0F1E3A"/>
                </a:solidFill>
                <a:latin typeface="+mn-lt"/>
              </a:rPr>
              <a:t>RWA value on Solana ($B), about 5x in 2026</a:t>
            </a:r>
          </a:p>
        </c:rich>
      </c:tx>
      <c:layout/>
      <c:overlay val="0"/>
    </c:title>
    <c:autoTitleDeleted val="0"/>
    <c:plotArea>
      <c:layout/>
      <c:barChart>
        <c:barDir val="col"/>
        <c:grouping val="clustered"/>
        <c:varyColors val="0"/>
        <c:ser>
          <c:idx val="0"/>
          <c:order val="0"/>
          <c:tx>
            <c:strRef>
              <c:f>Sheet1!$B$1</c:f>
              <c:strCache>
                <c:ptCount val="1"/>
                <c:pt idx="0">
                  <c:v>Solana RWA value ($B)</c:v>
                </c:pt>
              </c:strCache>
            </c:strRef>
          </c:tx>
          <c:spPr>
            <a:solidFill>
              <a:srgbClr val="1C2B4A"/>
            </a:solidFill>
            <a:effectLst/>
          </c:spPr>
          <c:invertIfNegative val="0"/>
          <c:dLbls>
            <c:numFmt formatCode="0.0#" sourceLinked="0"/>
            <c:txPr>
              <a:bodyPr/>
              <a:lstStyle/>
              <a:p>
                <a:pPr>
                  <a:defRPr b="1" i="0" strike="noStrike" sz="1200" u="none">
                    <a:solidFill>
                      <a:srgbClr val="0F1E3A"/>
                    </a:solidFill>
                    <a:latin typeface="+mn-lt"/>
                  </a:defRPr>
                </a:pPr>
              </a:p>
            </c:txPr>
            <c:showLegendKey val="0"/>
            <c:showVal val="1"/>
            <c:showCatName val="0"/>
            <c:showSerName val="0"/>
            <c:showPercent val="0"/>
            <c:showBubbleSize val="0"/>
            <c:showLeaderLines val="0"/>
          </c:dLbls>
          <c:cat>
            <c:multiLvlStrRef>
              <c:f>Sheet1!$A$2:$A$5</c:f>
              <c:multiLvlStrCache>
                <c:ptCount val="4"/>
                <c:lvl>
                  <c:pt idx="0">
                    <c:v>Dec 2025</c:v>
                  </c:pt>
                  <c:pt idx="1">
                    <c:v>Jun 2026</c:v>
                  </c:pt>
                  <c:pt idx="2">
                    <c:v>5 Sep</c:v>
                  </c:pt>
                  <c:pt idx="3">
                    <c:v>23 Sep</c:v>
                  </c:pt>
                </c:lvl>
              </c:multiLvlStrCache>
            </c:multiLvlStrRef>
          </c:cat>
          <c:val>
            <c:numRef>
              <c:f>Sheet1!$B$2:$B$5</c:f>
              <c:numCache>
                <c:formatCode>General</c:formatCode>
                <c:ptCount val="4"/>
                <c:pt idx="0">
                  <c:v>0.87</c:v>
                </c:pt>
                <c:pt idx="1">
                  <c:v>3.1</c:v>
                </c:pt>
                <c:pt idx="2">
                  <c:v>4.23</c:v>
                </c:pt>
                <c:pt idx="3">
                  <c:v>4.6</c:v>
                </c:pt>
              </c:numCache>
            </c:numRef>
          </c:val>
        </c:ser>
        <c:dLbls>
          <c:numFmt formatCode="0.0#" sourceLinked="0"/>
          <c:txPr>
            <a:bodyPr/>
            <a:lstStyle/>
            <a:p>
              <a:pPr>
                <a:defRPr b="1" i="0" strike="noStrike" sz="1200" u="none">
                  <a:solidFill>
                    <a:srgbClr val="0F1E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2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8728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[0:00–0:14] We're [names]. Bytesac lets anyone invest with a verified fund manager across every major chain, without ever handing over their wallet. The phone shows the real basket screen from our app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[0:14–0:28] Building a portfolio across chains is a mess, trusting someone to do it for you has cost people billions, and keeping it balanced never stops.
Figures: 62% manage 2+ wallets (Reown/Nansen, May 2025). 3,000+ RWA assets on Solana (Solana Foundation, Sep 2026). ~$17B estimated scam proceeds in 2025, impersonation +1,400% (Chainalysis 2026). Re-verify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[0:28–0:42] Today you choose: custody or convenience, an expert or your own keys. smallcase proves people pay for manager-led baskets they hold themselves, but only for Indian stocks. Crypto options either pool your money, give you a token instead of the assets, or have no accountable manager. Bytesac combines all five.
Check before publishing: smallcase rebalance consent and Glider's chain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[0:42–0:54] Managers decide the strategy. You hold the assets and sign every change. We verify the managers and show you everything before you sign.
Wording rule: say 'never holds your keys or funds', not 'never touches a transaction' — Bytesac co-signs Solana legs as fee payer and sends EVM gas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[0:54–1:08] Pick a basket, enter USDC, approve each step in your wallet. The assets arrive in your own wallets on every chain, and you can leave whenever you want — no lock-in, no manager approval needed.
Features to mention if asked: AI search, plan preview with every fee, per-step tracking, drift alerts by inbox, email and push, eligibility checks for tokenized assets.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[1:08–1:24] Managers are screened, verified and reviewed on every change. They publish a target with a written reason; they can't move a single dollar of yours. Their fees go straight to a payout wallet they proved they own.
Detail if asked: application states with email confirmation and ops screening; the submitted wallet must sign before rights are granted; organization documents per jurisdiction; member identity review for Admins and Managers; registry-only assets; immutable hashed versions with rationale and diff; fee caps 0–100 bps; disclosures managers cannot remove; adoption counts only, never individual investors; full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[1:24–1:40] When prices drift or your manager publishes an update, you see why, what changes and what it costs. One tap to apply, one to skip. Skipped versions are never replayed.
Engine: reconcile holdings from the chain → apply thresholds (50 bps / $5) → sell to USDC on Solana → buy, scaled to the cash that actually arrived → leftover goes to basket cash → shortfalls are repaired with Buy back or Sync. Detail in appendix 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[1:40–1:52] You fund in USDC on Solana. A basket can hold Bitcoin, Ethereum assets, tokenized stocks like Nvidia, or tokenized gold, and each lands in your own wallet.
Keep live and next separate: release 1 = crypto, stablecoins and permissionless tokenized RWAs traded on chain through LI.FI, eligibility-checked per user. Next = permissioned RWAs and issuer subscription/redemption after a KYC vendor; conventional stocks/ETFs need a new custody decision; deposits, pre-IPO, commodities, indices, currencies.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[1:52–2:06] Everything settles through USDC on Solana: sign-in, fees and every rebalance. Solana's speed and cost are what make approving every move practical.
Do not say 'gasless': release 1 still needs a little SOL in the wallet. Say 'network costs paid in USDC'. Full architecture and the step state machine are in appendix A1–A2 (use them in the technical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[2:06–2:20] Tokenized assets nearly doubled this year and grew about five times on Solana. Millions already pay for manager-led baskets off chain. We bring that model on chain.
Sizing (fill in before investor meetings): SAM = 13.07M Solana stablecoin wallets. SOM year 1 = wallets reached × conversion × average invested × fee rate — team assumptions needed; platform fee rates are still open (D-087). Forecasts for 2030 range from about $3T to $16T depending on the source: quote only as a labelled range. Re-pull rwa.xyz figures the day before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[2:20–2:32] We earn a small fee on each operation; managers get paid instantly on Solana, straight to their own verified wallet. [Traction line: waitlist, managers signed, pilot.]
Colosseum explicitly asks for demand validation and go-to-market. Fill the yellow box with real numbers before recording; do not invent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[2:32–2:44] We've built it. Next is a mainnet pilot with our first verified managers. We're raising [amount] to get there. Thank you.
Fill in: team photos, names, roles and one proof line each; the raise amount, instrument and 18-month milestones. Team slide gets the most attention from investors — make the proof lines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 the technical demo video. One API process plus a worker process from the same codebase; providers live in providers/ behind adapters; the database is the source of truth and the runtime role cannot delete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demo: walk this slide, then show the invest flow live (amount → review the plan → authorize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are separate: version, backing, allocation and execution, with one headline shown to the user (pending, repair required, incomplete, rebalance available, drifted, customized, aligned). A newer publish cancels untouched planned rebalances to an older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judges: manager legitimacy is enforced in code and by ops review at four points, and managers never control investor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compliance: release 1 relies on self-declared country and investor status plus a geo-IP signal, and blocks anything that needs KYC. A KYC vendor is on the roadmap. Legal review per jurisdiction is still open —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in the investor version. Links for every source are in docs/pitch/PITCH-DECK-PLAN.md and the storyboard.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X_SKY-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X_LIGHT">
    <p:bg>
      <p:bgPr>
        <a:solidFill>
          <a:srgbClr val="F6F8FB"/>
        </a:solidFill>
      </p:bgPr>
    </p:bg>
    <p:spTree>
      <p:nvGrpSpPr>
        <p:cNvPr id="1" name=""/>
        <p:cNvGrpSpPr/>
        <p:nvPr/>
      </p:nvGrpSpPr>
      <p:grpSpPr>
        <a:xfrm>
          <a:off x="0" y="0"/>
          <a:ext cx="0" cy="0"/>
          <a:chOff x="0" y="0"/>
          <a:chExt cx="0" cy="0"/>
        </a:xfrm>
      </p:grpSpPr>
      <p:pic>
        <p:nvPicPr>
          <p:cNvPr id="2" name="Image 0" descr="C:\Users\sameerkrdev\AppData\Local\Temp\claude\D--Coding-projects-bytesac--claude-worktrees-investor-pitch-deck-research-288c58\ec34d2cb-dbb2-467e-9545-82f9bafffd46\scratchpad\deck\assets\bytesac-logo.png">    </p:cNvPr>
          <p:cNvPicPr>
            <a:picLocks noChangeAspect="1"/>
          </p:cNvPicPr>
          <p:nvPr/>
        </p:nvPicPr>
        <p:blipFill>
          <a:blip r:embed="rId1"/>
          <a:stretch>
            <a:fillRect/>
          </a:stretch>
        </p:blipFill>
        <p:spPr>
          <a:xfrm>
            <a:off x="10058400" y="6400800"/>
            <a:ext cx="841248" cy="202997"/>
          </a:xfrm>
          <a:prstGeom prst="rect">
            <a:avLst/>
          </a:prstGeom>
        </p:spPr>
      </p:pic>
      <p:sp>
        <p:nvSpPr>
          <p:cNvPr id="3" name="Text 0"/>
          <p:cNvSpPr/>
          <p:nvPr>
            <p:ph idx="101" type="title" hasCustomPrompt="1"/>
          </p:nvPr>
        </p:nvSpPr>
        <p:spPr>
          <a:xfrm>
            <a:off x="548640" y="749808"/>
            <a:ext cx="11094415" cy="777240"/>
          </a:xfrm>
          <a:prstGeom prst="rect">
            <a:avLst/>
          </a:prstGeom>
          <a:noFill/>
          <a:ln/>
        </p:spPr>
        <p:txBody>
          <a:bodyPr wrap="square" rtlCol="0"/>
          <a:lstStyle>
            <a:lvl1pPr indent="0" marL="0">
              <a:buNone/>
              <a:defRPr lang="en-US" sz="3600" dirty="0">
                <a:solidFill>
                  <a:srgbClr val="0F1E3A"/>
                </a:solidFill>
                <a:latin typeface="Calibri Light" pitchFamily="34" charset="0"/>
                <a:ea typeface="Calibri Light" pitchFamily="34" charset="-122"/>
                <a:cs typeface="Calibri Light"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X_DARK">
    <p:bg>
      <p:bgPr>
        <a:solidFill>
          <a:srgbClr val="070D18"/>
        </a:solidFill>
      </p:bgPr>
    </p:bg>
    <p:spTree>
      <p:nvGrpSpPr>
        <p:cNvPr id="1" name=""/>
        <p:cNvGrpSpPr/>
        <p:nvPr/>
      </p:nvGrpSpPr>
      <p:grpSpPr>
        <a:xfrm>
          <a:off x="0" y="0"/>
          <a:ext cx="0" cy="0"/>
          <a:chOff x="0" y="0"/>
          <a:chExt cx="0" cy="0"/>
        </a:xfrm>
      </p:grpSpPr>
      <p:pic>
        <p:nvPicPr>
          <p:cNvPr id="2" name="Image 0" descr="C:\Users\sameerkrdev\AppData\Local\Temp\claude\D--Coding-projects-bytesac--claude-worktrees-investor-pitch-deck-research-288c58\ec34d2cb-dbb2-467e-9545-82f9bafffd46\scratchpad\deck\assets\bytesac-logo-white.png">    </p:cNvPr>
          <p:cNvPicPr>
            <a:picLocks noChangeAspect="1"/>
          </p:cNvPicPr>
          <p:nvPr/>
        </p:nvPicPr>
        <p:blipFill>
          <a:blip r:embed="rId1"/>
          <a:stretch>
            <a:fillRect/>
          </a:stretch>
        </p:blipFill>
        <p:spPr>
          <a:xfrm>
            <a:off x="10058400" y="6400800"/>
            <a:ext cx="841248" cy="202997"/>
          </a:xfrm>
          <a:prstGeom prst="rect">
            <a:avLst/>
          </a:prstGeom>
        </p:spPr>
      </p:pic>
      <p:sp>
        <p:nvSpPr>
          <p:cNvPr id="3" name="Text 0"/>
          <p:cNvSpPr/>
          <p:nvPr>
            <p:ph idx="101" type="title" hasCustomPrompt="1"/>
          </p:nvPr>
        </p:nvSpPr>
        <p:spPr>
          <a:xfrm>
            <a:off x="548640" y="749808"/>
            <a:ext cx="11094415" cy="777240"/>
          </a:xfrm>
          <a:prstGeom prst="rect">
            <a:avLst/>
          </a:prstGeom>
          <a:noFill/>
          <a:ln/>
        </p:spPr>
        <p:txBody>
          <a:bodyPr wrap="square" rtlCol="0"/>
          <a:lstStyle>
            <a:lvl1pPr indent="0" marL="0">
              <a:buNone/>
              <a:defRPr lang="en-US" sz="3600" dirty="0">
                <a:solidFill>
                  <a:srgbClr val="EAF0F8"/>
                </a:solidFill>
                <a:latin typeface="Calibri Light" pitchFamily="34" charset="0"/>
                <a:ea typeface="Calibri Light" pitchFamily="34" charset="-122"/>
                <a:cs typeface="Calibri Light"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X_SK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8.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2.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slideLayout" Target="../slideLayouts/slideLayout2.xml"/><Relationship Id="rId1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Bytesac logo">    </p:cNvPr>
          <p:cNvPicPr>
            <a:picLocks noChangeAspect="1"/>
          </p:cNvPicPr>
          <p:nvPr/>
        </p:nvPicPr>
        <p:blipFill>
          <a:blip r:embed="rId1"/>
          <a:stretch>
            <a:fillRect/>
          </a:stretch>
        </p:blipFill>
        <p:spPr>
          <a:xfrm>
            <a:off x="548640" y="457200"/>
            <a:ext cx="1591056" cy="384048"/>
          </a:xfrm>
          <a:prstGeom prst="rect">
            <a:avLst/>
          </a:prstGeom>
        </p:spPr>
      </p:pic>
      <p:sp>
        <p:nvSpPr>
          <p:cNvPr id="3" name="eyebrow"/>
          <p:cNvSpPr txBox="1"/>
          <p:nvPr/>
        </p:nvSpPr>
        <p:spPr>
          <a:xfrm>
            <a:off x="548640" y="1554480"/>
            <a:ext cx="6583680" cy="274320"/>
          </a:xfrm>
          <a:prstGeom prst="rect">
            <a:avLst/>
          </a:prstGeom>
          <a:noFill/>
          <a:ln/>
        </p:spPr>
        <p:txBody>
          <a:bodyPr wrap="square" lIns="0" tIns="0" rIns="0" bIns="0" rtlCol="0" anchor="t"/>
          <a:lstStyle/>
          <a:p>
            <a:pPr algn="l" indent="0" marL="0">
              <a:buNone/>
            </a:pPr>
            <a:r>
              <a:rPr lang="en-US" sz="1100" b="1" spc="200" kern="0" dirty="0">
                <a:solidFill>
                  <a:srgbClr val="1C2B4A"/>
                </a:solidFill>
                <a:latin typeface="Calibri" pitchFamily="34" charset="0"/>
                <a:ea typeface="Calibri" pitchFamily="34" charset="-122"/>
                <a:cs typeface="Calibri" pitchFamily="34" charset="-120"/>
              </a:rPr>
              <a:t>STRATEGY BASKETS · YOUR OWN WALLET · BUILT ON SOLANA</a:t>
            </a:r>
            <a:endParaRPr lang="en-US" sz="1100" dirty="0"/>
          </a:p>
        </p:txBody>
      </p:sp>
      <p:sp>
        <p:nvSpPr>
          <p:cNvPr id="4" name="headline"/>
          <p:cNvSpPr txBox="1"/>
          <p:nvPr/>
        </p:nvSpPr>
        <p:spPr>
          <a:xfrm>
            <a:off x="548640" y="1920240"/>
            <a:ext cx="6949440" cy="1737360"/>
          </a:xfrm>
          <a:prstGeom prst="rect">
            <a:avLst/>
          </a:prstGeom>
          <a:noFill/>
          <a:ln/>
        </p:spPr>
        <p:txBody>
          <a:bodyPr wrap="square" lIns="0" tIns="0" rIns="0" bIns="0" rtlCol="0" anchor="t"/>
          <a:lstStyle/>
          <a:p>
            <a:pPr algn="l" indent="0" marL="0">
              <a:lnSpc>
                <a:spcPct val="95000"/>
              </a:lnSpc>
              <a:buNone/>
            </a:pPr>
            <a:r>
              <a:rPr lang="en-US" sz="5000" dirty="0">
                <a:solidFill>
                  <a:srgbClr val="0F1E3A"/>
                </a:solidFill>
                <a:latin typeface="Calibri Light" pitchFamily="34" charset="0"/>
                <a:ea typeface="Calibri Light" pitchFamily="34" charset="-122"/>
                <a:cs typeface="Calibri Light" pitchFamily="34" charset="-120"/>
              </a:rPr>
              <a:t>Expert-managed portfolios.</a:t>
            </a:r>
            <a:endParaRPr lang="en-US" sz="5000" dirty="0"/>
          </a:p>
          <a:p>
            <a:pPr algn="l" indent="0" marL="0">
              <a:lnSpc>
                <a:spcPct val="95000"/>
              </a:lnSpc>
              <a:buNone/>
            </a:pPr>
            <a:r>
              <a:rPr lang="en-US" sz="5000" dirty="0">
                <a:solidFill>
                  <a:srgbClr val="41557A"/>
                </a:solidFill>
                <a:latin typeface="Calibri Light" pitchFamily="34" charset="0"/>
                <a:ea typeface="Calibri Light" pitchFamily="34" charset="-122"/>
                <a:cs typeface="Calibri Light" pitchFamily="34" charset="-120"/>
              </a:rPr>
              <a:t>Held in your own wallet.</a:t>
            </a:r>
            <a:endParaRPr lang="en-US" sz="5000" dirty="0"/>
          </a:p>
        </p:txBody>
      </p:sp>
      <p:sp>
        <p:nvSpPr>
          <p:cNvPr id="5" name="lede"/>
          <p:cNvSpPr txBox="1"/>
          <p:nvPr/>
        </p:nvSpPr>
        <p:spPr>
          <a:xfrm>
            <a:off x="548640" y="3794760"/>
            <a:ext cx="6035040" cy="914400"/>
          </a:xfrm>
          <a:prstGeom prst="rect">
            <a:avLst/>
          </a:prstGeom>
          <a:noFill/>
          <a:ln/>
        </p:spPr>
        <p:txBody>
          <a:bodyPr wrap="square" lIns="0" tIns="0" rIns="0" bIns="0" rtlCol="0" anchor="t"/>
          <a:lstStyle/>
          <a:p>
            <a:pPr algn="l" indent="0" marL="0">
              <a:lnSpc>
                <a:spcPct val="105000"/>
              </a:lnSpc>
              <a:buNone/>
            </a:pPr>
            <a:r>
              <a:rPr lang="en-US" sz="1700" dirty="0">
                <a:solidFill>
                  <a:srgbClr val="1C2B4A"/>
                </a:solidFill>
                <a:latin typeface="Calibri" pitchFamily="34" charset="0"/>
                <a:ea typeface="Calibri" pitchFamily="34" charset="-122"/>
                <a:cs typeface="Calibri" pitchFamily="34" charset="-120"/>
              </a:rPr>
              <a:t>Vetted fund managers build multi-chain baskets of crypto and tokenized assets. You invest in USDC on Solana, approve every move, and keep the assets.</a:t>
            </a:r>
            <a:endParaRPr lang="en-US" sz="1700" dirty="0"/>
          </a:p>
        </p:txBody>
      </p:sp>
      <p:sp>
        <p:nvSpPr>
          <p:cNvPr id="6" name="chip0"/>
          <p:cNvSpPr/>
          <p:nvPr/>
        </p:nvSpPr>
        <p:spPr>
          <a:xfrm>
            <a:off x="548640" y="4983480"/>
            <a:ext cx="1453896" cy="402336"/>
          </a:xfrm>
          <a:prstGeom prst="roundRect">
            <a:avLst>
              <a:gd name="adj" fmla="val 50000"/>
            </a:avLst>
          </a:prstGeom>
          <a:solidFill>
            <a:srgbClr val="FFFFFF">
              <a:alpha val="75000"/>
            </a:srgbClr>
          </a:solidFill>
          <a:ln w="9525">
            <a:solidFill>
              <a:srgbClr val="FFFFF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Self-custody</a:t>
            </a:r>
            <a:endParaRPr lang="en-US" sz="1300" dirty="0"/>
          </a:p>
        </p:txBody>
      </p:sp>
      <p:sp>
        <p:nvSpPr>
          <p:cNvPr id="7" name="chip1"/>
          <p:cNvSpPr/>
          <p:nvPr/>
        </p:nvSpPr>
        <p:spPr>
          <a:xfrm>
            <a:off x="2139696" y="4983480"/>
            <a:ext cx="1888236" cy="402336"/>
          </a:xfrm>
          <a:prstGeom prst="roundRect">
            <a:avLst>
              <a:gd name="adj" fmla="val 50000"/>
            </a:avLst>
          </a:prstGeom>
          <a:solidFill>
            <a:srgbClr val="FFFFFF">
              <a:alpha val="75000"/>
            </a:srgbClr>
          </a:solidFill>
          <a:ln w="9525">
            <a:solidFill>
              <a:srgbClr val="FFFFF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Verified managers</a:t>
            </a:r>
            <a:endParaRPr lang="en-US" sz="1300" dirty="0"/>
          </a:p>
        </p:txBody>
      </p:sp>
      <p:sp>
        <p:nvSpPr>
          <p:cNvPr id="8" name="chip2"/>
          <p:cNvSpPr/>
          <p:nvPr/>
        </p:nvSpPr>
        <p:spPr>
          <a:xfrm>
            <a:off x="4165092" y="4983480"/>
            <a:ext cx="1106424" cy="402336"/>
          </a:xfrm>
          <a:prstGeom prst="roundRect">
            <a:avLst>
              <a:gd name="adj" fmla="val 50000"/>
            </a:avLst>
          </a:prstGeom>
          <a:solidFill>
            <a:srgbClr val="FFFFFF">
              <a:alpha val="75000"/>
            </a:srgbClr>
          </a:solidFill>
          <a:ln w="9525">
            <a:solidFill>
              <a:srgbClr val="FFFFF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7 chains</a:t>
            </a:r>
            <a:endParaRPr lang="en-US" sz="1300" dirty="0"/>
          </a:p>
        </p:txBody>
      </p:sp>
      <p:sp>
        <p:nvSpPr>
          <p:cNvPr id="9" name="chip3"/>
          <p:cNvSpPr/>
          <p:nvPr/>
        </p:nvSpPr>
        <p:spPr>
          <a:xfrm>
            <a:off x="5408676" y="4983480"/>
            <a:ext cx="1627632" cy="402336"/>
          </a:xfrm>
          <a:prstGeom prst="roundRect">
            <a:avLst>
              <a:gd name="adj" fmla="val 50000"/>
            </a:avLst>
          </a:prstGeom>
          <a:solidFill>
            <a:srgbClr val="FFFFFF">
              <a:alpha val="75000"/>
            </a:srgbClr>
          </a:solidFill>
          <a:ln w="9525">
            <a:solidFill>
              <a:srgbClr val="FFFFF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USDC on Solana</a:t>
            </a:r>
            <a:endParaRPr lang="en-US" sz="1300" dirty="0"/>
          </a:p>
        </p:txBody>
      </p:sp>
      <p:pic>
        <p:nvPicPr>
          <p:cNvPr id="10" name="!!phone" descr="A hand holding a phone showing the Bytesac basket screen">    </p:cNvPr>
          <p:cNvPicPr>
            <a:picLocks noChangeAspect="1"/>
          </p:cNvPicPr>
          <p:nvPr/>
        </p:nvPicPr>
        <p:blipFill>
          <a:blip r:embed="rId2"/>
          <a:stretch>
            <a:fillRect/>
          </a:stretch>
        </p:blipFill>
        <p:spPr>
          <a:xfrm>
            <a:off x="7498080" y="566928"/>
            <a:ext cx="4462272" cy="630936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16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32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64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8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96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10" presetClass="entr" presetSubtype="0" fill="hold" nodeType="withEffect">
                                  <p:stCondLst>
                                    <p:cond delay="11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THE PROBLEM</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Three walls between people and a good portfolio</a:t>
            </a:r>
            <a:endParaRPr lang="en-US" sz="3600" dirty="0"/>
          </a:p>
        </p:txBody>
      </p:sp>
      <p:sp>
        <p:nvSpPr>
          <p:cNvPr id="4" name="card0"/>
          <p:cNvSpPr/>
          <p:nvPr/>
        </p:nvSpPr>
        <p:spPr>
          <a:xfrm>
            <a:off x="548640" y="1828800"/>
            <a:ext cx="3515258" cy="4206240"/>
          </a:xfrm>
          <a:prstGeom prst="roundRect">
            <a:avLst>
              <a:gd name="adj" fmla="val 5723"/>
            </a:avLst>
          </a:prstGeom>
          <a:solidFill>
            <a:srgbClr val="FFFFFF"/>
          </a:solidFill>
          <a:ln w="9525">
            <a:solidFill>
              <a:srgbClr val="E2E7EF"/>
            </a:solidFill>
            <a:prstDash val="solid"/>
          </a:ln>
          <a:effectLst>
            <a:outerShdw sx="100000" sy="100000" kx="0" ky="0" algn="bl" rotWithShape="0" blurRad="177800" dist="50800" dir="5400000">
              <a:srgbClr val="0F1E3A">
                <a:alpha val="8000"/>
              </a:srgbClr>
            </a:outerShdw>
          </a:effectLst>
        </p:spPr>
      </p:sp>
      <p:sp>
        <p:nvSpPr>
          <p:cNvPr id="5" name="icbg0"/>
          <p:cNvSpPr/>
          <p:nvPr/>
        </p:nvSpPr>
        <p:spPr>
          <a:xfrm>
            <a:off x="914400" y="2194560"/>
            <a:ext cx="603504" cy="603504"/>
          </a:xfrm>
          <a:prstGeom prst="ellipse">
            <a:avLst/>
          </a:prstGeom>
          <a:solidFill>
            <a:srgbClr val="E8EEFC"/>
          </a:solidFill>
          <a:ln/>
        </p:spPr>
      </p:sp>
      <p:pic>
        <p:nvPicPr>
          <p:cNvPr id="6" name="ic0" descr="preencoded.png">    </p:cNvPr>
          <p:cNvPicPr>
            <a:picLocks noChangeAspect="1"/>
          </p:cNvPicPr>
          <p:nvPr/>
        </p:nvPicPr>
        <p:blipFill>
          <a:blip r:embed="rId1"/>
          <a:stretch>
            <a:fillRect/>
          </a:stretch>
        </p:blipFill>
        <p:spPr>
          <a:xfrm>
            <a:off x="1060704" y="2340864"/>
            <a:ext cx="310896" cy="310896"/>
          </a:xfrm>
          <a:prstGeom prst="rect">
            <a:avLst/>
          </a:prstGeom>
        </p:spPr>
      </p:pic>
      <p:sp>
        <p:nvSpPr>
          <p:cNvPr id="7" name="big0"/>
          <p:cNvSpPr txBox="1"/>
          <p:nvPr/>
        </p:nvSpPr>
        <p:spPr>
          <a:xfrm>
            <a:off x="914400" y="3017520"/>
            <a:ext cx="2783738" cy="868680"/>
          </a:xfrm>
          <a:prstGeom prst="rect">
            <a:avLst/>
          </a:prstGeom>
          <a:noFill/>
          <a:ln/>
        </p:spPr>
        <p:txBody>
          <a:bodyPr wrap="square" lIns="0" tIns="0" rIns="0" bIns="0" rtlCol="0" anchor="t"/>
          <a:lstStyle/>
          <a:p>
            <a:pPr algn="l" indent="0" marL="0">
              <a:buNone/>
            </a:pPr>
            <a:r>
              <a:rPr lang="en-US" sz="5600" dirty="0">
                <a:solidFill>
                  <a:srgbClr val="0F1E3A"/>
                </a:solidFill>
                <a:latin typeface="Calibri Light" pitchFamily="34" charset="0"/>
                <a:ea typeface="Calibri Light" pitchFamily="34" charset="-122"/>
                <a:cs typeface="Calibri Light" pitchFamily="34" charset="-120"/>
              </a:rPr>
              <a:t>62%</a:t>
            </a:r>
            <a:endParaRPr lang="en-US" sz="5600" dirty="0"/>
          </a:p>
        </p:txBody>
      </p:sp>
      <p:sp>
        <p:nvSpPr>
          <p:cNvPr id="8" name="h0"/>
          <p:cNvSpPr txBox="1"/>
          <p:nvPr/>
        </p:nvSpPr>
        <p:spPr>
          <a:xfrm>
            <a:off x="914400" y="3977640"/>
            <a:ext cx="2783738" cy="685800"/>
          </a:xfrm>
          <a:prstGeom prst="rect">
            <a:avLst/>
          </a:prstGeom>
          <a:noFill/>
          <a:ln/>
        </p:spPr>
        <p:txBody>
          <a:bodyPr wrap="square" lIns="0" tIns="0" rIns="0" bIns="0" rtlCol="0" anchor="t"/>
          <a:lstStyle/>
          <a:p>
            <a:pPr algn="l" indent="0" marL="0">
              <a:buNone/>
            </a:pPr>
            <a:r>
              <a:rPr lang="en-US" sz="1800" b="1" dirty="0">
                <a:solidFill>
                  <a:srgbClr val="0F1E3A"/>
                </a:solidFill>
                <a:latin typeface="Calibri" pitchFamily="34" charset="0"/>
                <a:ea typeface="Calibri" pitchFamily="34" charset="-122"/>
                <a:cs typeface="Calibri" pitchFamily="34" charset="-120"/>
              </a:rPr>
              <a:t>Doing it yourself is fragmented</a:t>
            </a:r>
            <a:endParaRPr lang="en-US" sz="1800" dirty="0"/>
          </a:p>
        </p:txBody>
      </p:sp>
      <p:sp>
        <p:nvSpPr>
          <p:cNvPr id="9" name="b0"/>
          <p:cNvSpPr txBox="1"/>
          <p:nvPr/>
        </p:nvSpPr>
        <p:spPr>
          <a:xfrm>
            <a:off x="914400" y="4709160"/>
            <a:ext cx="2783738" cy="1280160"/>
          </a:xfrm>
          <a:prstGeom prst="rect">
            <a:avLst/>
          </a:prstGeom>
          <a:noFill/>
          <a:ln/>
        </p:spPr>
        <p:txBody>
          <a:bodyPr wrap="square" lIns="0" tIns="0" rIns="0" bIns="0" rtlCol="0" anchor="t"/>
          <a:lstStyle/>
          <a:p>
            <a:pPr algn="l" indent="0" marL="0">
              <a:lnSpc>
                <a:spcPct val="105000"/>
              </a:lnSpc>
              <a:buNone/>
            </a:pPr>
            <a:r>
              <a:rPr lang="en-US" sz="1400" dirty="0">
                <a:solidFill>
                  <a:srgbClr val="56627A"/>
                </a:solidFill>
                <a:latin typeface="Calibri" pitchFamily="34" charset="0"/>
                <a:ea typeface="Calibri" pitchFamily="34" charset="-122"/>
                <a:cs typeface="Calibri" pitchFamily="34" charset="-120"/>
              </a:rPr>
              <a:t>of crypto users juggle two or more wallets. Solana alone lists 3,000+ tokenized real-world assets.</a:t>
            </a:r>
            <a:endParaRPr lang="en-US" sz="1400" dirty="0"/>
          </a:p>
        </p:txBody>
      </p:sp>
      <p:sp>
        <p:nvSpPr>
          <p:cNvPr id="10" name="card1"/>
          <p:cNvSpPr/>
          <p:nvPr/>
        </p:nvSpPr>
        <p:spPr>
          <a:xfrm>
            <a:off x="4338218" y="1828800"/>
            <a:ext cx="3515258" cy="4206240"/>
          </a:xfrm>
          <a:prstGeom prst="roundRect">
            <a:avLst>
              <a:gd name="adj" fmla="val 5723"/>
            </a:avLst>
          </a:prstGeom>
          <a:solidFill>
            <a:srgbClr val="FFFFFF"/>
          </a:solidFill>
          <a:ln w="9525">
            <a:solidFill>
              <a:srgbClr val="E2E7EF"/>
            </a:solidFill>
            <a:prstDash val="solid"/>
          </a:ln>
          <a:effectLst>
            <a:outerShdw sx="100000" sy="100000" kx="0" ky="0" algn="bl" rotWithShape="0" blurRad="177800" dist="50800" dir="5400000">
              <a:srgbClr val="0F1E3A">
                <a:alpha val="8000"/>
              </a:srgbClr>
            </a:outerShdw>
          </a:effectLst>
        </p:spPr>
      </p:sp>
      <p:sp>
        <p:nvSpPr>
          <p:cNvPr id="11" name="icbg1"/>
          <p:cNvSpPr/>
          <p:nvPr/>
        </p:nvSpPr>
        <p:spPr>
          <a:xfrm>
            <a:off x="4703978" y="2194560"/>
            <a:ext cx="603504" cy="603504"/>
          </a:xfrm>
          <a:prstGeom prst="ellipse">
            <a:avLst/>
          </a:prstGeom>
          <a:solidFill>
            <a:srgbClr val="E8EEFC"/>
          </a:solidFill>
          <a:ln/>
        </p:spPr>
      </p:sp>
      <p:pic>
        <p:nvPicPr>
          <p:cNvPr id="12" name="ic1" descr="preencoded.png">    </p:cNvPr>
          <p:cNvPicPr>
            <a:picLocks noChangeAspect="1"/>
          </p:cNvPicPr>
          <p:nvPr/>
        </p:nvPicPr>
        <p:blipFill>
          <a:blip r:embed="rId2"/>
          <a:stretch>
            <a:fillRect/>
          </a:stretch>
        </p:blipFill>
        <p:spPr>
          <a:xfrm>
            <a:off x="4850282" y="2340864"/>
            <a:ext cx="310896" cy="310896"/>
          </a:xfrm>
          <a:prstGeom prst="rect">
            <a:avLst/>
          </a:prstGeom>
        </p:spPr>
      </p:pic>
      <p:sp>
        <p:nvSpPr>
          <p:cNvPr id="13" name="big1"/>
          <p:cNvSpPr txBox="1"/>
          <p:nvPr/>
        </p:nvSpPr>
        <p:spPr>
          <a:xfrm>
            <a:off x="4703978" y="3017520"/>
            <a:ext cx="2783738" cy="868680"/>
          </a:xfrm>
          <a:prstGeom prst="rect">
            <a:avLst/>
          </a:prstGeom>
          <a:noFill/>
          <a:ln/>
        </p:spPr>
        <p:txBody>
          <a:bodyPr wrap="square" lIns="0" tIns="0" rIns="0" bIns="0" rtlCol="0" anchor="t"/>
          <a:lstStyle/>
          <a:p>
            <a:pPr algn="l" indent="0" marL="0">
              <a:buNone/>
            </a:pPr>
            <a:r>
              <a:rPr lang="en-US" sz="5600" dirty="0">
                <a:solidFill>
                  <a:srgbClr val="0F1E3A"/>
                </a:solidFill>
                <a:latin typeface="Calibri Light" pitchFamily="34" charset="0"/>
                <a:ea typeface="Calibri Light" pitchFamily="34" charset="-122"/>
                <a:cs typeface="Calibri Light" pitchFamily="34" charset="-120"/>
              </a:rPr>
              <a:t>$17B</a:t>
            </a:r>
            <a:endParaRPr lang="en-US" sz="5600" dirty="0"/>
          </a:p>
        </p:txBody>
      </p:sp>
      <p:sp>
        <p:nvSpPr>
          <p:cNvPr id="14" name="h1"/>
          <p:cNvSpPr txBox="1"/>
          <p:nvPr/>
        </p:nvSpPr>
        <p:spPr>
          <a:xfrm>
            <a:off x="4703978" y="3977640"/>
            <a:ext cx="2783738" cy="685800"/>
          </a:xfrm>
          <a:prstGeom prst="rect">
            <a:avLst/>
          </a:prstGeom>
          <a:noFill/>
          <a:ln/>
        </p:spPr>
        <p:txBody>
          <a:bodyPr wrap="square" lIns="0" tIns="0" rIns="0" bIns="0" rtlCol="0" anchor="t"/>
          <a:lstStyle/>
          <a:p>
            <a:pPr algn="l" indent="0" marL="0">
              <a:buNone/>
            </a:pPr>
            <a:r>
              <a:rPr lang="en-US" sz="1800" b="1" dirty="0">
                <a:solidFill>
                  <a:srgbClr val="0F1E3A"/>
                </a:solidFill>
                <a:latin typeface="Calibri" pitchFamily="34" charset="0"/>
                <a:ea typeface="Calibri" pitchFamily="34" charset="-122"/>
                <a:cs typeface="Calibri" pitchFamily="34" charset="-120"/>
              </a:rPr>
              <a:t>Trusting an expert is risky</a:t>
            </a:r>
            <a:endParaRPr lang="en-US" sz="1800" dirty="0"/>
          </a:p>
        </p:txBody>
      </p:sp>
      <p:sp>
        <p:nvSpPr>
          <p:cNvPr id="15" name="b1"/>
          <p:cNvSpPr txBox="1"/>
          <p:nvPr/>
        </p:nvSpPr>
        <p:spPr>
          <a:xfrm>
            <a:off x="4703978" y="4709160"/>
            <a:ext cx="2783738" cy="1280160"/>
          </a:xfrm>
          <a:prstGeom prst="rect">
            <a:avLst/>
          </a:prstGeom>
          <a:noFill/>
          <a:ln/>
        </p:spPr>
        <p:txBody>
          <a:bodyPr wrap="square" lIns="0" tIns="0" rIns="0" bIns="0" rtlCol="0" anchor="t"/>
          <a:lstStyle/>
          <a:p>
            <a:pPr algn="l" indent="0" marL="0">
              <a:lnSpc>
                <a:spcPct val="105000"/>
              </a:lnSpc>
              <a:buNone/>
            </a:pPr>
            <a:r>
              <a:rPr lang="en-US" sz="1400" dirty="0">
                <a:solidFill>
                  <a:srgbClr val="56627A"/>
                </a:solidFill>
                <a:latin typeface="Calibri" pitchFamily="34" charset="0"/>
                <a:ea typeface="Calibri" pitchFamily="34" charset="-122"/>
                <a:cs typeface="Calibri" pitchFamily="34" charset="-120"/>
              </a:rPr>
              <a:t>in crypto scam proceeds in 2025; impersonation scams rose 1,400%. Following an expert today usually means giving up custody.</a:t>
            </a:r>
            <a:endParaRPr lang="en-US" sz="1400" dirty="0"/>
          </a:p>
        </p:txBody>
      </p:sp>
      <p:sp>
        <p:nvSpPr>
          <p:cNvPr id="16" name="card2"/>
          <p:cNvSpPr/>
          <p:nvPr/>
        </p:nvSpPr>
        <p:spPr>
          <a:xfrm>
            <a:off x="8127797" y="1828800"/>
            <a:ext cx="3515258" cy="4206240"/>
          </a:xfrm>
          <a:prstGeom prst="roundRect">
            <a:avLst>
              <a:gd name="adj" fmla="val 5723"/>
            </a:avLst>
          </a:prstGeom>
          <a:solidFill>
            <a:srgbClr val="FFFFFF"/>
          </a:solidFill>
          <a:ln w="9525">
            <a:solidFill>
              <a:srgbClr val="E2E7EF"/>
            </a:solidFill>
            <a:prstDash val="solid"/>
          </a:ln>
          <a:effectLst>
            <a:outerShdw sx="100000" sy="100000" kx="0" ky="0" algn="bl" rotWithShape="0" blurRad="177800" dist="50800" dir="5400000">
              <a:srgbClr val="0F1E3A">
                <a:alpha val="8000"/>
              </a:srgbClr>
            </a:outerShdw>
          </a:effectLst>
        </p:spPr>
      </p:sp>
      <p:sp>
        <p:nvSpPr>
          <p:cNvPr id="17" name="icbg2"/>
          <p:cNvSpPr/>
          <p:nvPr/>
        </p:nvSpPr>
        <p:spPr>
          <a:xfrm>
            <a:off x="8493557" y="2194560"/>
            <a:ext cx="603504" cy="603504"/>
          </a:xfrm>
          <a:prstGeom prst="ellipse">
            <a:avLst/>
          </a:prstGeom>
          <a:solidFill>
            <a:srgbClr val="E8EEFC"/>
          </a:solidFill>
          <a:ln/>
        </p:spPr>
      </p:sp>
      <p:pic>
        <p:nvPicPr>
          <p:cNvPr id="18" name="ic2" descr="preencoded.png">    </p:cNvPr>
          <p:cNvPicPr>
            <a:picLocks noChangeAspect="1"/>
          </p:cNvPicPr>
          <p:nvPr/>
        </p:nvPicPr>
        <p:blipFill>
          <a:blip r:embed="rId3"/>
          <a:stretch>
            <a:fillRect/>
          </a:stretch>
        </p:blipFill>
        <p:spPr>
          <a:xfrm>
            <a:off x="8639861" y="2340864"/>
            <a:ext cx="310896" cy="310896"/>
          </a:xfrm>
          <a:prstGeom prst="rect">
            <a:avLst/>
          </a:prstGeom>
        </p:spPr>
      </p:pic>
      <p:sp>
        <p:nvSpPr>
          <p:cNvPr id="19" name="big2"/>
          <p:cNvSpPr txBox="1"/>
          <p:nvPr/>
        </p:nvSpPr>
        <p:spPr>
          <a:xfrm>
            <a:off x="8493557" y="3017520"/>
            <a:ext cx="2783738" cy="868680"/>
          </a:xfrm>
          <a:prstGeom prst="rect">
            <a:avLst/>
          </a:prstGeom>
          <a:noFill/>
          <a:ln/>
        </p:spPr>
        <p:txBody>
          <a:bodyPr wrap="square" lIns="0" tIns="0" rIns="0" bIns="0" rtlCol="0" anchor="t"/>
          <a:lstStyle/>
          <a:p>
            <a:pPr algn="l" indent="0" marL="0">
              <a:buNone/>
            </a:pPr>
            <a:r>
              <a:rPr lang="en-US" sz="5600" dirty="0">
                <a:solidFill>
                  <a:srgbClr val="0F1E3A"/>
                </a:solidFill>
                <a:latin typeface="Calibri Light" pitchFamily="34" charset="0"/>
                <a:ea typeface="Calibri Light" pitchFamily="34" charset="-122"/>
                <a:cs typeface="Calibri Light" pitchFamily="34" charset="-120"/>
              </a:rPr>
              <a:t>24/7</a:t>
            </a:r>
            <a:endParaRPr lang="en-US" sz="5600" dirty="0"/>
          </a:p>
        </p:txBody>
      </p:sp>
      <p:sp>
        <p:nvSpPr>
          <p:cNvPr id="20" name="h2"/>
          <p:cNvSpPr txBox="1"/>
          <p:nvPr/>
        </p:nvSpPr>
        <p:spPr>
          <a:xfrm>
            <a:off x="8493557" y="3977640"/>
            <a:ext cx="2783738" cy="685800"/>
          </a:xfrm>
          <a:prstGeom prst="rect">
            <a:avLst/>
          </a:prstGeom>
          <a:noFill/>
          <a:ln/>
        </p:spPr>
        <p:txBody>
          <a:bodyPr wrap="square" lIns="0" tIns="0" rIns="0" bIns="0" rtlCol="0" anchor="t"/>
          <a:lstStyle/>
          <a:p>
            <a:pPr algn="l" indent="0" marL="0">
              <a:buNone/>
            </a:pPr>
            <a:r>
              <a:rPr lang="en-US" sz="1800" b="1" dirty="0">
                <a:solidFill>
                  <a:srgbClr val="0F1E3A"/>
                </a:solidFill>
                <a:latin typeface="Calibri" pitchFamily="34" charset="0"/>
                <a:ea typeface="Calibri" pitchFamily="34" charset="-122"/>
                <a:cs typeface="Calibri" pitchFamily="34" charset="-120"/>
              </a:rPr>
              <a:t>Staying on target is a chore</a:t>
            </a:r>
            <a:endParaRPr lang="en-US" sz="1800" dirty="0"/>
          </a:p>
        </p:txBody>
      </p:sp>
      <p:sp>
        <p:nvSpPr>
          <p:cNvPr id="21" name="b2"/>
          <p:cNvSpPr txBox="1"/>
          <p:nvPr/>
        </p:nvSpPr>
        <p:spPr>
          <a:xfrm>
            <a:off x="8493557" y="4709160"/>
            <a:ext cx="2783738" cy="1280160"/>
          </a:xfrm>
          <a:prstGeom prst="rect">
            <a:avLst/>
          </a:prstGeom>
          <a:noFill/>
          <a:ln/>
        </p:spPr>
        <p:txBody>
          <a:bodyPr wrap="square" lIns="0" tIns="0" rIns="0" bIns="0" rtlCol="0" anchor="t"/>
          <a:lstStyle/>
          <a:p>
            <a:pPr algn="l" indent="0" marL="0">
              <a:lnSpc>
                <a:spcPct val="105000"/>
              </a:lnSpc>
              <a:buNone/>
            </a:pPr>
            <a:r>
              <a:rPr lang="en-US" sz="1400" dirty="0">
                <a:solidFill>
                  <a:srgbClr val="56627A"/>
                </a:solidFill>
                <a:latin typeface="Calibri" pitchFamily="34" charset="0"/>
                <a:ea typeface="Calibri" pitchFamily="34" charset="-122"/>
                <a:cs typeface="Calibri" pitchFamily="34" charset="-120"/>
              </a:rPr>
              <a:t>Prices drift the mix around the clock. Rebalancing across chains means many swaps, bridges and gas tokens.</a:t>
            </a:r>
            <a:endParaRPr lang="en-US" sz="1400" dirty="0"/>
          </a:p>
        </p:txBody>
      </p:sp>
      <p:sp>
        <p:nvSpPr>
          <p:cNvPr id="22"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Sources: Reown/Nansen wallet survey (2025) · Solana Foundation, Sep 2026 roundup · Chainalysis 2026 Crypto Crime Report</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TODAY'S OPTIONS</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Every option makes you give something up</a:t>
            </a:r>
            <a:endParaRPr lang="en-US" sz="3600" dirty="0"/>
          </a:p>
        </p:txBody>
      </p:sp>
      <p:graphicFrame>
        <p:nvGraphicFramePr>
          <p:cNvPr id="4" name="matrix"/>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331720"/>
                <a:gridCol w="1005840"/>
                <a:gridCol w="1005840"/>
                <a:gridCol w="1005840"/>
                <a:gridCol w="1005840"/>
                <a:gridCol w="1005840"/>
                <a:gridCol w="3703320"/>
              </a:tblGrid>
              <a:tr h="566928">
                <a:tc>
                  <a:txBody>
                    <a:bodyPr/>
                    <a:lstStyle/>
                    <a:p>
                      <a:pPr algn="l" indent="0" marL="0">
                        <a:buNone/>
                      </a:pPr>
                      <a:r>
                        <a:rPr lang="en-US" sz="1100" b="1" dirty="0">
                          <a:solidFill>
                            <a:srgbClr val="56627A"/>
                          </a:solidFill>
                          <a:latin typeface="Calibri" pitchFamily="34" charset="0"/>
                          <a:ea typeface="Calibri" pitchFamily="34" charset="-122"/>
                          <a:cs typeface="Calibri" pitchFamily="34" charset="-120"/>
                        </a:rPr>
                        <a:t>Option</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100" b="1" dirty="0">
                          <a:solidFill>
                            <a:srgbClr val="56627A"/>
                          </a:solidFill>
                          <a:latin typeface="Calibri" pitchFamily="34" charset="0"/>
                          <a:ea typeface="Calibri" pitchFamily="34" charset="-122"/>
                          <a:cs typeface="Calibri" pitchFamily="34" charset="-120"/>
                        </a:rPr>
                        <a:t>Assets in your wallet</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100" b="1" dirty="0">
                          <a:solidFill>
                            <a:srgbClr val="56627A"/>
                          </a:solidFill>
                          <a:latin typeface="Calibri" pitchFamily="34" charset="0"/>
                          <a:ea typeface="Calibri" pitchFamily="34" charset="-122"/>
                          <a:cs typeface="Calibri" pitchFamily="34" charset="-120"/>
                        </a:rPr>
                        <a:t>Vetted managers</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100" b="1" dirty="0">
                          <a:solidFill>
                            <a:srgbClr val="56627A"/>
                          </a:solidFill>
                          <a:latin typeface="Calibri" pitchFamily="34" charset="0"/>
                          <a:ea typeface="Calibri" pitchFamily="34" charset="-122"/>
                          <a:cs typeface="Calibri" pitchFamily="34" charset="-120"/>
                        </a:rPr>
                        <a:t>You approve changes</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100" b="1" dirty="0">
                          <a:solidFill>
                            <a:srgbClr val="56627A"/>
                          </a:solidFill>
                          <a:latin typeface="Calibri" pitchFamily="34" charset="0"/>
                          <a:ea typeface="Calibri" pitchFamily="34" charset="-122"/>
                          <a:cs typeface="Calibri" pitchFamily="34" charset="-120"/>
                        </a:rPr>
                        <a:t>Multi-chain + BTC</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100" b="1" dirty="0">
                          <a:solidFill>
                            <a:srgbClr val="56627A"/>
                          </a:solidFill>
                          <a:latin typeface="Calibri" pitchFamily="34" charset="0"/>
                          <a:ea typeface="Calibri" pitchFamily="34" charset="-122"/>
                          <a:cs typeface="Calibri" pitchFamily="34" charset="-120"/>
                        </a:rPr>
                        <a:t>Stocks, gold, RWAs</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l" indent="0" marL="0">
                        <a:buNone/>
                      </a:pPr>
                      <a:r>
                        <a:rPr lang="en-US" sz="1100" b="1" dirty="0">
                          <a:solidFill>
                            <a:srgbClr val="56627A"/>
                          </a:solidFill>
                          <a:latin typeface="Calibri" pitchFamily="34" charset="0"/>
                          <a:ea typeface="Calibri" pitchFamily="34" charset="-122"/>
                          <a:cs typeface="Calibri" pitchFamily="34" charset="-120"/>
                        </a:rPr>
                        <a:t>Where it falls short</a:t>
                      </a:r>
                      <a:endParaRPr lang="en-US" sz="11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smallcase (India)</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Proves demand (10M+ investors), but Indian equities only, off chain</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eToro copy trading</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Custodial; copied traders are users who meet thresholds</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Symmetry baskets</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You hold a basket token; anyone can create one; Solana only</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Glider</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Self-built portfolios; automation runs on delegated permissions</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Vaults (Enzyme, Kamino…)</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Pooled custody under a manager or curator</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475488">
                <a:tc>
                  <a:txBody>
                    <a:bodyPr/>
                    <a:lstStyle/>
                    <a:p>
                      <a:pPr indent="0" marL="0">
                        <a:buNone/>
                      </a:pPr>
                      <a:r>
                        <a:rPr lang="en-US" sz="1300" b="1" dirty="0">
                          <a:solidFill>
                            <a:srgbClr val="0F1E3A"/>
                          </a:solidFill>
                          <a:latin typeface="Calibri" pitchFamily="34" charset="0"/>
                          <a:ea typeface="Calibri" pitchFamily="34" charset="-122"/>
                          <a:cs typeface="Calibri" pitchFamily="34" charset="-120"/>
                        </a:rPr>
                        <a:t>xStocks, Ondo, Robinhood</a:t>
                      </a:r>
                      <a:endParaRPr lang="en-US" sz="13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4BCC9"/>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c>
                  <a:txBody>
                    <a:bodyPr/>
                    <a:lstStyle/>
                    <a:p>
                      <a:pPr indent="0" marL="0">
                        <a:buNone/>
                      </a:pPr>
                      <a:r>
                        <a:rPr lang="en-US" sz="1200" dirty="0">
                          <a:solidFill>
                            <a:srgbClr val="56627A"/>
                          </a:solidFill>
                          <a:latin typeface="Calibri" pitchFamily="34" charset="0"/>
                          <a:ea typeface="Calibri" pitchFamily="34" charset="-122"/>
                          <a:cs typeface="Calibri" pitchFamily="34" charset="-120"/>
                        </a:rPr>
                        <a:t>Single tokenized assets; no portfolio, no manager</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tcPr>
                </a:tc>
              </a:tr>
              <a:tr h="530352">
                <a:tc>
                  <a:txBody>
                    <a:bodyPr/>
                    <a:lstStyle/>
                    <a:p>
                      <a:pPr indent="0" marL="0">
                        <a:buNone/>
                      </a:pPr>
                      <a:r>
                        <a:rPr lang="en-US" sz="1400" b="1" dirty="0">
                          <a:solidFill>
                            <a:srgbClr val="3D63D9"/>
                          </a:solidFill>
                          <a:latin typeface="Calibri" pitchFamily="34" charset="0"/>
                          <a:ea typeface="Calibri" pitchFamily="34" charset="-122"/>
                          <a:cs typeface="Calibri" pitchFamily="34" charset="-120"/>
                        </a:rPr>
                        <a:t>Bytesac</a:t>
                      </a:r>
                      <a:endParaRPr lang="en-US" sz="14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algn="ctr" indent="0" marL="0">
                        <a:buNone/>
                      </a:pPr>
                      <a:r>
                        <a:rPr lang="en-US" sz="1600" dirty="0">
                          <a:solidFill>
                            <a:srgbClr val="1F7A4D"/>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c>
                  <a:txBody>
                    <a:bodyPr/>
                    <a:lstStyle/>
                    <a:p>
                      <a:pPr indent="0" marL="0">
                        <a:buNone/>
                      </a:pPr>
                      <a:r>
                        <a:rPr lang="en-US" sz="1200" b="1" dirty="0">
                          <a:solidFill>
                            <a:srgbClr val="0F1E3A"/>
                          </a:solidFill>
                          <a:latin typeface="Calibri" pitchFamily="34" charset="0"/>
                          <a:ea typeface="Calibri" pitchFamily="34" charset="-122"/>
                          <a:cs typeface="Calibri" pitchFamily="34" charset="-120"/>
                        </a:rPr>
                        <a:t>Self-custody, verified managers, consent on every move, 7 chains, RWAs</a:t>
                      </a:r>
                      <a:endParaRPr lang="en-US" sz="1200" dirty="0">
                        <a:latin typeface="Calibri" charset="0"/>
                        <a:ea typeface="Calibri" charset="0"/>
                        <a:cs typeface="Calibri" charset="0"/>
                      </a:endParaRPr>
                    </a:p>
                  </a:txBody>
                  <a:tcPr marL="50800" marR="50800" marT="50800" marB="50800" anchor="ctr">
                    <a:lnL w="9525" cap="flat" cmpd="sng" algn="ctr">
                      <a:solidFill>
                        <a:srgbClr val="E2E7EF"/>
                      </a:solidFill>
                      <a:prstDash val="solid"/>
                      <a:round/>
                      <a:headEnd type="none" w="med" len="med"/>
                      <a:tailEnd type="none" w="med" len="med"/>
                    </a:lnL>
                    <a:lnR w="9525" cap="flat" cmpd="sng" algn="ctr">
                      <a:solidFill>
                        <a:srgbClr val="E2E7EF"/>
                      </a:solidFill>
                      <a:prstDash val="solid"/>
                      <a:round/>
                      <a:headEnd type="none" w="med" len="med"/>
                      <a:tailEnd type="none" w="med" len="med"/>
                    </a:lnR>
                    <a:lnT w="9525" cap="flat" cmpd="sng" algn="ctr">
                      <a:solidFill>
                        <a:srgbClr val="E2E7EF"/>
                      </a:solidFill>
                      <a:prstDash val="solid"/>
                      <a:round/>
                      <a:headEnd type="none" w="med" len="med"/>
                      <a:tailEnd type="none" w="med" len="med"/>
                    </a:lnT>
                    <a:lnB w="9525" cap="flat" cmpd="sng" algn="ctr">
                      <a:solidFill>
                        <a:srgbClr val="E2E7EF"/>
                      </a:solidFill>
                      <a:prstDash val="solid"/>
                      <a:round/>
                      <a:headEnd type="none" w="med" len="med"/>
                      <a:tailEnd type="none" w="med" len="med"/>
                    </a:lnB>
                    <a:solidFill>
                      <a:srgbClr val="E8EEFC"/>
                    </a:solidFill>
                  </a:tcPr>
                </a:tc>
              </a:tr>
            </a:tbl>
          </a:graphicData>
        </a:graphic>
      </p:graphicFrame>
      <p:sp>
        <p:nvSpPr>
          <p:cNvPr id="5" name="legend"/>
          <p:cNvSpPr txBox="1"/>
          <p:nvPr/>
        </p:nvSpPr>
        <p:spPr>
          <a:xfrm>
            <a:off x="548640" y="5806440"/>
            <a:ext cx="3657600" cy="27432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 yes   ◐ partly   ○ no</a:t>
            </a:r>
            <a:endParaRPr lang="en-US" sz="1200" dirty="0"/>
          </a:p>
        </p:txBody>
      </p:sp>
      <p:sp>
        <p:nvSpPr>
          <p:cNvPr id="6"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Sources: smallcase.com · eToro Q4 2025 results · symmetry.fi · Glider blog and ZeroDev case study · issuer sites. Full detail in appendix A6.</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8AA6FF"/>
                </a:solidFill>
                <a:latin typeface="Calibri" pitchFamily="34" charset="0"/>
                <a:ea typeface="Calibri" pitchFamily="34" charset="-122"/>
                <a:cs typeface="Calibri" pitchFamily="34" charset="-120"/>
              </a:rPr>
              <a:t>THE SOLUTION</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EAF0F8"/>
                </a:solidFill>
                <a:latin typeface="Calibri Light" pitchFamily="34" charset="0"/>
                <a:ea typeface="Calibri Light" pitchFamily="34" charset="-122"/>
                <a:cs typeface="Calibri Light" pitchFamily="34" charset="-120"/>
              </a:rPr>
              <a:t>Managers set the strategy. You keep the wallet.</a:t>
            </a:r>
            <a:endParaRPr lang="en-US" sz="3600" dirty="0"/>
          </a:p>
        </p:txBody>
      </p:sp>
      <p:pic>
        <p:nvPicPr>
          <p:cNvPr id="4" name="!!ring" descr="Glass allocation ring">    </p:cNvPr>
          <p:cNvPicPr>
            <a:picLocks noChangeAspect="1"/>
          </p:cNvPicPr>
          <p:nvPr/>
        </p:nvPicPr>
        <p:blipFill>
          <a:blip r:embed="rId1"/>
          <a:stretch>
            <a:fillRect/>
          </a:stretch>
        </p:blipFill>
        <p:spPr>
          <a:xfrm>
            <a:off x="4590288" y="1874520"/>
            <a:ext cx="3008376" cy="3566160"/>
          </a:xfrm>
          <a:prstGeom prst="rect">
            <a:avLst/>
          </a:prstGeom>
        </p:spPr>
      </p:pic>
      <p:sp>
        <p:nvSpPr>
          <p:cNvPr id="5" name="v0"/>
          <p:cNvSpPr/>
          <p:nvPr/>
        </p:nvSpPr>
        <p:spPr>
          <a:xfrm>
            <a:off x="548640" y="1965960"/>
            <a:ext cx="3657600" cy="1691640"/>
          </a:xfrm>
          <a:prstGeom prst="roundRect">
            <a:avLst>
              <a:gd name="adj" fmla="val 10811"/>
            </a:avLst>
          </a:prstGeom>
          <a:solidFill>
            <a:srgbClr val="0E1726"/>
          </a:solidFill>
          <a:ln w="9525">
            <a:solidFill>
              <a:srgbClr val="1E2A3F"/>
            </a:solidFill>
            <a:prstDash val="solid"/>
          </a:ln>
        </p:spPr>
      </p:sp>
      <p:pic>
        <p:nvPicPr>
          <p:cNvPr id="6" name="vi0" descr="preencoded.png">    </p:cNvPr>
          <p:cNvPicPr>
            <a:picLocks noChangeAspect="1"/>
          </p:cNvPicPr>
          <p:nvPr/>
        </p:nvPicPr>
        <p:blipFill>
          <a:blip r:embed="rId2"/>
          <a:stretch>
            <a:fillRect/>
          </a:stretch>
        </p:blipFill>
        <p:spPr>
          <a:xfrm>
            <a:off x="841248" y="2258568"/>
            <a:ext cx="310896" cy="310896"/>
          </a:xfrm>
          <a:prstGeom prst="rect">
            <a:avLst/>
          </a:prstGeom>
        </p:spPr>
      </p:pic>
      <p:sp>
        <p:nvSpPr>
          <p:cNvPr id="7" name="vt0"/>
          <p:cNvSpPr txBox="1"/>
          <p:nvPr/>
        </p:nvSpPr>
        <p:spPr>
          <a:xfrm>
            <a:off x="1298448" y="2221992"/>
            <a:ext cx="2743200" cy="384048"/>
          </a:xfrm>
          <a:prstGeom prst="rect">
            <a:avLst/>
          </a:prstGeom>
          <a:noFill/>
          <a:ln/>
        </p:spPr>
        <p:txBody>
          <a:bodyPr wrap="square" lIns="0" tIns="0" rIns="0" bIns="0" rtlCol="0" anchor="t"/>
          <a:lstStyle/>
          <a:p>
            <a:pPr algn="l" indent="0" marL="0">
              <a:buNone/>
            </a:pPr>
            <a:r>
              <a:rPr lang="en-US" sz="1800" b="1" dirty="0">
                <a:solidFill>
                  <a:srgbClr val="EAF0F8"/>
                </a:solidFill>
                <a:latin typeface="Calibri" pitchFamily="34" charset="0"/>
                <a:ea typeface="Calibri" pitchFamily="34" charset="-122"/>
                <a:cs typeface="Calibri" pitchFamily="34" charset="-120"/>
              </a:rPr>
              <a:t>Your keys, your assets</a:t>
            </a:r>
            <a:endParaRPr lang="en-US" sz="1800" dirty="0"/>
          </a:p>
        </p:txBody>
      </p:sp>
      <p:sp>
        <p:nvSpPr>
          <p:cNvPr id="8" name="vd0"/>
          <p:cNvSpPr txBox="1"/>
          <p:nvPr/>
        </p:nvSpPr>
        <p:spPr>
          <a:xfrm>
            <a:off x="841248" y="2743200"/>
            <a:ext cx="3108960" cy="731520"/>
          </a:xfrm>
          <a:prstGeom prst="rect">
            <a:avLst/>
          </a:prstGeom>
          <a:noFill/>
          <a:ln/>
        </p:spPr>
        <p:txBody>
          <a:bodyPr wrap="square" lIns="0" tIns="0" rIns="0" bIns="0" rtlCol="0" anchor="t"/>
          <a:lstStyle/>
          <a:p>
            <a:pPr algn="l" indent="0" marL="0">
              <a:lnSpc>
                <a:spcPct val="105000"/>
              </a:lnSpc>
              <a:buNone/>
            </a:pPr>
            <a:r>
              <a:rPr lang="en-US" sz="1400" dirty="0">
                <a:solidFill>
                  <a:srgbClr val="9AA7BC"/>
                </a:solidFill>
                <a:latin typeface="Calibri" pitchFamily="34" charset="0"/>
                <a:ea typeface="Calibri" pitchFamily="34" charset="-122"/>
                <a:cs typeface="Calibri" pitchFamily="34" charset="-120"/>
              </a:rPr>
              <a:t>Self-custody. Bytesac never holds your keys or your funds.</a:t>
            </a:r>
            <a:endParaRPr lang="en-US" sz="1400" dirty="0"/>
          </a:p>
        </p:txBody>
      </p:sp>
      <p:sp>
        <p:nvSpPr>
          <p:cNvPr id="9" name="v1"/>
          <p:cNvSpPr/>
          <p:nvPr/>
        </p:nvSpPr>
        <p:spPr>
          <a:xfrm>
            <a:off x="7985455" y="1965960"/>
            <a:ext cx="3657600" cy="1691640"/>
          </a:xfrm>
          <a:prstGeom prst="roundRect">
            <a:avLst>
              <a:gd name="adj" fmla="val 10811"/>
            </a:avLst>
          </a:prstGeom>
          <a:solidFill>
            <a:srgbClr val="0E1726"/>
          </a:solidFill>
          <a:ln w="9525">
            <a:solidFill>
              <a:srgbClr val="1E2A3F"/>
            </a:solidFill>
            <a:prstDash val="solid"/>
          </a:ln>
        </p:spPr>
      </p:sp>
      <p:pic>
        <p:nvPicPr>
          <p:cNvPr id="10" name="vi1" descr="preencoded.png">    </p:cNvPr>
          <p:cNvPicPr>
            <a:picLocks noChangeAspect="1"/>
          </p:cNvPicPr>
          <p:nvPr/>
        </p:nvPicPr>
        <p:blipFill>
          <a:blip r:embed="rId3"/>
          <a:stretch>
            <a:fillRect/>
          </a:stretch>
        </p:blipFill>
        <p:spPr>
          <a:xfrm>
            <a:off x="8278063" y="2258568"/>
            <a:ext cx="310896" cy="310896"/>
          </a:xfrm>
          <a:prstGeom prst="rect">
            <a:avLst/>
          </a:prstGeom>
        </p:spPr>
      </p:pic>
      <p:sp>
        <p:nvSpPr>
          <p:cNvPr id="11" name="vt1"/>
          <p:cNvSpPr txBox="1"/>
          <p:nvPr/>
        </p:nvSpPr>
        <p:spPr>
          <a:xfrm>
            <a:off x="8735263" y="2221992"/>
            <a:ext cx="2743200" cy="384048"/>
          </a:xfrm>
          <a:prstGeom prst="rect">
            <a:avLst/>
          </a:prstGeom>
          <a:noFill/>
          <a:ln/>
        </p:spPr>
        <p:txBody>
          <a:bodyPr wrap="square" lIns="0" tIns="0" rIns="0" bIns="0" rtlCol="0" anchor="t"/>
          <a:lstStyle/>
          <a:p>
            <a:pPr algn="l" indent="0" marL="0">
              <a:buNone/>
            </a:pPr>
            <a:r>
              <a:rPr lang="en-US" sz="1800" b="1" dirty="0">
                <a:solidFill>
                  <a:srgbClr val="EAF0F8"/>
                </a:solidFill>
                <a:latin typeface="Calibri" pitchFamily="34" charset="0"/>
                <a:ea typeface="Calibri" pitchFamily="34" charset="-122"/>
                <a:cs typeface="Calibri" pitchFamily="34" charset="-120"/>
              </a:rPr>
              <a:t>Strategy is not execution</a:t>
            </a:r>
            <a:endParaRPr lang="en-US" sz="1800" dirty="0"/>
          </a:p>
        </p:txBody>
      </p:sp>
      <p:sp>
        <p:nvSpPr>
          <p:cNvPr id="12" name="vd1"/>
          <p:cNvSpPr txBox="1"/>
          <p:nvPr/>
        </p:nvSpPr>
        <p:spPr>
          <a:xfrm>
            <a:off x="8278063" y="2743200"/>
            <a:ext cx="3108960" cy="731520"/>
          </a:xfrm>
          <a:prstGeom prst="rect">
            <a:avLst/>
          </a:prstGeom>
          <a:noFill/>
          <a:ln/>
        </p:spPr>
        <p:txBody>
          <a:bodyPr wrap="square" lIns="0" tIns="0" rIns="0" bIns="0" rtlCol="0" anchor="t"/>
          <a:lstStyle/>
          <a:p>
            <a:pPr algn="l" indent="0" marL="0">
              <a:lnSpc>
                <a:spcPct val="105000"/>
              </a:lnSpc>
              <a:buNone/>
            </a:pPr>
            <a:r>
              <a:rPr lang="en-US" sz="1400" dirty="0">
                <a:solidFill>
                  <a:srgbClr val="9AA7BC"/>
                </a:solidFill>
                <a:latin typeface="Calibri" pitchFamily="34" charset="0"/>
                <a:ea typeface="Calibri" pitchFamily="34" charset="-122"/>
                <a:cs typeface="Calibri" pitchFamily="34" charset="-120"/>
              </a:rPr>
              <a:t>A manager update is a proposal. Nothing moves without your signature.</a:t>
            </a:r>
            <a:endParaRPr lang="en-US" sz="1400" dirty="0"/>
          </a:p>
        </p:txBody>
      </p:sp>
      <p:sp>
        <p:nvSpPr>
          <p:cNvPr id="13" name="v2"/>
          <p:cNvSpPr/>
          <p:nvPr/>
        </p:nvSpPr>
        <p:spPr>
          <a:xfrm>
            <a:off x="548640" y="3886200"/>
            <a:ext cx="3657600" cy="1691640"/>
          </a:xfrm>
          <a:prstGeom prst="roundRect">
            <a:avLst>
              <a:gd name="adj" fmla="val 10811"/>
            </a:avLst>
          </a:prstGeom>
          <a:solidFill>
            <a:srgbClr val="0E1726"/>
          </a:solidFill>
          <a:ln w="9525">
            <a:solidFill>
              <a:srgbClr val="1E2A3F"/>
            </a:solidFill>
            <a:prstDash val="solid"/>
          </a:ln>
        </p:spPr>
      </p:sp>
      <p:pic>
        <p:nvPicPr>
          <p:cNvPr id="14" name="vi2" descr="preencoded.png">    </p:cNvPr>
          <p:cNvPicPr>
            <a:picLocks noChangeAspect="1"/>
          </p:cNvPicPr>
          <p:nvPr/>
        </p:nvPicPr>
        <p:blipFill>
          <a:blip r:embed="rId4"/>
          <a:stretch>
            <a:fillRect/>
          </a:stretch>
        </p:blipFill>
        <p:spPr>
          <a:xfrm>
            <a:off x="841248" y="4178808"/>
            <a:ext cx="310896" cy="310896"/>
          </a:xfrm>
          <a:prstGeom prst="rect">
            <a:avLst/>
          </a:prstGeom>
        </p:spPr>
      </p:pic>
      <p:sp>
        <p:nvSpPr>
          <p:cNvPr id="15" name="vt2"/>
          <p:cNvSpPr txBox="1"/>
          <p:nvPr/>
        </p:nvSpPr>
        <p:spPr>
          <a:xfrm>
            <a:off x="1298448" y="4142232"/>
            <a:ext cx="2743200" cy="384048"/>
          </a:xfrm>
          <a:prstGeom prst="rect">
            <a:avLst/>
          </a:prstGeom>
          <a:noFill/>
          <a:ln/>
        </p:spPr>
        <p:txBody>
          <a:bodyPr wrap="square" lIns="0" tIns="0" rIns="0" bIns="0" rtlCol="0" anchor="t"/>
          <a:lstStyle/>
          <a:p>
            <a:pPr algn="l" indent="0" marL="0">
              <a:buNone/>
            </a:pPr>
            <a:r>
              <a:rPr lang="en-US" sz="1800" b="1" dirty="0">
                <a:solidFill>
                  <a:srgbClr val="EAF0F8"/>
                </a:solidFill>
                <a:latin typeface="Calibri" pitchFamily="34" charset="0"/>
                <a:ea typeface="Calibri" pitchFamily="34" charset="-122"/>
                <a:cs typeface="Calibri" pitchFamily="34" charset="-120"/>
              </a:rPr>
              <a:t>Verified managers</a:t>
            </a:r>
            <a:endParaRPr lang="en-US" sz="1800" dirty="0"/>
          </a:p>
        </p:txBody>
      </p:sp>
      <p:sp>
        <p:nvSpPr>
          <p:cNvPr id="16" name="vd2"/>
          <p:cNvSpPr txBox="1"/>
          <p:nvPr/>
        </p:nvSpPr>
        <p:spPr>
          <a:xfrm>
            <a:off x="841248" y="4663440"/>
            <a:ext cx="3108960" cy="731520"/>
          </a:xfrm>
          <a:prstGeom prst="rect">
            <a:avLst/>
          </a:prstGeom>
          <a:noFill/>
          <a:ln/>
        </p:spPr>
        <p:txBody>
          <a:bodyPr wrap="square" lIns="0" tIns="0" rIns="0" bIns="0" rtlCol="0" anchor="t"/>
          <a:lstStyle/>
          <a:p>
            <a:pPr algn="l" indent="0" marL="0">
              <a:lnSpc>
                <a:spcPct val="105000"/>
              </a:lnSpc>
              <a:buNone/>
            </a:pPr>
            <a:r>
              <a:rPr lang="en-US" sz="1400" dirty="0">
                <a:solidFill>
                  <a:srgbClr val="9AA7BC"/>
                </a:solidFill>
                <a:latin typeface="Calibri" pitchFamily="34" charset="0"/>
                <a:ea typeface="Calibri" pitchFamily="34" charset="-122"/>
                <a:cs typeface="Calibri" pitchFamily="34" charset="-120"/>
              </a:rPr>
              <a:t>Screened, organization-verified, every version reviewed before it goes live.</a:t>
            </a:r>
            <a:endParaRPr lang="en-US" sz="1400" dirty="0"/>
          </a:p>
        </p:txBody>
      </p:sp>
      <p:sp>
        <p:nvSpPr>
          <p:cNvPr id="17" name="v3"/>
          <p:cNvSpPr/>
          <p:nvPr/>
        </p:nvSpPr>
        <p:spPr>
          <a:xfrm>
            <a:off x="7985455" y="3886200"/>
            <a:ext cx="3657600" cy="1691640"/>
          </a:xfrm>
          <a:prstGeom prst="roundRect">
            <a:avLst>
              <a:gd name="adj" fmla="val 10811"/>
            </a:avLst>
          </a:prstGeom>
          <a:solidFill>
            <a:srgbClr val="0E1726"/>
          </a:solidFill>
          <a:ln w="9525">
            <a:solidFill>
              <a:srgbClr val="1E2A3F"/>
            </a:solidFill>
            <a:prstDash val="solid"/>
          </a:ln>
        </p:spPr>
      </p:sp>
      <p:pic>
        <p:nvPicPr>
          <p:cNvPr id="18" name="vi3" descr="preencoded.png">    </p:cNvPr>
          <p:cNvPicPr>
            <a:picLocks noChangeAspect="1"/>
          </p:cNvPicPr>
          <p:nvPr/>
        </p:nvPicPr>
        <p:blipFill>
          <a:blip r:embed="rId5"/>
          <a:stretch>
            <a:fillRect/>
          </a:stretch>
        </p:blipFill>
        <p:spPr>
          <a:xfrm>
            <a:off x="8278063" y="4178808"/>
            <a:ext cx="310896" cy="310896"/>
          </a:xfrm>
          <a:prstGeom prst="rect">
            <a:avLst/>
          </a:prstGeom>
        </p:spPr>
      </p:pic>
      <p:sp>
        <p:nvSpPr>
          <p:cNvPr id="19" name="vt3"/>
          <p:cNvSpPr txBox="1"/>
          <p:nvPr/>
        </p:nvSpPr>
        <p:spPr>
          <a:xfrm>
            <a:off x="8735263" y="4142232"/>
            <a:ext cx="2743200" cy="384048"/>
          </a:xfrm>
          <a:prstGeom prst="rect">
            <a:avLst/>
          </a:prstGeom>
          <a:noFill/>
          <a:ln/>
        </p:spPr>
        <p:txBody>
          <a:bodyPr wrap="square" lIns="0" tIns="0" rIns="0" bIns="0" rtlCol="0" anchor="t"/>
          <a:lstStyle/>
          <a:p>
            <a:pPr algn="l" indent="0" marL="0">
              <a:buNone/>
            </a:pPr>
            <a:r>
              <a:rPr lang="en-US" sz="1800" b="1" dirty="0">
                <a:solidFill>
                  <a:srgbClr val="EAF0F8"/>
                </a:solidFill>
                <a:latin typeface="Calibri" pitchFamily="34" charset="0"/>
                <a:ea typeface="Calibri" pitchFamily="34" charset="-122"/>
                <a:cs typeface="Calibri" pitchFamily="34" charset="-120"/>
              </a:rPr>
              <a:t>Proof over promises</a:t>
            </a:r>
            <a:endParaRPr lang="en-US" sz="1800" dirty="0"/>
          </a:p>
        </p:txBody>
      </p:sp>
      <p:sp>
        <p:nvSpPr>
          <p:cNvPr id="20" name="vd3"/>
          <p:cNvSpPr txBox="1"/>
          <p:nvPr/>
        </p:nvSpPr>
        <p:spPr>
          <a:xfrm>
            <a:off x="8278063" y="4663440"/>
            <a:ext cx="3108960" cy="731520"/>
          </a:xfrm>
          <a:prstGeom prst="rect">
            <a:avLst/>
          </a:prstGeom>
          <a:noFill/>
          <a:ln/>
        </p:spPr>
        <p:txBody>
          <a:bodyPr wrap="square" lIns="0" tIns="0" rIns="0" bIns="0" rtlCol="0" anchor="t"/>
          <a:lstStyle/>
          <a:p>
            <a:pPr algn="l" indent="0" marL="0">
              <a:lnSpc>
                <a:spcPct val="105000"/>
              </a:lnSpc>
              <a:buNone/>
            </a:pPr>
            <a:r>
              <a:rPr lang="en-US" sz="1400" dirty="0">
                <a:solidFill>
                  <a:srgbClr val="9AA7BC"/>
                </a:solidFill>
                <a:latin typeface="Calibri" pitchFamily="34" charset="0"/>
                <a:ea typeface="Calibri" pitchFamily="34" charset="-122"/>
                <a:cs typeface="Calibri" pitchFamily="34" charset="-120"/>
              </a:rPr>
              <a:t>Holdings read from the chain. Every fee and step shown before you sign.</a:t>
            </a:r>
            <a:endParaRPr lang="en-US" sz="1400" dirty="0"/>
          </a:p>
        </p:txBody>
      </p:sp>
      <p:sp>
        <p:nvSpPr>
          <p:cNvPr id="21" name="oneliner"/>
          <p:cNvSpPr txBox="1"/>
          <p:nvPr/>
        </p:nvSpPr>
        <p:spPr>
          <a:xfrm>
            <a:off x="548640" y="5760720"/>
            <a:ext cx="11094415" cy="365760"/>
          </a:xfrm>
          <a:prstGeom prst="rect">
            <a:avLst/>
          </a:prstGeom>
          <a:noFill/>
          <a:ln/>
        </p:spPr>
        <p:txBody>
          <a:bodyPr wrap="square" lIns="0" tIns="0" rIns="0" bIns="0" rtlCol="0" anchor="t"/>
          <a:lstStyle/>
          <a:p>
            <a:pPr algn="ctr" indent="0" marL="0">
              <a:buNone/>
            </a:pPr>
            <a:r>
              <a:rPr lang="en-US" sz="1600" dirty="0">
                <a:solidFill>
                  <a:srgbClr val="EAF0F8"/>
                </a:solidFill>
                <a:latin typeface="Calibri" pitchFamily="34" charset="0"/>
                <a:ea typeface="Calibri" pitchFamily="34" charset="-122"/>
                <a:cs typeface="Calibri" pitchFamily="34" charset="-120"/>
              </a:rPr>
              <a:t>A marketplace where verified managers publish strategies and you execute them in your own wallet.</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FOR INVESTORS</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From discovery to owning the assets in five steps</a:t>
            </a:r>
            <a:endParaRPr lang="en-US" sz="3600" dirty="0"/>
          </a:p>
        </p:txBody>
      </p:sp>
      <p:sp>
        <p:nvSpPr>
          <p:cNvPr id="4" name="ln0"/>
          <p:cNvSpPr/>
          <p:nvPr/>
        </p:nvSpPr>
        <p:spPr>
          <a:xfrm>
            <a:off x="1005840" y="1984248"/>
            <a:ext cx="1706819" cy="0"/>
          </a:xfrm>
          <a:prstGeom prst="line">
            <a:avLst/>
          </a:prstGeom>
          <a:noFill/>
          <a:ln w="15875">
            <a:solidFill>
              <a:srgbClr val="CBD3DF"/>
            </a:solidFill>
            <a:prstDash val="solid"/>
          </a:ln>
        </p:spPr>
      </p:sp>
      <p:sp>
        <p:nvSpPr>
          <p:cNvPr id="5" name="n0"/>
          <p:cNvSpPr/>
          <p:nvPr/>
        </p:nvSpPr>
        <p:spPr>
          <a:xfrm>
            <a:off x="548640" y="1783080"/>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0"/>
          <p:cNvSpPr/>
          <p:nvPr/>
        </p:nvSpPr>
        <p:spPr>
          <a:xfrm>
            <a:off x="1051560" y="1801368"/>
            <a:ext cx="1569659" cy="365760"/>
          </a:xfrm>
          <a:prstGeom prst="rect">
            <a:avLst/>
          </a:prstGeom>
          <a:solidFill>
            <a:srgbClr val="F6F8FB"/>
          </a:solid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Discover</a:t>
            </a:r>
            <a:endParaRPr lang="en-US" sz="1600" dirty="0"/>
          </a:p>
        </p:txBody>
      </p:sp>
      <p:sp>
        <p:nvSpPr>
          <p:cNvPr id="7" name="d0"/>
          <p:cNvSpPr txBox="1"/>
          <p:nvPr/>
        </p:nvSpPr>
        <p:spPr>
          <a:xfrm>
            <a:off x="548640" y="2286000"/>
            <a:ext cx="1981139" cy="603504"/>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Filters, AI search, manager profile, simulated performance</a:t>
            </a:r>
            <a:endParaRPr lang="en-US" sz="1300" dirty="0"/>
          </a:p>
        </p:txBody>
      </p:sp>
      <p:sp>
        <p:nvSpPr>
          <p:cNvPr id="8" name="ln1"/>
          <p:cNvSpPr/>
          <p:nvPr/>
        </p:nvSpPr>
        <p:spPr>
          <a:xfrm>
            <a:off x="3261299" y="1984248"/>
            <a:ext cx="1706819" cy="0"/>
          </a:xfrm>
          <a:prstGeom prst="line">
            <a:avLst/>
          </a:prstGeom>
          <a:noFill/>
          <a:ln w="15875">
            <a:solidFill>
              <a:srgbClr val="CBD3DF"/>
            </a:solidFill>
            <a:prstDash val="solid"/>
          </a:ln>
        </p:spPr>
      </p:sp>
      <p:sp>
        <p:nvSpPr>
          <p:cNvPr id="9" name="n1"/>
          <p:cNvSpPr/>
          <p:nvPr/>
        </p:nvSpPr>
        <p:spPr>
          <a:xfrm>
            <a:off x="2804099" y="1783080"/>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1"/>
          <p:cNvSpPr/>
          <p:nvPr/>
        </p:nvSpPr>
        <p:spPr>
          <a:xfrm>
            <a:off x="3307019" y="1801368"/>
            <a:ext cx="1569659" cy="365760"/>
          </a:xfrm>
          <a:prstGeom prst="rect">
            <a:avLst/>
          </a:prstGeom>
          <a:solidFill>
            <a:srgbClr val="F6F8FB"/>
          </a:solid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Invest</a:t>
            </a:r>
            <a:endParaRPr lang="en-US" sz="1600" dirty="0"/>
          </a:p>
        </p:txBody>
      </p:sp>
      <p:sp>
        <p:nvSpPr>
          <p:cNvPr id="11" name="d1"/>
          <p:cNvSpPr txBox="1"/>
          <p:nvPr/>
        </p:nvSpPr>
        <p:spPr>
          <a:xfrm>
            <a:off x="2804099" y="2286000"/>
            <a:ext cx="1981139" cy="603504"/>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Enter a USDC amount; every step and fee previewed</a:t>
            </a:r>
            <a:endParaRPr lang="en-US" sz="1300" dirty="0"/>
          </a:p>
        </p:txBody>
      </p:sp>
      <p:sp>
        <p:nvSpPr>
          <p:cNvPr id="12" name="ln2"/>
          <p:cNvSpPr/>
          <p:nvPr/>
        </p:nvSpPr>
        <p:spPr>
          <a:xfrm>
            <a:off x="5516758" y="1984248"/>
            <a:ext cx="1706819" cy="0"/>
          </a:xfrm>
          <a:prstGeom prst="line">
            <a:avLst/>
          </a:prstGeom>
          <a:noFill/>
          <a:ln w="15875">
            <a:solidFill>
              <a:srgbClr val="CBD3DF"/>
            </a:solidFill>
            <a:prstDash val="solid"/>
          </a:ln>
        </p:spPr>
      </p:sp>
      <p:sp>
        <p:nvSpPr>
          <p:cNvPr id="13" name="n2"/>
          <p:cNvSpPr/>
          <p:nvPr/>
        </p:nvSpPr>
        <p:spPr>
          <a:xfrm>
            <a:off x="5059558" y="1783080"/>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2"/>
          <p:cNvSpPr/>
          <p:nvPr/>
        </p:nvSpPr>
        <p:spPr>
          <a:xfrm>
            <a:off x="5562478" y="1801368"/>
            <a:ext cx="1569659" cy="365760"/>
          </a:xfrm>
          <a:prstGeom prst="rect">
            <a:avLst/>
          </a:prstGeom>
          <a:solidFill>
            <a:srgbClr val="F6F8FB"/>
          </a:solid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Sign</a:t>
            </a:r>
            <a:endParaRPr lang="en-US" sz="1600" dirty="0"/>
          </a:p>
        </p:txBody>
      </p:sp>
      <p:sp>
        <p:nvSpPr>
          <p:cNvPr id="15" name="d2"/>
          <p:cNvSpPr txBox="1"/>
          <p:nvPr/>
        </p:nvSpPr>
        <p:spPr>
          <a:xfrm>
            <a:off x="5059558" y="2286000"/>
            <a:ext cx="1981139" cy="603504"/>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Approve one step at a time in your own wallet</a:t>
            </a:r>
            <a:endParaRPr lang="en-US" sz="1300" dirty="0"/>
          </a:p>
        </p:txBody>
      </p:sp>
      <p:sp>
        <p:nvSpPr>
          <p:cNvPr id="16" name="ln3"/>
          <p:cNvSpPr/>
          <p:nvPr/>
        </p:nvSpPr>
        <p:spPr>
          <a:xfrm>
            <a:off x="7772217" y="1984248"/>
            <a:ext cx="1706819" cy="0"/>
          </a:xfrm>
          <a:prstGeom prst="line">
            <a:avLst/>
          </a:prstGeom>
          <a:noFill/>
          <a:ln w="15875">
            <a:solidFill>
              <a:srgbClr val="CBD3DF"/>
            </a:solidFill>
            <a:prstDash val="solid"/>
          </a:ln>
        </p:spPr>
      </p:sp>
      <p:sp>
        <p:nvSpPr>
          <p:cNvPr id="17" name="n3"/>
          <p:cNvSpPr/>
          <p:nvPr/>
        </p:nvSpPr>
        <p:spPr>
          <a:xfrm>
            <a:off x="7315017" y="1783080"/>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3"/>
          <p:cNvSpPr/>
          <p:nvPr/>
        </p:nvSpPr>
        <p:spPr>
          <a:xfrm>
            <a:off x="7817937" y="1801368"/>
            <a:ext cx="1569659" cy="365760"/>
          </a:xfrm>
          <a:prstGeom prst="rect">
            <a:avLst/>
          </a:prstGeom>
          <a:solidFill>
            <a:srgbClr val="F6F8FB"/>
          </a:solid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Own</a:t>
            </a:r>
            <a:endParaRPr lang="en-US" sz="1600" dirty="0"/>
          </a:p>
        </p:txBody>
      </p:sp>
      <p:sp>
        <p:nvSpPr>
          <p:cNvPr id="19" name="d3"/>
          <p:cNvSpPr txBox="1"/>
          <p:nvPr/>
        </p:nvSpPr>
        <p:spPr>
          <a:xfrm>
            <a:off x="7315017" y="2286000"/>
            <a:ext cx="1981139" cy="603504"/>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Assets land in your wallets on each chain</a:t>
            </a:r>
            <a:endParaRPr lang="en-US" sz="1300" dirty="0"/>
          </a:p>
        </p:txBody>
      </p:sp>
      <p:sp>
        <p:nvSpPr>
          <p:cNvPr id="20" name="n4"/>
          <p:cNvSpPr/>
          <p:nvPr/>
        </p:nvSpPr>
        <p:spPr>
          <a:xfrm>
            <a:off x="9570476" y="1783080"/>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4"/>
          <p:cNvSpPr/>
          <p:nvPr/>
        </p:nvSpPr>
        <p:spPr>
          <a:xfrm>
            <a:off x="10073396" y="1801368"/>
            <a:ext cx="1569659" cy="365760"/>
          </a:xfrm>
          <a:prstGeom prst="rect">
            <a:avLst/>
          </a:prstGeom>
          <a:solidFill>
            <a:srgbClr val="F6F8FB"/>
          </a:solid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Stay or leave</a:t>
            </a:r>
            <a:endParaRPr lang="en-US" sz="1600" dirty="0"/>
          </a:p>
        </p:txBody>
      </p:sp>
      <p:sp>
        <p:nvSpPr>
          <p:cNvPr id="22" name="d4"/>
          <p:cNvSpPr txBox="1"/>
          <p:nvPr/>
        </p:nvSpPr>
        <p:spPr>
          <a:xfrm>
            <a:off x="9570476" y="2286000"/>
            <a:ext cx="1981139" cy="603504"/>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Apply or skip updates; sell or leave any time</a:t>
            </a:r>
            <a:endParaRPr lang="en-US" sz="1300" dirty="0"/>
          </a:p>
        </p:txBody>
      </p:sp>
      <p:sp>
        <p:nvSpPr>
          <p:cNvPr id="23" name="sh0"/>
          <p:cNvSpPr/>
          <p:nvPr/>
        </p:nvSpPr>
        <p:spPr>
          <a:xfrm>
            <a:off x="548640" y="3090672"/>
            <a:ext cx="3515258" cy="2197037"/>
          </a:xfrm>
          <a:prstGeom prst="roundRect">
            <a:avLst>
              <a:gd name="adj" fmla="val 4994"/>
            </a:avLst>
          </a:prstGeom>
          <a:solidFill>
            <a:srgbClr val="FFFFFF"/>
          </a:solidFill>
          <a:ln/>
          <a:effectLst>
            <a:outerShdw sx="100000" sy="100000" kx="0" ky="0" algn="bl" rotWithShape="0" blurRad="177800" dist="50800" dir="5400000">
              <a:srgbClr val="0F1E3A">
                <a:alpha val="12000"/>
              </a:srgbClr>
            </a:outerShdw>
          </a:effectLst>
        </p:spPr>
      </p:sp>
      <p:pic>
        <p:nvPicPr>
          <p:cNvPr id="24" name="img0" descr="Discover · AI search over verified baskets">    </p:cNvPr>
          <p:cNvPicPr>
            <a:picLocks noChangeAspect="1"/>
          </p:cNvPicPr>
          <p:nvPr/>
        </p:nvPicPr>
        <p:blipFill>
          <a:blip r:embed="rId1"/>
          <a:stretch>
            <a:fillRect/>
          </a:stretch>
        </p:blipFill>
        <p:spPr>
          <a:xfrm>
            <a:off x="548640" y="3090672"/>
            <a:ext cx="3515258" cy="2197037"/>
          </a:xfrm>
          <a:prstGeom prst="rect">
            <a:avLst/>
          </a:prstGeom>
        </p:spPr>
      </p:pic>
      <p:sp>
        <p:nvSpPr>
          <p:cNvPr id="25" name="cap0"/>
          <p:cNvSpPr txBox="1"/>
          <p:nvPr/>
        </p:nvSpPr>
        <p:spPr>
          <a:xfrm>
            <a:off x="548640" y="5397437"/>
            <a:ext cx="3515258" cy="27432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Discover · AI search over verified baskets</a:t>
            </a:r>
            <a:endParaRPr lang="en-US" sz="1300" dirty="0"/>
          </a:p>
        </p:txBody>
      </p:sp>
      <p:sp>
        <p:nvSpPr>
          <p:cNvPr id="26" name="sh1"/>
          <p:cNvSpPr/>
          <p:nvPr/>
        </p:nvSpPr>
        <p:spPr>
          <a:xfrm>
            <a:off x="4338218" y="3090672"/>
            <a:ext cx="3515258" cy="2197037"/>
          </a:xfrm>
          <a:prstGeom prst="roundRect">
            <a:avLst>
              <a:gd name="adj" fmla="val 4994"/>
            </a:avLst>
          </a:prstGeom>
          <a:solidFill>
            <a:srgbClr val="FFFFFF"/>
          </a:solidFill>
          <a:ln/>
          <a:effectLst>
            <a:outerShdw sx="100000" sy="100000" kx="0" ky="0" algn="bl" rotWithShape="0" blurRad="177800" dist="50800" dir="5400000">
              <a:srgbClr val="0F1E3A">
                <a:alpha val="12000"/>
              </a:srgbClr>
            </a:outerShdw>
          </a:effectLst>
        </p:spPr>
      </p:sp>
      <p:pic>
        <p:nvPicPr>
          <p:cNvPr id="27" name="img1" descr="Review the plan · every step and fee before signing">    </p:cNvPr>
          <p:cNvPicPr>
            <a:picLocks noChangeAspect="1"/>
          </p:cNvPicPr>
          <p:nvPr/>
        </p:nvPicPr>
        <p:blipFill>
          <a:blip r:embed="rId2"/>
          <a:stretch>
            <a:fillRect/>
          </a:stretch>
        </p:blipFill>
        <p:spPr>
          <a:xfrm>
            <a:off x="4338218" y="3090672"/>
            <a:ext cx="3515258" cy="2197037"/>
          </a:xfrm>
          <a:prstGeom prst="rect">
            <a:avLst/>
          </a:prstGeom>
        </p:spPr>
      </p:pic>
      <p:sp>
        <p:nvSpPr>
          <p:cNvPr id="28" name="cap1"/>
          <p:cNvSpPr txBox="1"/>
          <p:nvPr/>
        </p:nvSpPr>
        <p:spPr>
          <a:xfrm>
            <a:off x="4338218" y="5397437"/>
            <a:ext cx="3515258" cy="27432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Review the plan · every step and fee before signing</a:t>
            </a:r>
            <a:endParaRPr lang="en-US" sz="1300" dirty="0"/>
          </a:p>
        </p:txBody>
      </p:sp>
      <p:sp>
        <p:nvSpPr>
          <p:cNvPr id="29" name="sh2"/>
          <p:cNvSpPr/>
          <p:nvPr/>
        </p:nvSpPr>
        <p:spPr>
          <a:xfrm>
            <a:off x="8127797" y="3090672"/>
            <a:ext cx="3515258" cy="2197037"/>
          </a:xfrm>
          <a:prstGeom prst="roundRect">
            <a:avLst>
              <a:gd name="adj" fmla="val 4994"/>
            </a:avLst>
          </a:prstGeom>
          <a:solidFill>
            <a:srgbClr val="FFFFFF"/>
          </a:solidFill>
          <a:ln/>
          <a:effectLst>
            <a:outerShdw sx="100000" sy="100000" kx="0" ky="0" algn="bl" rotWithShape="0" blurRad="177800" dist="50800" dir="5400000">
              <a:srgbClr val="0F1E3A">
                <a:alpha val="12000"/>
              </a:srgbClr>
            </a:outerShdw>
          </a:effectLst>
        </p:spPr>
      </p:sp>
      <p:pic>
        <p:nvPicPr>
          <p:cNvPr id="30" name="img2" descr="Portfolio · reconciled from your own wallets">    </p:cNvPr>
          <p:cNvPicPr>
            <a:picLocks noChangeAspect="1"/>
          </p:cNvPicPr>
          <p:nvPr/>
        </p:nvPicPr>
        <p:blipFill>
          <a:blip r:embed="rId3"/>
          <a:stretch>
            <a:fillRect/>
          </a:stretch>
        </p:blipFill>
        <p:spPr>
          <a:xfrm>
            <a:off x="8127797" y="3090672"/>
            <a:ext cx="3515258" cy="2197037"/>
          </a:xfrm>
          <a:prstGeom prst="rect">
            <a:avLst/>
          </a:prstGeom>
        </p:spPr>
      </p:pic>
      <p:sp>
        <p:nvSpPr>
          <p:cNvPr id="31" name="cap2"/>
          <p:cNvSpPr txBox="1"/>
          <p:nvPr/>
        </p:nvSpPr>
        <p:spPr>
          <a:xfrm>
            <a:off x="8127797" y="5397437"/>
            <a:ext cx="3515258" cy="27432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Portfolio · reconciled from your own wallets</a:t>
            </a:r>
            <a:endParaRPr lang="en-US" sz="1300" dirty="0"/>
          </a:p>
        </p:txBody>
      </p:sp>
      <p:sp>
        <p:nvSpPr>
          <p:cNvPr id="32"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Real Bytesac web app, shown with demo data. AI search: AI suggests filters; results come only from published baskets.</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6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nodeType="withEffect">
                                  <p:stCondLst>
                                    <p:cond delay="32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nodeType="withEffect">
                                  <p:stCondLst>
                                    <p:cond delay="48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64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nodeType="withEffect">
                                  <p:stCondLst>
                                    <p:cond delay="8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96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6" presetID="10" presetClass="entr" presetSubtype="0" fill="hold" nodeType="withEffect">
                                  <p:stCondLst>
                                    <p:cond delay="112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par>
                                <p:cTn id="29" presetID="10" presetClass="entr" presetSubtype="0" fill="hold" nodeType="withEffect">
                                  <p:stCondLst>
                                    <p:cond delay="128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2" presetID="10" presetClass="entr" presetSubtype="0" fill="hold" nodeType="withEffect">
                                  <p:stCondLst>
                                    <p:cond delay="144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600"/>
                                        <p:tgtEl>
                                          <p:spTgt spid="17"/>
                                        </p:tgtEl>
                                      </p:cBhvr>
                                    </p:animEffect>
                                  </p:childTnLst>
                                </p:cTn>
                              </p:par>
                              <p:par>
                                <p:cTn id="35" presetID="10" presetClass="entr" presetSubtype="0" fill="hold" nodeType="withEffect">
                                  <p:stCondLst>
                                    <p:cond delay="160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600"/>
                                        <p:tgtEl>
                                          <p:spTgt spid="18"/>
                                        </p:tgtEl>
                                      </p:cBhvr>
                                    </p:animEffect>
                                  </p:childTnLst>
                                </p:cTn>
                              </p:par>
                              <p:par>
                                <p:cTn id="38" presetID="10" presetClass="entr" presetSubtype="0" fill="hold" nodeType="withEffect">
                                  <p:stCondLst>
                                    <p:cond delay="176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600"/>
                                        <p:tgtEl>
                                          <p:spTgt spid="19"/>
                                        </p:tgtEl>
                                      </p:cBhvr>
                                    </p:animEffect>
                                  </p:childTnLst>
                                </p:cTn>
                              </p:par>
                              <p:par>
                                <p:cTn id="41" presetID="10" presetClass="entr" presetSubtype="0" fill="hold" nodeType="withEffect">
                                  <p:stCondLst>
                                    <p:cond delay="192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600"/>
                                        <p:tgtEl>
                                          <p:spTgt spid="20"/>
                                        </p:tgtEl>
                                      </p:cBhvr>
                                    </p:animEffect>
                                  </p:childTnLst>
                                </p:cTn>
                              </p:par>
                              <p:par>
                                <p:cTn id="44" presetID="10" presetClass="entr" presetSubtype="0" fill="hold" nodeType="withEffect">
                                  <p:stCondLst>
                                    <p:cond delay="208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600"/>
                                        <p:tgtEl>
                                          <p:spTgt spid="21"/>
                                        </p:tgtEl>
                                      </p:cBhvr>
                                    </p:animEffect>
                                  </p:childTnLst>
                                </p:cTn>
                              </p:par>
                              <p:par>
                                <p:cTn id="47" presetID="10" presetClass="entr" presetSubtype="0" fill="hold" nodeType="withEffect">
                                  <p:stCondLst>
                                    <p:cond delay="224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600"/>
                                        <p:tgtEl>
                                          <p:spTgt spid="22"/>
                                        </p:tgtEl>
                                      </p:cBhvr>
                                    </p:animEffect>
                                  </p:childTnLst>
                                </p:cTn>
                              </p:par>
                              <p:par>
                                <p:cTn id="50" presetID="10" presetClass="entr" presetSubtype="0" fill="hold" nodeType="withEffect">
                                  <p:stCondLst>
                                    <p:cond delay="240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600"/>
                                        <p:tgtEl>
                                          <p:spTgt spid="24"/>
                                        </p:tgtEl>
                                      </p:cBhvr>
                                    </p:animEffect>
                                  </p:childTnLst>
                                </p:cTn>
                              </p:par>
                              <p:par>
                                <p:cTn id="53" presetID="10" presetClass="entr" presetSubtype="0" fill="hold" nodeType="withEffect">
                                  <p:stCondLst>
                                    <p:cond delay="256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600"/>
                                        <p:tgtEl>
                                          <p:spTgt spid="25"/>
                                        </p:tgtEl>
                                      </p:cBhvr>
                                    </p:animEffect>
                                  </p:childTnLst>
                                </p:cTn>
                              </p:par>
                              <p:par>
                                <p:cTn id="56" presetID="10" presetClass="entr" presetSubtype="0" fill="hold" nodeType="withEffect">
                                  <p:stCondLst>
                                    <p:cond delay="27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600"/>
                                        <p:tgtEl>
                                          <p:spTgt spid="27"/>
                                        </p:tgtEl>
                                      </p:cBhvr>
                                    </p:animEffect>
                                  </p:childTnLst>
                                </p:cTn>
                              </p:par>
                              <p:par>
                                <p:cTn id="59" presetID="10" presetClass="entr" presetSubtype="0" fill="hold" nodeType="withEffect">
                                  <p:stCondLst>
                                    <p:cond delay="288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600"/>
                                        <p:tgtEl>
                                          <p:spTgt spid="28"/>
                                        </p:tgtEl>
                                      </p:cBhvr>
                                    </p:animEffect>
                                  </p:childTnLst>
                                </p:cTn>
                              </p:par>
                              <p:par>
                                <p:cTn id="62" presetID="10" presetClass="entr" presetSubtype="0" fill="hold" nodeType="withEffect">
                                  <p:stCondLst>
                                    <p:cond delay="304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600"/>
                                        <p:tgtEl>
                                          <p:spTgt spid="30"/>
                                        </p:tgtEl>
                                      </p:cBhvr>
                                    </p:animEffect>
                                  </p:childTnLst>
                                </p:cTn>
                              </p:par>
                              <p:par>
                                <p:cTn id="65" presetID="10" presetClass="entr" presetSubtype="0" fill="hold" nodeType="withEffect">
                                  <p:stCondLst>
                                    <p:cond delay="320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0" grpId="0" animBg="1"/>
      <p:bldP spid="21" grpId="0" animBg="1"/>
      <p:bldP spid="22" grpId="0" animBg="1"/>
      <p:bldP spid="25" grpId="0" animBg="1"/>
      <p:bldP spid="28"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FOR FUND MANAGERS</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Managers steer. They never touch your money.</a:t>
            </a:r>
            <a:endParaRPr lang="en-US" sz="3600" dirty="0"/>
          </a:p>
        </p:txBody>
      </p:sp>
      <p:sp>
        <p:nvSpPr>
          <p:cNvPr id="4" name="j0"/>
          <p:cNvSpPr/>
          <p:nvPr/>
        </p:nvSpPr>
        <p:spPr>
          <a:xfrm>
            <a:off x="548640"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Apply</a:t>
            </a:r>
            <a:endParaRPr lang="en-US" sz="1300" dirty="0"/>
          </a:p>
        </p:txBody>
      </p:sp>
      <p:sp>
        <p:nvSpPr>
          <p:cNvPr id="5" name="j1"/>
          <p:cNvSpPr/>
          <p:nvPr/>
        </p:nvSpPr>
        <p:spPr>
          <a:xfrm>
            <a:off x="1956016"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Screening</a:t>
            </a:r>
            <a:endParaRPr lang="en-US" sz="1300" dirty="0"/>
          </a:p>
        </p:txBody>
      </p:sp>
      <p:sp>
        <p:nvSpPr>
          <p:cNvPr id="6" name="j2"/>
          <p:cNvSpPr/>
          <p:nvPr/>
        </p:nvSpPr>
        <p:spPr>
          <a:xfrm>
            <a:off x="3363392"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Wallet proven</a:t>
            </a:r>
            <a:endParaRPr lang="en-US" sz="1300" dirty="0"/>
          </a:p>
        </p:txBody>
      </p:sp>
      <p:sp>
        <p:nvSpPr>
          <p:cNvPr id="7" name="j3"/>
          <p:cNvSpPr/>
          <p:nvPr/>
        </p:nvSpPr>
        <p:spPr>
          <a:xfrm>
            <a:off x="4770768"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Org verified</a:t>
            </a:r>
            <a:endParaRPr lang="en-US" sz="1300" dirty="0"/>
          </a:p>
        </p:txBody>
      </p:sp>
      <p:sp>
        <p:nvSpPr>
          <p:cNvPr id="8" name="j4"/>
          <p:cNvSpPr/>
          <p:nvPr/>
        </p:nvSpPr>
        <p:spPr>
          <a:xfrm>
            <a:off x="6178144"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Build basket</a:t>
            </a:r>
            <a:endParaRPr lang="en-US" sz="1300" dirty="0"/>
          </a:p>
        </p:txBody>
      </p:sp>
      <p:sp>
        <p:nvSpPr>
          <p:cNvPr id="9" name="j5"/>
          <p:cNvSpPr/>
          <p:nvPr/>
        </p:nvSpPr>
        <p:spPr>
          <a:xfrm>
            <a:off x="7585520"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Ops review</a:t>
            </a:r>
            <a:endParaRPr lang="en-US" sz="1300" dirty="0"/>
          </a:p>
        </p:txBody>
      </p:sp>
      <p:sp>
        <p:nvSpPr>
          <p:cNvPr id="10" name="j6"/>
          <p:cNvSpPr/>
          <p:nvPr/>
        </p:nvSpPr>
        <p:spPr>
          <a:xfrm>
            <a:off x="8992895" y="1783080"/>
            <a:ext cx="1242784" cy="402336"/>
          </a:xfrm>
          <a:prstGeom prst="roundRect">
            <a:avLst>
              <a:gd name="adj" fmla="val 50000"/>
            </a:avLst>
          </a:prstGeom>
          <a:solidFill>
            <a:srgbClr val="E8EEFC"/>
          </a:solidFill>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Publish</a:t>
            </a:r>
            <a:endParaRPr lang="en-US" sz="1300" dirty="0"/>
          </a:p>
        </p:txBody>
      </p:sp>
      <p:sp>
        <p:nvSpPr>
          <p:cNvPr id="11" name="j7"/>
          <p:cNvSpPr/>
          <p:nvPr/>
        </p:nvSpPr>
        <p:spPr>
          <a:xfrm>
            <a:off x="10400271" y="1783080"/>
            <a:ext cx="1242784" cy="402336"/>
          </a:xfrm>
          <a:prstGeom prst="roundRect">
            <a:avLst>
              <a:gd name="adj" fmla="val 50000"/>
            </a:avLst>
          </a:prstGeom>
          <a:solidFill>
            <a:srgbClr val="1C2B4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Earn</a:t>
            </a:r>
            <a:endParaRPr lang="en-US" sz="1300" dirty="0"/>
          </a:p>
        </p:txBody>
      </p:sp>
      <p:sp>
        <p:nvSpPr>
          <p:cNvPr id="12" name="sh"/>
          <p:cNvSpPr/>
          <p:nvPr/>
        </p:nvSpPr>
        <p:spPr>
          <a:xfrm>
            <a:off x="548640" y="2514600"/>
            <a:ext cx="5486400" cy="2657496"/>
          </a:xfrm>
          <a:prstGeom prst="roundRect">
            <a:avLst>
              <a:gd name="adj" fmla="val 4129"/>
            </a:avLst>
          </a:prstGeom>
          <a:solidFill>
            <a:srgbClr val="FFFFFF"/>
          </a:solidFill>
          <a:ln/>
          <a:effectLst>
            <a:outerShdw sx="100000" sy="100000" kx="0" ky="0" algn="bl" rotWithShape="0" blurRad="177800" dist="50800" dir="5400000">
              <a:srgbClr val="0F1E3A">
                <a:alpha val="12000"/>
              </a:srgbClr>
            </a:outerShdw>
          </a:effectLst>
        </p:spPr>
      </p:sp>
      <p:pic>
        <p:nvPicPr>
          <p:cNvPr id="13" name="ops" descr="Ops screening queue">    </p:cNvPr>
          <p:cNvPicPr>
            <a:picLocks noChangeAspect="1"/>
          </p:cNvPicPr>
          <p:nvPr/>
        </p:nvPicPr>
        <p:blipFill>
          <a:blip r:embed="rId1"/>
          <a:stretch>
            <a:fillRect/>
          </a:stretch>
        </p:blipFill>
        <p:spPr>
          <a:xfrm>
            <a:off x="548640" y="2514600"/>
            <a:ext cx="5486400" cy="2657496"/>
          </a:xfrm>
          <a:prstGeom prst="rect">
            <a:avLst/>
          </a:prstGeom>
        </p:spPr>
      </p:pic>
      <p:sp>
        <p:nvSpPr>
          <p:cNvPr id="14" name="opscap"/>
          <p:cNvSpPr txBox="1"/>
          <p:nvPr/>
        </p:nvSpPr>
        <p:spPr>
          <a:xfrm>
            <a:off x="548640" y="5281824"/>
            <a:ext cx="5486400" cy="50292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Every application is screened in the ops console before a manager gets any rights.</a:t>
            </a:r>
            <a:endParaRPr lang="en-US" sz="1300" dirty="0"/>
          </a:p>
        </p:txBody>
      </p:sp>
      <p:sp>
        <p:nvSpPr>
          <p:cNvPr id="15" name="tr0"/>
          <p:cNvSpPr/>
          <p:nvPr/>
        </p:nvSpPr>
        <p:spPr>
          <a:xfrm>
            <a:off x="6355080" y="2514600"/>
            <a:ext cx="5287975" cy="365760"/>
          </a:xfrm>
          <a:prstGeom prst="roundRect">
            <a:avLst>
              <a:gd name="adj" fmla="val 25000"/>
            </a:avLst>
          </a:prstGeom>
          <a:solidFill>
            <a:srgbClr val="E8EEFC"/>
          </a:solidFill>
          <a:ln/>
        </p:spPr>
      </p:sp>
      <p:pic>
        <p:nvPicPr>
          <p:cNvPr id="16" name="tri0" descr="preencoded.png">    </p:cNvPr>
          <p:cNvPicPr>
            <a:picLocks noChangeAspect="1"/>
          </p:cNvPicPr>
          <p:nvPr/>
        </p:nvPicPr>
        <p:blipFill>
          <a:blip r:embed="rId2"/>
          <a:stretch>
            <a:fillRect/>
          </a:stretch>
        </p:blipFill>
        <p:spPr>
          <a:xfrm>
            <a:off x="6501384" y="2596896"/>
            <a:ext cx="201168" cy="201168"/>
          </a:xfrm>
          <a:prstGeom prst="rect">
            <a:avLst/>
          </a:prstGeom>
        </p:spPr>
      </p:pic>
      <p:sp>
        <p:nvSpPr>
          <p:cNvPr id="17" name="trt0"/>
          <p:cNvSpPr txBox="1"/>
          <p:nvPr/>
        </p:nvSpPr>
        <p:spPr>
          <a:xfrm>
            <a:off x="6812280" y="2514600"/>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Ops screening of every application</a:t>
            </a:r>
            <a:endParaRPr lang="en-US" sz="1400" dirty="0"/>
          </a:p>
        </p:txBody>
      </p:sp>
      <p:sp>
        <p:nvSpPr>
          <p:cNvPr id="18" name="tr1"/>
          <p:cNvSpPr/>
          <p:nvPr/>
        </p:nvSpPr>
        <p:spPr>
          <a:xfrm>
            <a:off x="6355080" y="2944368"/>
            <a:ext cx="5287975" cy="365760"/>
          </a:xfrm>
          <a:prstGeom prst="roundRect">
            <a:avLst>
              <a:gd name="adj" fmla="val 25000"/>
            </a:avLst>
          </a:prstGeom>
          <a:solidFill>
            <a:srgbClr val="FFFFFF"/>
          </a:solidFill>
          <a:ln w="9525">
            <a:solidFill>
              <a:srgbClr val="E2E7EF"/>
            </a:solidFill>
            <a:prstDash val="solid"/>
          </a:ln>
        </p:spPr>
      </p:sp>
      <p:pic>
        <p:nvPicPr>
          <p:cNvPr id="19" name="tri1" descr="preencoded.png">    </p:cNvPr>
          <p:cNvPicPr>
            <a:picLocks noChangeAspect="1"/>
          </p:cNvPicPr>
          <p:nvPr/>
        </p:nvPicPr>
        <p:blipFill>
          <a:blip r:embed="rId3"/>
          <a:stretch>
            <a:fillRect/>
          </a:stretch>
        </p:blipFill>
        <p:spPr>
          <a:xfrm>
            <a:off x="6501384" y="3026664"/>
            <a:ext cx="201168" cy="201168"/>
          </a:xfrm>
          <a:prstGeom prst="rect">
            <a:avLst/>
          </a:prstGeom>
        </p:spPr>
      </p:pic>
      <p:sp>
        <p:nvSpPr>
          <p:cNvPr id="20" name="trt1"/>
          <p:cNvSpPr txBox="1"/>
          <p:nvPr/>
        </p:nvSpPr>
        <p:spPr>
          <a:xfrm>
            <a:off x="6812280" y="2944368"/>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Wallet proven by signature before any rights</a:t>
            </a:r>
            <a:endParaRPr lang="en-US" sz="1400" dirty="0"/>
          </a:p>
        </p:txBody>
      </p:sp>
      <p:sp>
        <p:nvSpPr>
          <p:cNvPr id="21" name="tr2"/>
          <p:cNvSpPr/>
          <p:nvPr/>
        </p:nvSpPr>
        <p:spPr>
          <a:xfrm>
            <a:off x="6355080" y="3374136"/>
            <a:ext cx="5287975" cy="365760"/>
          </a:xfrm>
          <a:prstGeom prst="roundRect">
            <a:avLst>
              <a:gd name="adj" fmla="val 25000"/>
            </a:avLst>
          </a:prstGeom>
          <a:solidFill>
            <a:srgbClr val="E8EEFC"/>
          </a:solidFill>
          <a:ln/>
        </p:spPr>
      </p:sp>
      <p:pic>
        <p:nvPicPr>
          <p:cNvPr id="22" name="tri2" descr="preencoded.png">    </p:cNvPr>
          <p:cNvPicPr>
            <a:picLocks noChangeAspect="1"/>
          </p:cNvPicPr>
          <p:nvPr/>
        </p:nvPicPr>
        <p:blipFill>
          <a:blip r:embed="rId4"/>
          <a:stretch>
            <a:fillRect/>
          </a:stretch>
        </p:blipFill>
        <p:spPr>
          <a:xfrm>
            <a:off x="6501384" y="3456432"/>
            <a:ext cx="201168" cy="201168"/>
          </a:xfrm>
          <a:prstGeom prst="rect">
            <a:avLst/>
          </a:prstGeom>
        </p:spPr>
      </p:pic>
      <p:sp>
        <p:nvSpPr>
          <p:cNvPr id="23" name="trt2"/>
          <p:cNvSpPr txBox="1"/>
          <p:nvPr/>
        </p:nvSpPr>
        <p:spPr>
          <a:xfrm>
            <a:off x="6812280" y="3374136"/>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Organization documents verified per jurisdiction</a:t>
            </a:r>
            <a:endParaRPr lang="en-US" sz="1400" dirty="0"/>
          </a:p>
        </p:txBody>
      </p:sp>
      <p:sp>
        <p:nvSpPr>
          <p:cNvPr id="24" name="tr3"/>
          <p:cNvSpPr/>
          <p:nvPr/>
        </p:nvSpPr>
        <p:spPr>
          <a:xfrm>
            <a:off x="6355080" y="3803904"/>
            <a:ext cx="5287975" cy="365760"/>
          </a:xfrm>
          <a:prstGeom prst="roundRect">
            <a:avLst>
              <a:gd name="adj" fmla="val 25000"/>
            </a:avLst>
          </a:prstGeom>
          <a:solidFill>
            <a:srgbClr val="FFFFFF"/>
          </a:solidFill>
          <a:ln w="9525">
            <a:solidFill>
              <a:srgbClr val="E2E7EF"/>
            </a:solidFill>
            <a:prstDash val="solid"/>
          </a:ln>
        </p:spPr>
      </p:sp>
      <p:pic>
        <p:nvPicPr>
          <p:cNvPr id="25" name="tri3" descr="preencoded.png">    </p:cNvPr>
          <p:cNvPicPr>
            <a:picLocks noChangeAspect="1"/>
          </p:cNvPicPr>
          <p:nvPr/>
        </p:nvPicPr>
        <p:blipFill>
          <a:blip r:embed="rId5"/>
          <a:stretch>
            <a:fillRect/>
          </a:stretch>
        </p:blipFill>
        <p:spPr>
          <a:xfrm>
            <a:off x="6501384" y="3886200"/>
            <a:ext cx="201168" cy="201168"/>
          </a:xfrm>
          <a:prstGeom prst="rect">
            <a:avLst/>
          </a:prstGeom>
        </p:spPr>
      </p:pic>
      <p:sp>
        <p:nvSpPr>
          <p:cNvPr id="26" name="trt3"/>
          <p:cNvSpPr txBox="1"/>
          <p:nvPr/>
        </p:nvSpPr>
        <p:spPr>
          <a:xfrm>
            <a:off x="6812280" y="3803904"/>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Admins and managers pass their own ID review</a:t>
            </a:r>
            <a:endParaRPr lang="en-US" sz="1400" dirty="0"/>
          </a:p>
        </p:txBody>
      </p:sp>
      <p:sp>
        <p:nvSpPr>
          <p:cNvPr id="27" name="tr4"/>
          <p:cNvSpPr/>
          <p:nvPr/>
        </p:nvSpPr>
        <p:spPr>
          <a:xfrm>
            <a:off x="6355080" y="4233672"/>
            <a:ext cx="5287975" cy="365760"/>
          </a:xfrm>
          <a:prstGeom prst="roundRect">
            <a:avLst>
              <a:gd name="adj" fmla="val 25000"/>
            </a:avLst>
          </a:prstGeom>
          <a:solidFill>
            <a:srgbClr val="E8EEFC"/>
          </a:solidFill>
          <a:ln/>
        </p:spPr>
      </p:sp>
      <p:pic>
        <p:nvPicPr>
          <p:cNvPr id="28" name="tri4" descr="preencoded.png">    </p:cNvPr>
          <p:cNvPicPr>
            <a:picLocks noChangeAspect="1"/>
          </p:cNvPicPr>
          <p:nvPr/>
        </p:nvPicPr>
        <p:blipFill>
          <a:blip r:embed="rId6"/>
          <a:stretch>
            <a:fillRect/>
          </a:stretch>
        </p:blipFill>
        <p:spPr>
          <a:xfrm>
            <a:off x="6501384" y="4315968"/>
            <a:ext cx="201168" cy="201168"/>
          </a:xfrm>
          <a:prstGeom prst="rect">
            <a:avLst/>
          </a:prstGeom>
        </p:spPr>
      </p:pic>
      <p:sp>
        <p:nvSpPr>
          <p:cNvPr id="29" name="trt4"/>
          <p:cNvSpPr txBox="1"/>
          <p:nvPr/>
        </p:nvSpPr>
        <p:spPr>
          <a:xfrm>
            <a:off x="6812280" y="4233672"/>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Only ops-approved assets can go in a basket</a:t>
            </a:r>
            <a:endParaRPr lang="en-US" sz="1400" dirty="0"/>
          </a:p>
        </p:txBody>
      </p:sp>
      <p:sp>
        <p:nvSpPr>
          <p:cNvPr id="30" name="tr5"/>
          <p:cNvSpPr/>
          <p:nvPr/>
        </p:nvSpPr>
        <p:spPr>
          <a:xfrm>
            <a:off x="6355080" y="4663440"/>
            <a:ext cx="5287975" cy="365760"/>
          </a:xfrm>
          <a:prstGeom prst="roundRect">
            <a:avLst>
              <a:gd name="adj" fmla="val 25000"/>
            </a:avLst>
          </a:prstGeom>
          <a:solidFill>
            <a:srgbClr val="FFFFFF"/>
          </a:solidFill>
          <a:ln w="9525">
            <a:solidFill>
              <a:srgbClr val="E2E7EF"/>
            </a:solidFill>
            <a:prstDash val="solid"/>
          </a:ln>
        </p:spPr>
      </p:sp>
      <p:pic>
        <p:nvPicPr>
          <p:cNvPr id="31" name="tri5" descr="preencoded.png">    </p:cNvPr>
          <p:cNvPicPr>
            <a:picLocks noChangeAspect="1"/>
          </p:cNvPicPr>
          <p:nvPr/>
        </p:nvPicPr>
        <p:blipFill>
          <a:blip r:embed="rId7"/>
          <a:stretch>
            <a:fillRect/>
          </a:stretch>
        </p:blipFill>
        <p:spPr>
          <a:xfrm>
            <a:off x="6501384" y="4745736"/>
            <a:ext cx="201168" cy="201168"/>
          </a:xfrm>
          <a:prstGeom prst="rect">
            <a:avLst/>
          </a:prstGeom>
        </p:spPr>
      </p:pic>
      <p:sp>
        <p:nvSpPr>
          <p:cNvPr id="32" name="trt5"/>
          <p:cNvSpPr txBox="1"/>
          <p:nvPr/>
        </p:nvSpPr>
        <p:spPr>
          <a:xfrm>
            <a:off x="6812280" y="4663440"/>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Every version frozen, hashed and reviewed</a:t>
            </a:r>
            <a:endParaRPr lang="en-US" sz="1400" dirty="0"/>
          </a:p>
        </p:txBody>
      </p:sp>
      <p:sp>
        <p:nvSpPr>
          <p:cNvPr id="33" name="tr6"/>
          <p:cNvSpPr/>
          <p:nvPr/>
        </p:nvSpPr>
        <p:spPr>
          <a:xfrm>
            <a:off x="6355080" y="5093208"/>
            <a:ext cx="5287975" cy="365760"/>
          </a:xfrm>
          <a:prstGeom prst="roundRect">
            <a:avLst>
              <a:gd name="adj" fmla="val 25000"/>
            </a:avLst>
          </a:prstGeom>
          <a:solidFill>
            <a:srgbClr val="E8EEFC"/>
          </a:solidFill>
          <a:ln/>
        </p:spPr>
      </p:sp>
      <p:pic>
        <p:nvPicPr>
          <p:cNvPr id="34" name="tri6" descr="preencoded.png">    </p:cNvPr>
          <p:cNvPicPr>
            <a:picLocks noChangeAspect="1"/>
          </p:cNvPicPr>
          <p:nvPr/>
        </p:nvPicPr>
        <p:blipFill>
          <a:blip r:embed="rId8"/>
          <a:stretch>
            <a:fillRect/>
          </a:stretch>
        </p:blipFill>
        <p:spPr>
          <a:xfrm>
            <a:off x="6501384" y="5175504"/>
            <a:ext cx="201168" cy="201168"/>
          </a:xfrm>
          <a:prstGeom prst="rect">
            <a:avLst/>
          </a:prstGeom>
        </p:spPr>
      </p:pic>
      <p:sp>
        <p:nvSpPr>
          <p:cNvPr id="35" name="trt6"/>
          <p:cNvSpPr txBox="1"/>
          <p:nvPr/>
        </p:nvSpPr>
        <p:spPr>
          <a:xfrm>
            <a:off x="6812280" y="5093208"/>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Fee caps (max 1%) and mandatory disclosures</a:t>
            </a:r>
            <a:endParaRPr lang="en-US" sz="1400" dirty="0"/>
          </a:p>
        </p:txBody>
      </p:sp>
      <p:sp>
        <p:nvSpPr>
          <p:cNvPr id="36" name="tr7"/>
          <p:cNvSpPr/>
          <p:nvPr/>
        </p:nvSpPr>
        <p:spPr>
          <a:xfrm>
            <a:off x="6355080" y="5522976"/>
            <a:ext cx="5287975" cy="365760"/>
          </a:xfrm>
          <a:prstGeom prst="roundRect">
            <a:avLst>
              <a:gd name="adj" fmla="val 25000"/>
            </a:avLst>
          </a:prstGeom>
          <a:solidFill>
            <a:srgbClr val="FFFFFF"/>
          </a:solidFill>
          <a:ln w="9525">
            <a:solidFill>
              <a:srgbClr val="E2E7EF"/>
            </a:solidFill>
            <a:prstDash val="solid"/>
          </a:ln>
        </p:spPr>
      </p:sp>
      <p:pic>
        <p:nvPicPr>
          <p:cNvPr id="37" name="tri7" descr="preencoded.png">    </p:cNvPr>
          <p:cNvPicPr>
            <a:picLocks noChangeAspect="1"/>
          </p:cNvPicPr>
          <p:nvPr/>
        </p:nvPicPr>
        <p:blipFill>
          <a:blip r:embed="rId9"/>
          <a:stretch>
            <a:fillRect/>
          </a:stretch>
        </p:blipFill>
        <p:spPr>
          <a:xfrm>
            <a:off x="6501384" y="5605272"/>
            <a:ext cx="201168" cy="201168"/>
          </a:xfrm>
          <a:prstGeom prst="rect">
            <a:avLst/>
          </a:prstGeom>
        </p:spPr>
      </p:pic>
      <p:sp>
        <p:nvSpPr>
          <p:cNvPr id="38" name="trt7"/>
          <p:cNvSpPr txBox="1"/>
          <p:nvPr/>
        </p:nvSpPr>
        <p:spPr>
          <a:xfrm>
            <a:off x="6812280" y="5522976"/>
            <a:ext cx="4739335" cy="365760"/>
          </a:xfrm>
          <a:prstGeom prst="rect">
            <a:avLst/>
          </a:prstGeom>
          <a:noFill/>
          <a:ln/>
        </p:spPr>
        <p:txBody>
          <a:bodyPr wrap="square" lIns="0" tIns="0" rIns="0" bIns="0" rtlCol="0" anchor="ctr"/>
          <a:lstStyle/>
          <a:p>
            <a:pPr algn="l" indent="0" marL="0">
              <a:buNone/>
            </a:pPr>
            <a:r>
              <a:rPr lang="en-US" sz="1400" dirty="0">
                <a:solidFill>
                  <a:srgbClr val="0F1E3A"/>
                </a:solidFill>
                <a:latin typeface="Calibri" pitchFamily="34" charset="0"/>
                <a:ea typeface="Calibri" pitchFamily="34" charset="-122"/>
                <a:cs typeface="Calibri" pitchFamily="34" charset="-120"/>
              </a:rPr>
              <a:t>"Verified" badge only while verification is active</a:t>
            </a:r>
            <a:endParaRPr lang="en-US" sz="1400" dirty="0"/>
          </a:p>
        </p:txBody>
      </p:sp>
      <p:sp>
        <p:nvSpPr>
          <p:cNvPr id="39"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Real Bytesac ops console with demo applicants. Controls: ADR-007 to ADR-011 in the repository.</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par>
                                <p:cTn id="32" presetID="10" presetClass="entr" presetSubtype="0" fill="hold" nodeType="withEffect">
                                  <p:stCondLst>
                                    <p:cond delay="144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600"/>
                                        <p:tgtEl>
                                          <p:spTgt spid="14"/>
                                        </p:tgtEl>
                                      </p:cBhvr>
                                    </p:animEffect>
                                  </p:childTnLst>
                                </p:cTn>
                              </p:par>
                              <p:par>
                                <p:cTn id="35" presetID="10" presetClass="entr" presetSubtype="0" fill="hold" nodeType="withEffect">
                                  <p:stCondLst>
                                    <p:cond delay="160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00"/>
                                        <p:tgtEl>
                                          <p:spTgt spid="15"/>
                                        </p:tgtEl>
                                      </p:cBhvr>
                                    </p:animEffect>
                                  </p:childTnLst>
                                </p:cTn>
                              </p:par>
                              <p:par>
                                <p:cTn id="38" presetID="10" presetClass="entr" presetSubtype="0" fill="hold" nodeType="withEffect">
                                  <p:stCondLst>
                                    <p:cond delay="176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600"/>
                                        <p:tgtEl>
                                          <p:spTgt spid="16"/>
                                        </p:tgtEl>
                                      </p:cBhvr>
                                    </p:animEffect>
                                  </p:childTnLst>
                                </p:cTn>
                              </p:par>
                              <p:par>
                                <p:cTn id="41" presetID="10" presetClass="entr" presetSubtype="0" fill="hold" nodeType="withEffect">
                                  <p:stCondLst>
                                    <p:cond delay="192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600"/>
                                        <p:tgtEl>
                                          <p:spTgt spid="17"/>
                                        </p:tgtEl>
                                      </p:cBhvr>
                                    </p:animEffect>
                                  </p:childTnLst>
                                </p:cTn>
                              </p:par>
                              <p:par>
                                <p:cTn id="44" presetID="10" presetClass="entr" presetSubtype="0" fill="hold" nodeType="withEffect">
                                  <p:stCondLst>
                                    <p:cond delay="208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600"/>
                                        <p:tgtEl>
                                          <p:spTgt spid="18"/>
                                        </p:tgtEl>
                                      </p:cBhvr>
                                    </p:animEffect>
                                  </p:childTnLst>
                                </p:cTn>
                              </p:par>
                              <p:par>
                                <p:cTn id="47" presetID="10" presetClass="entr" presetSubtype="0" fill="hold" nodeType="withEffect">
                                  <p:stCondLst>
                                    <p:cond delay="224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600"/>
                                        <p:tgtEl>
                                          <p:spTgt spid="19"/>
                                        </p:tgtEl>
                                      </p:cBhvr>
                                    </p:animEffect>
                                  </p:childTnLst>
                                </p:cTn>
                              </p:par>
                              <p:par>
                                <p:cTn id="50" presetID="10" presetClass="entr" presetSubtype="0" fill="hold" nodeType="withEffect">
                                  <p:stCondLst>
                                    <p:cond delay="24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600"/>
                                        <p:tgtEl>
                                          <p:spTgt spid="20"/>
                                        </p:tgtEl>
                                      </p:cBhvr>
                                    </p:animEffect>
                                  </p:childTnLst>
                                </p:cTn>
                              </p:par>
                              <p:par>
                                <p:cTn id="53" presetID="10" presetClass="entr" presetSubtype="0" fill="hold" nodeType="withEffect">
                                  <p:stCondLst>
                                    <p:cond delay="256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600"/>
                                        <p:tgtEl>
                                          <p:spTgt spid="21"/>
                                        </p:tgtEl>
                                      </p:cBhvr>
                                    </p:animEffect>
                                  </p:childTnLst>
                                </p:cTn>
                              </p:par>
                              <p:par>
                                <p:cTn id="56" presetID="10" presetClass="entr" presetSubtype="0" fill="hold" nodeType="withEffect">
                                  <p:stCondLst>
                                    <p:cond delay="272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600"/>
                                        <p:tgtEl>
                                          <p:spTgt spid="22"/>
                                        </p:tgtEl>
                                      </p:cBhvr>
                                    </p:animEffect>
                                  </p:childTnLst>
                                </p:cTn>
                              </p:par>
                              <p:par>
                                <p:cTn id="59" presetID="10" presetClass="entr" presetSubtype="0" fill="hold" nodeType="withEffect">
                                  <p:stCondLst>
                                    <p:cond delay="28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600"/>
                                        <p:tgtEl>
                                          <p:spTgt spid="23"/>
                                        </p:tgtEl>
                                      </p:cBhvr>
                                    </p:animEffect>
                                  </p:childTnLst>
                                </p:cTn>
                              </p:par>
                              <p:par>
                                <p:cTn id="62" presetID="10" presetClass="entr" presetSubtype="0" fill="hold" nodeType="withEffect">
                                  <p:stCondLst>
                                    <p:cond delay="30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600"/>
                                        <p:tgtEl>
                                          <p:spTgt spid="24"/>
                                        </p:tgtEl>
                                      </p:cBhvr>
                                    </p:animEffect>
                                  </p:childTnLst>
                                </p:cTn>
                              </p:par>
                              <p:par>
                                <p:cTn id="65" presetID="10" presetClass="entr" presetSubtype="0" fill="hold" nodeType="withEffect">
                                  <p:stCondLst>
                                    <p:cond delay="32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600"/>
                                        <p:tgtEl>
                                          <p:spTgt spid="25"/>
                                        </p:tgtEl>
                                      </p:cBhvr>
                                    </p:animEffect>
                                  </p:childTnLst>
                                </p:cTn>
                              </p:par>
                              <p:par>
                                <p:cTn id="68" presetID="10" presetClass="entr" presetSubtype="0" fill="hold" nodeType="withEffect">
                                  <p:stCondLst>
                                    <p:cond delay="336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600"/>
                                        <p:tgtEl>
                                          <p:spTgt spid="26"/>
                                        </p:tgtEl>
                                      </p:cBhvr>
                                    </p:animEffect>
                                  </p:childTnLst>
                                </p:cTn>
                              </p:par>
                              <p:par>
                                <p:cTn id="71" presetID="10" presetClass="entr" presetSubtype="0" fill="hold" nodeType="withEffect">
                                  <p:stCondLst>
                                    <p:cond delay="352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600"/>
                                        <p:tgtEl>
                                          <p:spTgt spid="27"/>
                                        </p:tgtEl>
                                      </p:cBhvr>
                                    </p:animEffect>
                                  </p:childTnLst>
                                </p:cTn>
                              </p:par>
                              <p:par>
                                <p:cTn id="74" presetID="10" presetClass="entr" presetSubtype="0" fill="hold" nodeType="withEffect">
                                  <p:stCondLst>
                                    <p:cond delay="368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600"/>
                                        <p:tgtEl>
                                          <p:spTgt spid="28"/>
                                        </p:tgtEl>
                                      </p:cBhvr>
                                    </p:animEffect>
                                  </p:childTnLst>
                                </p:cTn>
                              </p:par>
                              <p:par>
                                <p:cTn id="77" presetID="10" presetClass="entr" presetSubtype="0" fill="hold" nodeType="withEffect">
                                  <p:stCondLst>
                                    <p:cond delay="384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600"/>
                                        <p:tgtEl>
                                          <p:spTgt spid="29"/>
                                        </p:tgtEl>
                                      </p:cBhvr>
                                    </p:animEffect>
                                  </p:childTnLst>
                                </p:cTn>
                              </p:par>
                              <p:par>
                                <p:cTn id="80" presetID="10" presetClass="entr" presetSubtype="0" fill="hold" nodeType="withEffect">
                                  <p:stCondLst>
                                    <p:cond delay="400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600"/>
                                        <p:tgtEl>
                                          <p:spTgt spid="30"/>
                                        </p:tgtEl>
                                      </p:cBhvr>
                                    </p:animEffect>
                                  </p:childTnLst>
                                </p:cTn>
                              </p:par>
                              <p:par>
                                <p:cTn id="83" presetID="10" presetClass="entr" presetSubtype="0" fill="hold" nodeType="withEffect">
                                  <p:stCondLst>
                                    <p:cond delay="416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600"/>
                                        <p:tgtEl>
                                          <p:spTgt spid="31"/>
                                        </p:tgtEl>
                                      </p:cBhvr>
                                    </p:animEffect>
                                  </p:childTnLst>
                                </p:cTn>
                              </p:par>
                              <p:par>
                                <p:cTn id="86" presetID="10" presetClass="entr" presetSubtype="0" fill="hold" nodeType="withEffect">
                                  <p:stCondLst>
                                    <p:cond delay="432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600"/>
                                        <p:tgtEl>
                                          <p:spTgt spid="32"/>
                                        </p:tgtEl>
                                      </p:cBhvr>
                                    </p:animEffect>
                                  </p:childTnLst>
                                </p:cTn>
                              </p:par>
                              <p:par>
                                <p:cTn id="89" presetID="10" presetClass="entr" presetSubtype="0" fill="hold" nodeType="withEffect">
                                  <p:stCondLst>
                                    <p:cond delay="448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600"/>
                                        <p:tgtEl>
                                          <p:spTgt spid="33"/>
                                        </p:tgtEl>
                                      </p:cBhvr>
                                    </p:animEffect>
                                  </p:childTnLst>
                                </p:cTn>
                              </p:par>
                              <p:par>
                                <p:cTn id="92" presetID="10" presetClass="entr" presetSubtype="0" fill="hold" nodeType="withEffect">
                                  <p:stCondLst>
                                    <p:cond delay="464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600"/>
                                        <p:tgtEl>
                                          <p:spTgt spid="34"/>
                                        </p:tgtEl>
                                      </p:cBhvr>
                                    </p:animEffect>
                                  </p:childTnLst>
                                </p:cTn>
                              </p:par>
                              <p:par>
                                <p:cTn id="95" presetID="10" presetClass="entr" presetSubtype="0" fill="hold" nodeType="withEffect">
                                  <p:stCondLst>
                                    <p:cond delay="480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600"/>
                                        <p:tgtEl>
                                          <p:spTgt spid="35"/>
                                        </p:tgtEl>
                                      </p:cBhvr>
                                    </p:animEffect>
                                  </p:childTnLst>
                                </p:cTn>
                              </p:par>
                              <p:par>
                                <p:cTn id="98" presetID="10" presetClass="entr" presetSubtype="0" fill="hold" nodeType="withEffect">
                                  <p:stCondLst>
                                    <p:cond delay="496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600"/>
                                        <p:tgtEl>
                                          <p:spTgt spid="36"/>
                                        </p:tgtEl>
                                      </p:cBhvr>
                                    </p:animEffect>
                                  </p:childTnLst>
                                </p:cTn>
                              </p:par>
                              <p:par>
                                <p:cTn id="101" presetID="10" presetClass="entr" presetSubtype="0" fill="hold" nodeType="withEffect">
                                  <p:stCondLst>
                                    <p:cond delay="512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600"/>
                                        <p:tgtEl>
                                          <p:spTgt spid="37"/>
                                        </p:tgtEl>
                                      </p:cBhvr>
                                    </p:animEffect>
                                  </p:childTnLst>
                                </p:cTn>
                              </p:par>
                              <p:par>
                                <p:cTn id="104" presetID="10" presetClass="entr" presetSubtype="0" fill="hold" nodeType="withEffect">
                                  <p:stCondLst>
                                    <p:cond delay="528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P spid="29" grpId="0" animBg="1"/>
      <p:bldP spid="30" grpId="0" animBg="1"/>
      <p:bldP spid="32" grpId="0" animBg="1"/>
      <p:bldP spid="33" grpId="0" animBg="1"/>
      <p:bldP spid="35" grpId="0" animBg="1"/>
      <p:bldP spid="36"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REBALANCING AND DRIFT</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Drift or a manager update: you decide every move</a:t>
            </a:r>
            <a:endParaRPr lang="en-US" sz="3600" dirty="0"/>
          </a:p>
        </p:txBody>
      </p:sp>
      <p:sp>
        <p:nvSpPr>
          <p:cNvPr id="4" name="chartbg"/>
          <p:cNvSpPr/>
          <p:nvPr/>
        </p:nvSpPr>
        <p:spPr>
          <a:xfrm>
            <a:off x="548640" y="1783080"/>
            <a:ext cx="5669280" cy="3886200"/>
          </a:xfrm>
          <a:prstGeom prst="roundRect">
            <a:avLst>
              <a:gd name="adj" fmla="val 4235"/>
            </a:avLst>
          </a:prstGeom>
          <a:solidFill>
            <a:srgbClr val="FFFFFF"/>
          </a:solidFill>
          <a:ln w="9525">
            <a:solidFill>
              <a:srgbClr val="E2E7EF"/>
            </a:solidFill>
            <a:prstDash val="solid"/>
          </a:ln>
        </p:spPr>
      </p:sp>
      <p:graphicFrame>
        <p:nvGraphicFramePr>
          <p:cNvPr id="5" name="drift" descr=""/>
          <p:cNvGraphicFramePr/>
          <p:nvPr/>
        </p:nvGraphicFramePr>
        <p:xfrm>
          <a:off x="685800" y="1874520"/>
          <a:ext cx="5394960" cy="3703320"/>
        </p:xfrm>
        <a:graphic xmlns:a="http://schemas.openxmlformats.org/drawingml/2006/main">
          <a:graphicData uri="http://schemas.openxmlformats.org/drawingml/2006/chart">
            <c:chart xmlns:c="http://schemas.openxmlformats.org/drawingml/2006/chart" r:id="rId1"/>
          </a:graphicData>
        </a:graphic>
      </p:graphicFrame>
      <p:sp>
        <p:nvSpPr>
          <p:cNvPr id="6" name="b1"/>
          <p:cNvSpPr/>
          <p:nvPr/>
        </p:nvSpPr>
        <p:spPr>
          <a:xfrm>
            <a:off x="777240" y="5788152"/>
            <a:ext cx="1920240" cy="384048"/>
          </a:xfrm>
          <a:prstGeom prst="roundRect">
            <a:avLst>
              <a:gd name="adj" fmla="val 50000"/>
            </a:avLst>
          </a:prstGeom>
          <a:solidFill>
            <a:srgbClr val="1C2B4A"/>
          </a:solid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Rebalance to target</a:t>
            </a:r>
            <a:endParaRPr lang="en-US" sz="1300" dirty="0"/>
          </a:p>
        </p:txBody>
      </p:sp>
      <p:sp>
        <p:nvSpPr>
          <p:cNvPr id="7" name="b2"/>
          <p:cNvSpPr/>
          <p:nvPr/>
        </p:nvSpPr>
        <p:spPr>
          <a:xfrm>
            <a:off x="2834640" y="5788152"/>
            <a:ext cx="1371600" cy="384048"/>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Keep custom</a:t>
            </a:r>
            <a:endParaRPr lang="en-US" sz="1300" dirty="0"/>
          </a:p>
        </p:txBody>
      </p:sp>
      <p:sp>
        <p:nvSpPr>
          <p:cNvPr id="8" name="b3"/>
          <p:cNvSpPr txBox="1"/>
          <p:nvPr/>
        </p:nvSpPr>
        <p:spPr>
          <a:xfrm>
            <a:off x="4343400" y="5788152"/>
            <a:ext cx="1874520" cy="457200"/>
          </a:xfrm>
          <a:prstGeom prst="rect">
            <a:avLst/>
          </a:prstGeom>
          <a:noFill/>
          <a:ln/>
        </p:spPr>
        <p:txBody>
          <a:bodyPr wrap="square" lIns="0" tIns="0" rIns="0" bIns="0" rtlCol="0" anchor="t"/>
          <a:lstStyle/>
          <a:p>
            <a:pPr algn="l" indent="0" marL="0">
              <a:buNone/>
            </a:pPr>
            <a:r>
              <a:rPr lang="en-US" sz="1100" dirty="0">
                <a:solidFill>
                  <a:srgbClr val="68728A"/>
                </a:solidFill>
                <a:latin typeface="Calibri" pitchFamily="34" charset="0"/>
                <a:ea typeface="Calibri" pitchFamily="34" charset="-122"/>
                <a:cs typeface="Calibri" pitchFamily="34" charset="-120"/>
              </a:rPr>
              <a:t>Drift past ±5% (default 500 bps) flags the position.</a:t>
            </a:r>
            <a:endParaRPr lang="en-US" sz="1100" dirty="0"/>
          </a:p>
        </p:txBody>
      </p:sp>
      <p:sp>
        <p:nvSpPr>
          <p:cNvPr id="9" name="sh"/>
          <p:cNvSpPr/>
          <p:nvPr/>
        </p:nvSpPr>
        <p:spPr>
          <a:xfrm>
            <a:off x="6492240" y="1783080"/>
            <a:ext cx="5150815" cy="2696762"/>
          </a:xfrm>
          <a:prstGeom prst="roundRect">
            <a:avLst>
              <a:gd name="adj" fmla="val 4069"/>
            </a:avLst>
          </a:prstGeom>
          <a:solidFill>
            <a:srgbClr val="FFFFFF"/>
          </a:solidFill>
          <a:ln/>
          <a:effectLst>
            <a:outerShdw sx="100000" sy="100000" kx="0" ky="0" algn="bl" rotWithShape="0" blurRad="177800" dist="50800" dir="5400000">
              <a:srgbClr val="0F1E3A">
                <a:alpha val="12000"/>
              </a:srgbClr>
            </a:outerShdw>
          </a:effectLst>
        </p:spPr>
      </p:sp>
      <p:pic>
        <p:nvPicPr>
          <p:cNvPr id="10" name="reb" descr="Review update screen: manager's reason, the diff, Apply or Skip">    </p:cNvPr>
          <p:cNvPicPr>
            <a:picLocks noChangeAspect="1"/>
          </p:cNvPicPr>
          <p:nvPr/>
        </p:nvPicPr>
        <p:blipFill>
          <a:blip r:embed="rId2"/>
          <a:stretch>
            <a:fillRect/>
          </a:stretch>
        </p:blipFill>
        <p:spPr>
          <a:xfrm>
            <a:off x="6492240" y="1783080"/>
            <a:ext cx="5150815" cy="2696762"/>
          </a:xfrm>
          <a:prstGeom prst="rect">
            <a:avLst/>
          </a:prstGeom>
        </p:spPr>
      </p:pic>
      <p:sp>
        <p:nvSpPr>
          <p:cNvPr id="11" name="rcap"/>
          <p:cNvSpPr txBox="1"/>
          <p:nvPr/>
        </p:nvSpPr>
        <p:spPr>
          <a:xfrm>
            <a:off x="6492240" y="4571282"/>
            <a:ext cx="5150815" cy="27432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Review update: the manager's reason, the diff, then Create plan or Skip.</a:t>
            </a:r>
            <a:endParaRPr lang="en-US" sz="1300" dirty="0"/>
          </a:p>
        </p:txBody>
      </p:sp>
      <p:sp>
        <p:nvSpPr>
          <p:cNvPr id="12" name="f0"/>
          <p:cNvSpPr/>
          <p:nvPr/>
        </p:nvSpPr>
        <p:spPr>
          <a:xfrm>
            <a:off x="6492240" y="4983480"/>
            <a:ext cx="1051560" cy="420624"/>
          </a:xfrm>
          <a:prstGeom prst="roundRect">
            <a:avLst>
              <a:gd name="adj" fmla="val 26087"/>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Sell</a:t>
            </a:r>
            <a:endParaRPr lang="en-US" sz="1400" dirty="0"/>
          </a:p>
        </p:txBody>
      </p:sp>
      <p:pic>
        <p:nvPicPr>
          <p:cNvPr id="13" name="fa0" descr="preencoded.png">    </p:cNvPr>
          <p:cNvPicPr>
            <a:picLocks noChangeAspect="1"/>
          </p:cNvPicPr>
          <p:nvPr/>
        </p:nvPicPr>
        <p:blipFill>
          <a:blip r:embed="rId3"/>
          <a:stretch>
            <a:fillRect/>
          </a:stretch>
        </p:blipFill>
        <p:spPr>
          <a:xfrm>
            <a:off x="7653528" y="5084064"/>
            <a:ext cx="219456" cy="219456"/>
          </a:xfrm>
          <a:prstGeom prst="rect">
            <a:avLst/>
          </a:prstGeom>
        </p:spPr>
      </p:pic>
      <p:sp>
        <p:nvSpPr>
          <p:cNvPr id="14" name="f1"/>
          <p:cNvSpPr/>
          <p:nvPr/>
        </p:nvSpPr>
        <p:spPr>
          <a:xfrm>
            <a:off x="7982712" y="4983480"/>
            <a:ext cx="1965960" cy="420624"/>
          </a:xfrm>
          <a:prstGeom prst="roundRect">
            <a:avLst>
              <a:gd name="adj" fmla="val 26087"/>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USDC on Solana</a:t>
            </a:r>
            <a:endParaRPr lang="en-US" sz="1400" dirty="0"/>
          </a:p>
        </p:txBody>
      </p:sp>
      <p:pic>
        <p:nvPicPr>
          <p:cNvPr id="15" name="fa1" descr="preencoded.png">    </p:cNvPr>
          <p:cNvPicPr>
            <a:picLocks noChangeAspect="1"/>
          </p:cNvPicPr>
          <p:nvPr/>
        </p:nvPicPr>
        <p:blipFill>
          <a:blip r:embed="rId4"/>
          <a:stretch>
            <a:fillRect/>
          </a:stretch>
        </p:blipFill>
        <p:spPr>
          <a:xfrm>
            <a:off x="10058400" y="5084064"/>
            <a:ext cx="219456" cy="219456"/>
          </a:xfrm>
          <a:prstGeom prst="rect">
            <a:avLst/>
          </a:prstGeom>
        </p:spPr>
      </p:pic>
      <p:sp>
        <p:nvSpPr>
          <p:cNvPr id="16" name="f2"/>
          <p:cNvSpPr/>
          <p:nvPr/>
        </p:nvSpPr>
        <p:spPr>
          <a:xfrm>
            <a:off x="10387584" y="4983480"/>
            <a:ext cx="1051560" cy="420624"/>
          </a:xfrm>
          <a:prstGeom prst="roundRect">
            <a:avLst>
              <a:gd name="adj" fmla="val 26087"/>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Buy</a:t>
            </a:r>
            <a:endParaRPr lang="en-US" sz="1400" dirty="0"/>
          </a:p>
        </p:txBody>
      </p:sp>
      <p:sp>
        <p:nvSpPr>
          <p:cNvPr id="17" name="rtext"/>
          <p:cNvSpPr txBox="1"/>
          <p:nvPr/>
        </p:nvSpPr>
        <p:spPr>
          <a:xfrm>
            <a:off x="6492240" y="5532120"/>
            <a:ext cx="5150815" cy="77724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Buys are sized to what the sells actually returned. Trades under 50 bps or $5 are skipped. Every step is tracked to settled, failed or unknown, and never blindly retried.</a:t>
            </a:r>
            <a:endParaRPr lang="en-US" sz="1300" dirty="0"/>
          </a:p>
        </p:txBody>
      </p:sp>
      <p:sp>
        <p:nvSpPr>
          <p:cNvPr id="18"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Chart data is illustrative. Screenshot: real Bytesac web app with demo data.</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6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nodeType="withEffect">
                                  <p:stCondLst>
                                    <p:cond delay="32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nodeType="withEffect">
                                  <p:stCondLst>
                                    <p:cond delay="48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600"/>
                                        <p:tgtEl>
                                          <p:spTgt spid="8"/>
                                        </p:tgtEl>
                                      </p:cBhvr>
                                    </p:animEffect>
                                  </p:childTnLst>
                                </p:cTn>
                              </p:par>
                              <p:par>
                                <p:cTn id="17" presetID="10" presetClass="entr" presetSubtype="0" fill="hold" nodeType="withEffect">
                                  <p:stCondLst>
                                    <p:cond delay="64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nodeType="withEffect">
                                  <p:stCondLst>
                                    <p:cond delay="8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96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par>
                                <p:cTn id="26" presetID="10" presetClass="entr" presetSubtype="0" fill="hold" nodeType="withEffect">
                                  <p:stCondLst>
                                    <p:cond delay="112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600"/>
                                        <p:tgtEl>
                                          <p:spTgt spid="13"/>
                                        </p:tgtEl>
                                      </p:cBhvr>
                                    </p:animEffect>
                                  </p:childTnLst>
                                </p:cTn>
                              </p:par>
                              <p:par>
                                <p:cTn id="29" presetID="10" presetClass="entr" presetSubtype="0" fill="hold" nodeType="withEffect">
                                  <p:stCondLst>
                                    <p:cond delay="128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00"/>
                                        <p:tgtEl>
                                          <p:spTgt spid="14"/>
                                        </p:tgtEl>
                                      </p:cBhvr>
                                    </p:animEffect>
                                  </p:childTnLst>
                                </p:cTn>
                              </p:par>
                              <p:par>
                                <p:cTn id="32" presetID="10" presetClass="entr" presetSubtype="0" fill="hold" nodeType="withEffect">
                                  <p:stCondLst>
                                    <p:cond delay="144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600"/>
                                        <p:tgtEl>
                                          <p:spTgt spid="15"/>
                                        </p:tgtEl>
                                      </p:cBhvr>
                                    </p:animEffect>
                                  </p:childTnLst>
                                </p:cTn>
                              </p:par>
                              <p:par>
                                <p:cTn id="35" presetID="10" presetClass="entr" presetSubtype="0" fill="hold" nodeType="withEffect">
                                  <p:stCondLst>
                                    <p:cond delay="16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600"/>
                                        <p:tgtEl>
                                          <p:spTgt spid="16"/>
                                        </p:tgtEl>
                                      </p:cBhvr>
                                    </p:animEffect>
                                  </p:childTnLst>
                                </p:cTn>
                              </p:par>
                              <p:par>
                                <p:cTn id="38" presetID="10" presetClass="entr" presetSubtype="0" fill="hold" nodeType="withEffect">
                                  <p:stCondLst>
                                    <p:cond delay="176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MULTI-CHAIN AND ASSET CLASSES</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One USDC entry. Seven chains. Many asset classes.</a:t>
            </a:r>
            <a:endParaRPr lang="en-US" sz="3600" dirty="0"/>
          </a:p>
        </p:txBody>
      </p:sp>
      <p:pic>
        <p:nvPicPr>
          <p:cNvPr id="4" name="!!nodes" descr="Glass network of connected nodes">    </p:cNvPr>
          <p:cNvPicPr>
            <a:picLocks noChangeAspect="1"/>
          </p:cNvPicPr>
          <p:nvPr/>
        </p:nvPicPr>
        <p:blipFill>
          <a:blip r:embed="rId1"/>
          <a:stretch>
            <a:fillRect/>
          </a:stretch>
        </p:blipFill>
        <p:spPr>
          <a:xfrm>
            <a:off x="1371600" y="1691640"/>
            <a:ext cx="3383280" cy="3081528"/>
          </a:xfrm>
          <a:prstGeom prst="rect">
            <a:avLst/>
          </a:prstGeom>
        </p:spPr>
      </p:pic>
      <p:pic>
        <p:nvPicPr>
          <p:cNvPr id="5" name="ch0" descr="Solana">    </p:cNvPr>
          <p:cNvPicPr>
            <a:picLocks noChangeAspect="1"/>
          </p:cNvPicPr>
          <p:nvPr/>
        </p:nvPicPr>
        <p:blipFill>
          <a:blip r:embed="rId2"/>
          <a:stretch>
            <a:fillRect/>
          </a:stretch>
        </p:blipFill>
        <p:spPr>
          <a:xfrm>
            <a:off x="670125" y="4956048"/>
            <a:ext cx="475488" cy="475488"/>
          </a:xfrm>
          <a:prstGeom prst="rect">
            <a:avLst/>
          </a:prstGeom>
        </p:spPr>
      </p:pic>
      <p:sp>
        <p:nvSpPr>
          <p:cNvPr id="6" name="chn0"/>
          <p:cNvSpPr txBox="1"/>
          <p:nvPr/>
        </p:nvSpPr>
        <p:spPr>
          <a:xfrm>
            <a:off x="548640"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Solana</a:t>
            </a:r>
            <a:endParaRPr lang="en-US" sz="1100" dirty="0"/>
          </a:p>
        </p:txBody>
      </p:sp>
      <p:pic>
        <p:nvPicPr>
          <p:cNvPr id="7" name="ch1" descr="Ethereum">    </p:cNvPr>
          <p:cNvPicPr>
            <a:picLocks noChangeAspect="1"/>
          </p:cNvPicPr>
          <p:nvPr/>
        </p:nvPicPr>
        <p:blipFill>
          <a:blip r:embed="rId3"/>
          <a:stretch>
            <a:fillRect/>
          </a:stretch>
        </p:blipFill>
        <p:spPr>
          <a:xfrm>
            <a:off x="1388582" y="4956048"/>
            <a:ext cx="475488" cy="475488"/>
          </a:xfrm>
          <a:prstGeom prst="rect">
            <a:avLst/>
          </a:prstGeom>
        </p:spPr>
      </p:pic>
      <p:sp>
        <p:nvSpPr>
          <p:cNvPr id="8" name="chn1"/>
          <p:cNvSpPr txBox="1"/>
          <p:nvPr/>
        </p:nvSpPr>
        <p:spPr>
          <a:xfrm>
            <a:off x="1267097"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Ethereum</a:t>
            </a:r>
            <a:endParaRPr lang="en-US" sz="1100" dirty="0"/>
          </a:p>
        </p:txBody>
      </p:sp>
      <p:pic>
        <p:nvPicPr>
          <p:cNvPr id="9" name="ch2" descr="Base">    </p:cNvPr>
          <p:cNvPicPr>
            <a:picLocks noChangeAspect="1"/>
          </p:cNvPicPr>
          <p:nvPr/>
        </p:nvPicPr>
        <p:blipFill>
          <a:blip r:embed="rId4"/>
          <a:stretch>
            <a:fillRect/>
          </a:stretch>
        </p:blipFill>
        <p:spPr>
          <a:xfrm>
            <a:off x="2107039" y="4956048"/>
            <a:ext cx="475488" cy="475488"/>
          </a:xfrm>
          <a:prstGeom prst="rect">
            <a:avLst/>
          </a:prstGeom>
        </p:spPr>
      </p:pic>
      <p:sp>
        <p:nvSpPr>
          <p:cNvPr id="10" name="chn2"/>
          <p:cNvSpPr txBox="1"/>
          <p:nvPr/>
        </p:nvSpPr>
        <p:spPr>
          <a:xfrm>
            <a:off x="1985554"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Base</a:t>
            </a:r>
            <a:endParaRPr lang="en-US" sz="1100" dirty="0"/>
          </a:p>
        </p:txBody>
      </p:sp>
      <p:pic>
        <p:nvPicPr>
          <p:cNvPr id="11" name="ch3" descr="BNB">    </p:cNvPr>
          <p:cNvPicPr>
            <a:picLocks noChangeAspect="1"/>
          </p:cNvPicPr>
          <p:nvPr/>
        </p:nvPicPr>
        <p:blipFill>
          <a:blip r:embed="rId5"/>
          <a:stretch>
            <a:fillRect/>
          </a:stretch>
        </p:blipFill>
        <p:spPr>
          <a:xfrm>
            <a:off x="2825496" y="4956048"/>
            <a:ext cx="475488" cy="475488"/>
          </a:xfrm>
          <a:prstGeom prst="rect">
            <a:avLst/>
          </a:prstGeom>
        </p:spPr>
      </p:pic>
      <p:sp>
        <p:nvSpPr>
          <p:cNvPr id="12" name="chn3"/>
          <p:cNvSpPr txBox="1"/>
          <p:nvPr/>
        </p:nvSpPr>
        <p:spPr>
          <a:xfrm>
            <a:off x="2704011"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BNB</a:t>
            </a:r>
            <a:endParaRPr lang="en-US" sz="1100" dirty="0"/>
          </a:p>
        </p:txBody>
      </p:sp>
      <p:pic>
        <p:nvPicPr>
          <p:cNvPr id="13" name="ch4" descr="Arbitrum">    </p:cNvPr>
          <p:cNvPicPr>
            <a:picLocks noChangeAspect="1"/>
          </p:cNvPicPr>
          <p:nvPr/>
        </p:nvPicPr>
        <p:blipFill>
          <a:blip r:embed="rId6"/>
          <a:stretch>
            <a:fillRect/>
          </a:stretch>
        </p:blipFill>
        <p:spPr>
          <a:xfrm>
            <a:off x="3543953" y="4956048"/>
            <a:ext cx="475488" cy="475488"/>
          </a:xfrm>
          <a:prstGeom prst="rect">
            <a:avLst/>
          </a:prstGeom>
        </p:spPr>
      </p:pic>
      <p:sp>
        <p:nvSpPr>
          <p:cNvPr id="14" name="chn4"/>
          <p:cNvSpPr txBox="1"/>
          <p:nvPr/>
        </p:nvSpPr>
        <p:spPr>
          <a:xfrm>
            <a:off x="3422469"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Arbitrum</a:t>
            </a:r>
            <a:endParaRPr lang="en-US" sz="1100" dirty="0"/>
          </a:p>
        </p:txBody>
      </p:sp>
      <p:pic>
        <p:nvPicPr>
          <p:cNvPr id="15" name="ch5" descr="Polygon">    </p:cNvPr>
          <p:cNvPicPr>
            <a:picLocks noChangeAspect="1"/>
          </p:cNvPicPr>
          <p:nvPr/>
        </p:nvPicPr>
        <p:blipFill>
          <a:blip r:embed="rId7"/>
          <a:stretch>
            <a:fillRect/>
          </a:stretch>
        </p:blipFill>
        <p:spPr>
          <a:xfrm>
            <a:off x="4262410" y="4956048"/>
            <a:ext cx="475488" cy="475488"/>
          </a:xfrm>
          <a:prstGeom prst="rect">
            <a:avLst/>
          </a:prstGeom>
        </p:spPr>
      </p:pic>
      <p:sp>
        <p:nvSpPr>
          <p:cNvPr id="16" name="chn5"/>
          <p:cNvSpPr txBox="1"/>
          <p:nvPr/>
        </p:nvSpPr>
        <p:spPr>
          <a:xfrm>
            <a:off x="4140926"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Polygon</a:t>
            </a:r>
            <a:endParaRPr lang="en-US" sz="1100" dirty="0"/>
          </a:p>
        </p:txBody>
      </p:sp>
      <p:pic>
        <p:nvPicPr>
          <p:cNvPr id="17" name="ch6" descr="Bitcoin">    </p:cNvPr>
          <p:cNvPicPr>
            <a:picLocks noChangeAspect="1"/>
          </p:cNvPicPr>
          <p:nvPr/>
        </p:nvPicPr>
        <p:blipFill>
          <a:blip r:embed="rId8"/>
          <a:stretch>
            <a:fillRect/>
          </a:stretch>
        </p:blipFill>
        <p:spPr>
          <a:xfrm>
            <a:off x="4980867" y="4956048"/>
            <a:ext cx="475488" cy="475488"/>
          </a:xfrm>
          <a:prstGeom prst="rect">
            <a:avLst/>
          </a:prstGeom>
        </p:spPr>
      </p:pic>
      <p:sp>
        <p:nvSpPr>
          <p:cNvPr id="18" name="chn6"/>
          <p:cNvSpPr txBox="1"/>
          <p:nvPr/>
        </p:nvSpPr>
        <p:spPr>
          <a:xfrm>
            <a:off x="4859383" y="5486400"/>
            <a:ext cx="718457" cy="274320"/>
          </a:xfrm>
          <a:prstGeom prst="rect">
            <a:avLst/>
          </a:prstGeom>
          <a:noFill/>
          <a:ln/>
        </p:spPr>
        <p:txBody>
          <a:bodyPr wrap="square" lIns="0" tIns="0" rIns="0" bIns="0" rtlCol="0" anchor="t"/>
          <a:lstStyle/>
          <a:p>
            <a:pPr algn="ctr" indent="0" marL="0">
              <a:buNone/>
            </a:pPr>
            <a:r>
              <a:rPr lang="en-US" sz="1100" dirty="0">
                <a:solidFill>
                  <a:srgbClr val="56627A"/>
                </a:solidFill>
                <a:latin typeface="Calibri" pitchFamily="34" charset="0"/>
                <a:ea typeface="Calibri" pitchFamily="34" charset="-122"/>
                <a:cs typeface="Calibri" pitchFamily="34" charset="-120"/>
              </a:rPr>
              <a:t>Bitcoin</a:t>
            </a:r>
            <a:endParaRPr lang="en-US" sz="1100" dirty="0"/>
          </a:p>
        </p:txBody>
      </p:sp>
      <p:sp>
        <p:nvSpPr>
          <p:cNvPr id="19" name="hub"/>
          <p:cNvSpPr txBox="1"/>
          <p:nvPr/>
        </p:nvSpPr>
        <p:spPr>
          <a:xfrm>
            <a:off x="548640" y="5833872"/>
            <a:ext cx="5120640" cy="45720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Solana is the hub: you fund in USDC there, assets arrive on their own chain.</a:t>
            </a:r>
            <a:endParaRPr lang="en-US" sz="1200" dirty="0"/>
          </a:p>
        </p:txBody>
      </p:sp>
      <p:sp>
        <p:nvSpPr>
          <p:cNvPr id="20" name="livel"/>
          <p:cNvSpPr txBox="1"/>
          <p:nvPr/>
        </p:nvSpPr>
        <p:spPr>
          <a:xfrm>
            <a:off x="6035040" y="1783080"/>
            <a:ext cx="3657600" cy="256032"/>
          </a:xfrm>
          <a:prstGeom prst="rect">
            <a:avLst/>
          </a:prstGeom>
          <a:noFill/>
          <a:ln/>
        </p:spPr>
        <p:txBody>
          <a:bodyPr wrap="square" lIns="0" tIns="0" rIns="0" bIns="0" rtlCol="0" anchor="t"/>
          <a:lstStyle/>
          <a:p>
            <a:pPr algn="l" indent="0" marL="0">
              <a:buNone/>
            </a:pPr>
            <a:r>
              <a:rPr lang="en-US" sz="1100" b="1" spc="200" kern="0" dirty="0">
                <a:solidFill>
                  <a:srgbClr val="1F7A4D"/>
                </a:solidFill>
                <a:latin typeface="Calibri" pitchFamily="34" charset="0"/>
                <a:ea typeface="Calibri" pitchFamily="34" charset="-122"/>
                <a:cs typeface="Calibri" pitchFamily="34" charset="-120"/>
              </a:rPr>
              <a:t>LIVE IN RELEASE 1</a:t>
            </a:r>
            <a:endParaRPr lang="en-US" sz="1100" dirty="0"/>
          </a:p>
        </p:txBody>
      </p:sp>
      <p:sp>
        <p:nvSpPr>
          <p:cNvPr id="21" name="lv0"/>
          <p:cNvSpPr/>
          <p:nvPr/>
        </p:nvSpPr>
        <p:spPr>
          <a:xfrm>
            <a:off x="6035040" y="2121408"/>
            <a:ext cx="2735428" cy="786384"/>
          </a:xfrm>
          <a:prstGeom prst="roundRect">
            <a:avLst>
              <a:gd name="adj" fmla="val 16279"/>
            </a:avLst>
          </a:prstGeom>
          <a:solidFill>
            <a:srgbClr val="FFFFFF"/>
          </a:solidFill>
          <a:ln w="9525">
            <a:solidFill>
              <a:srgbClr val="E2E7EF"/>
            </a:solidFill>
            <a:prstDash val="solid"/>
          </a:ln>
        </p:spPr>
      </p:sp>
      <p:pic>
        <p:nvPicPr>
          <p:cNvPr id="22" name="lvi0" descr="Crypto">    </p:cNvPr>
          <p:cNvPicPr>
            <a:picLocks noChangeAspect="1"/>
          </p:cNvPicPr>
          <p:nvPr/>
        </p:nvPicPr>
        <p:blipFill>
          <a:blip r:embed="rId9"/>
          <a:stretch>
            <a:fillRect/>
          </a:stretch>
        </p:blipFill>
        <p:spPr>
          <a:xfrm>
            <a:off x="6217920" y="2313432"/>
            <a:ext cx="402336" cy="402336"/>
          </a:xfrm>
          <a:prstGeom prst="rect">
            <a:avLst/>
          </a:prstGeom>
        </p:spPr>
      </p:pic>
      <p:sp>
        <p:nvSpPr>
          <p:cNvPr id="23" name="lvt0"/>
          <p:cNvSpPr txBox="1"/>
          <p:nvPr/>
        </p:nvSpPr>
        <p:spPr>
          <a:xfrm>
            <a:off x="6766560" y="2231136"/>
            <a:ext cx="1866748" cy="310896"/>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Crypto</a:t>
            </a:r>
            <a:endParaRPr lang="en-US" sz="1500" dirty="0"/>
          </a:p>
        </p:txBody>
      </p:sp>
      <p:sp>
        <p:nvSpPr>
          <p:cNvPr id="24" name="lvd0"/>
          <p:cNvSpPr txBox="1"/>
          <p:nvPr/>
        </p:nvSpPr>
        <p:spPr>
          <a:xfrm>
            <a:off x="6766560" y="2542032"/>
            <a:ext cx="1866748" cy="27432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BTC, ETH, SOL, L2s, DeFi</a:t>
            </a:r>
            <a:endParaRPr lang="en-US" sz="1200" dirty="0"/>
          </a:p>
        </p:txBody>
      </p:sp>
      <p:sp>
        <p:nvSpPr>
          <p:cNvPr id="25" name="lv1"/>
          <p:cNvSpPr/>
          <p:nvPr/>
        </p:nvSpPr>
        <p:spPr>
          <a:xfrm>
            <a:off x="8907628" y="2121408"/>
            <a:ext cx="2735428" cy="786384"/>
          </a:xfrm>
          <a:prstGeom prst="roundRect">
            <a:avLst>
              <a:gd name="adj" fmla="val 16279"/>
            </a:avLst>
          </a:prstGeom>
          <a:solidFill>
            <a:srgbClr val="FFFFFF"/>
          </a:solidFill>
          <a:ln w="9525">
            <a:solidFill>
              <a:srgbClr val="E2E7EF"/>
            </a:solidFill>
            <a:prstDash val="solid"/>
          </a:ln>
        </p:spPr>
      </p:sp>
      <p:pic>
        <p:nvPicPr>
          <p:cNvPr id="26" name="lvi1" descr="Stablecoins">    </p:cNvPr>
          <p:cNvPicPr>
            <a:picLocks noChangeAspect="1"/>
          </p:cNvPicPr>
          <p:nvPr/>
        </p:nvPicPr>
        <p:blipFill>
          <a:blip r:embed="rId10"/>
          <a:stretch>
            <a:fillRect/>
          </a:stretch>
        </p:blipFill>
        <p:spPr>
          <a:xfrm>
            <a:off x="9090508" y="2313432"/>
            <a:ext cx="402336" cy="402336"/>
          </a:xfrm>
          <a:prstGeom prst="rect">
            <a:avLst/>
          </a:prstGeom>
        </p:spPr>
      </p:pic>
      <p:sp>
        <p:nvSpPr>
          <p:cNvPr id="27" name="lvt1"/>
          <p:cNvSpPr txBox="1"/>
          <p:nvPr/>
        </p:nvSpPr>
        <p:spPr>
          <a:xfrm>
            <a:off x="9639148" y="2231136"/>
            <a:ext cx="1866748" cy="310896"/>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Stablecoins</a:t>
            </a:r>
            <a:endParaRPr lang="en-US" sz="1500" dirty="0"/>
          </a:p>
        </p:txBody>
      </p:sp>
      <p:sp>
        <p:nvSpPr>
          <p:cNvPr id="28" name="lvd1"/>
          <p:cNvSpPr txBox="1"/>
          <p:nvPr/>
        </p:nvSpPr>
        <p:spPr>
          <a:xfrm>
            <a:off x="9639148" y="2542032"/>
            <a:ext cx="1866748" cy="27432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USDC is the settlement asset</a:t>
            </a:r>
            <a:endParaRPr lang="en-US" sz="1200" dirty="0"/>
          </a:p>
        </p:txBody>
      </p:sp>
      <p:sp>
        <p:nvSpPr>
          <p:cNvPr id="29" name="lv2"/>
          <p:cNvSpPr/>
          <p:nvPr/>
        </p:nvSpPr>
        <p:spPr>
          <a:xfrm>
            <a:off x="6035040" y="3035808"/>
            <a:ext cx="2735428" cy="786384"/>
          </a:xfrm>
          <a:prstGeom prst="roundRect">
            <a:avLst>
              <a:gd name="adj" fmla="val 16279"/>
            </a:avLst>
          </a:prstGeom>
          <a:solidFill>
            <a:srgbClr val="FFFFFF"/>
          </a:solidFill>
          <a:ln w="9525">
            <a:solidFill>
              <a:srgbClr val="E2E7EF"/>
            </a:solidFill>
            <a:prstDash val="solid"/>
          </a:ln>
        </p:spPr>
      </p:sp>
      <p:pic>
        <p:nvPicPr>
          <p:cNvPr id="30" name="lvi2" descr="Tokenized equities">    </p:cNvPr>
          <p:cNvPicPr>
            <a:picLocks noChangeAspect="1"/>
          </p:cNvPicPr>
          <p:nvPr/>
        </p:nvPicPr>
        <p:blipFill>
          <a:blip r:embed="rId11"/>
          <a:stretch>
            <a:fillRect/>
          </a:stretch>
        </p:blipFill>
        <p:spPr>
          <a:xfrm>
            <a:off x="6217920" y="3227832"/>
            <a:ext cx="402336" cy="402336"/>
          </a:xfrm>
          <a:prstGeom prst="rect">
            <a:avLst/>
          </a:prstGeom>
        </p:spPr>
      </p:pic>
      <p:sp>
        <p:nvSpPr>
          <p:cNvPr id="31" name="lvt2"/>
          <p:cNvSpPr txBox="1"/>
          <p:nvPr/>
        </p:nvSpPr>
        <p:spPr>
          <a:xfrm>
            <a:off x="6766560" y="3145536"/>
            <a:ext cx="1866748" cy="310896"/>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Tokenized equities</a:t>
            </a:r>
            <a:endParaRPr lang="en-US" sz="1500" dirty="0"/>
          </a:p>
        </p:txBody>
      </p:sp>
      <p:sp>
        <p:nvSpPr>
          <p:cNvPr id="32" name="lvd2"/>
          <p:cNvSpPr txBox="1"/>
          <p:nvPr/>
        </p:nvSpPr>
        <p:spPr>
          <a:xfrm>
            <a:off x="6766560" y="3456432"/>
            <a:ext cx="1866748" cy="27432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Stocks and ETFs, e.g. xStocks</a:t>
            </a:r>
            <a:endParaRPr lang="en-US" sz="1200" dirty="0"/>
          </a:p>
        </p:txBody>
      </p:sp>
      <p:sp>
        <p:nvSpPr>
          <p:cNvPr id="33" name="lv3"/>
          <p:cNvSpPr/>
          <p:nvPr/>
        </p:nvSpPr>
        <p:spPr>
          <a:xfrm>
            <a:off x="8907628" y="3035808"/>
            <a:ext cx="2735428" cy="786384"/>
          </a:xfrm>
          <a:prstGeom prst="roundRect">
            <a:avLst>
              <a:gd name="adj" fmla="val 16279"/>
            </a:avLst>
          </a:prstGeom>
          <a:solidFill>
            <a:srgbClr val="FFFFFF"/>
          </a:solidFill>
          <a:ln w="9525">
            <a:solidFill>
              <a:srgbClr val="E2E7EF"/>
            </a:solidFill>
            <a:prstDash val="solid"/>
          </a:ln>
        </p:spPr>
      </p:sp>
      <p:pic>
        <p:nvPicPr>
          <p:cNvPr id="34" name="lvi3" descr="Tokenized gold">    </p:cNvPr>
          <p:cNvPicPr>
            <a:picLocks noChangeAspect="1"/>
          </p:cNvPicPr>
          <p:nvPr/>
        </p:nvPicPr>
        <p:blipFill>
          <a:blip r:embed="rId12"/>
          <a:stretch>
            <a:fillRect/>
          </a:stretch>
        </p:blipFill>
        <p:spPr>
          <a:xfrm>
            <a:off x="9090508" y="3227832"/>
            <a:ext cx="402336" cy="402336"/>
          </a:xfrm>
          <a:prstGeom prst="rect">
            <a:avLst/>
          </a:prstGeom>
        </p:spPr>
      </p:pic>
      <p:sp>
        <p:nvSpPr>
          <p:cNvPr id="35" name="lvt3"/>
          <p:cNvSpPr txBox="1"/>
          <p:nvPr/>
        </p:nvSpPr>
        <p:spPr>
          <a:xfrm>
            <a:off x="9639148" y="3145536"/>
            <a:ext cx="1866748" cy="310896"/>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Tokenized gold</a:t>
            </a:r>
            <a:endParaRPr lang="en-US" sz="1500" dirty="0"/>
          </a:p>
        </p:txBody>
      </p:sp>
      <p:sp>
        <p:nvSpPr>
          <p:cNvPr id="36" name="lvd3"/>
          <p:cNvSpPr txBox="1"/>
          <p:nvPr/>
        </p:nvSpPr>
        <p:spPr>
          <a:xfrm>
            <a:off x="9639148" y="3456432"/>
            <a:ext cx="1866748" cy="27432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e.g. PAXG</a:t>
            </a:r>
            <a:endParaRPr lang="en-US" sz="1200" dirty="0"/>
          </a:p>
        </p:txBody>
      </p:sp>
      <p:sp>
        <p:nvSpPr>
          <p:cNvPr id="37" name="nextl"/>
          <p:cNvSpPr txBox="1"/>
          <p:nvPr/>
        </p:nvSpPr>
        <p:spPr>
          <a:xfrm>
            <a:off x="6035040" y="4041648"/>
            <a:ext cx="3657600" cy="256032"/>
          </a:xfrm>
          <a:prstGeom prst="rect">
            <a:avLst/>
          </a:prstGeom>
          <a:noFill/>
          <a:ln/>
        </p:spPr>
        <p:txBody>
          <a:bodyPr wrap="square" lIns="0" tIns="0" rIns="0" bIns="0" rtlCol="0" anchor="t"/>
          <a:lstStyle/>
          <a:p>
            <a:pPr algn="l" indent="0" marL="0">
              <a:buNone/>
            </a:pPr>
            <a:r>
              <a:rPr lang="en-US" sz="1100" b="1" spc="200" kern="0" dirty="0">
                <a:solidFill>
                  <a:srgbClr val="68728A"/>
                </a:solidFill>
                <a:latin typeface="Calibri" pitchFamily="34" charset="0"/>
                <a:ea typeface="Calibri" pitchFamily="34" charset="-122"/>
                <a:cs typeface="Calibri" pitchFamily="34" charset="-120"/>
              </a:rPr>
              <a:t>NEXT</a:t>
            </a:r>
            <a:endParaRPr lang="en-US" sz="1100" dirty="0"/>
          </a:p>
        </p:txBody>
      </p:sp>
      <p:sp>
        <p:nvSpPr>
          <p:cNvPr id="38" name="nx0"/>
          <p:cNvSpPr/>
          <p:nvPr/>
        </p:nvSpPr>
        <p:spPr>
          <a:xfrm>
            <a:off x="6035040" y="4379976"/>
            <a:ext cx="2735428" cy="786384"/>
          </a:xfrm>
          <a:prstGeom prst="roundRect">
            <a:avLst>
              <a:gd name="adj" fmla="val 16279"/>
            </a:avLst>
          </a:prstGeom>
          <a:ln w="9525">
            <a:solidFill>
              <a:srgbClr val="CBD3DF"/>
            </a:solidFill>
            <a:prstDash val="dash"/>
          </a:ln>
        </p:spPr>
      </p:sp>
      <p:sp>
        <p:nvSpPr>
          <p:cNvPr id="39" name="nxt0"/>
          <p:cNvSpPr txBox="1"/>
          <p:nvPr/>
        </p:nvSpPr>
        <p:spPr>
          <a:xfrm>
            <a:off x="6263640" y="4489704"/>
            <a:ext cx="2369668" cy="310896"/>
          </a:xfrm>
          <a:prstGeom prst="rect">
            <a:avLst/>
          </a:prstGeom>
          <a:noFill/>
          <a:ln/>
        </p:spPr>
        <p:txBody>
          <a:bodyPr wrap="square" lIns="0" tIns="0" rIns="0" bIns="0" rtlCol="0" anchor="t"/>
          <a:lstStyle/>
          <a:p>
            <a:pPr algn="l" indent="0" marL="0">
              <a:buNone/>
            </a:pPr>
            <a:r>
              <a:rPr lang="en-US" sz="1500" b="1" dirty="0">
                <a:solidFill>
                  <a:srgbClr val="56627A"/>
                </a:solidFill>
                <a:latin typeface="Calibri" pitchFamily="34" charset="0"/>
                <a:ea typeface="Calibri" pitchFamily="34" charset="-122"/>
                <a:cs typeface="Calibri" pitchFamily="34" charset="-120"/>
              </a:rPr>
              <a:t>Treasury funds</a:t>
            </a:r>
            <a:endParaRPr lang="en-US" sz="1500" dirty="0"/>
          </a:p>
        </p:txBody>
      </p:sp>
      <p:sp>
        <p:nvSpPr>
          <p:cNvPr id="40" name="nxd0"/>
          <p:cNvSpPr txBox="1"/>
          <p:nvPr/>
        </p:nvSpPr>
        <p:spPr>
          <a:xfrm>
            <a:off x="6263640" y="4800600"/>
            <a:ext cx="2369668" cy="27432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Permissioned, after KYC</a:t>
            </a:r>
            <a:endParaRPr lang="en-US" sz="1200" dirty="0"/>
          </a:p>
        </p:txBody>
      </p:sp>
      <p:sp>
        <p:nvSpPr>
          <p:cNvPr id="41" name="nx1"/>
          <p:cNvSpPr/>
          <p:nvPr/>
        </p:nvSpPr>
        <p:spPr>
          <a:xfrm>
            <a:off x="8907628" y="4379976"/>
            <a:ext cx="2735428" cy="786384"/>
          </a:xfrm>
          <a:prstGeom prst="roundRect">
            <a:avLst>
              <a:gd name="adj" fmla="val 16279"/>
            </a:avLst>
          </a:prstGeom>
          <a:ln w="9525">
            <a:solidFill>
              <a:srgbClr val="CBD3DF"/>
            </a:solidFill>
            <a:prstDash val="dash"/>
          </a:ln>
        </p:spPr>
      </p:sp>
      <p:sp>
        <p:nvSpPr>
          <p:cNvPr id="42" name="nxt1"/>
          <p:cNvSpPr txBox="1"/>
          <p:nvPr/>
        </p:nvSpPr>
        <p:spPr>
          <a:xfrm>
            <a:off x="9136228" y="4489704"/>
            <a:ext cx="2369668" cy="310896"/>
          </a:xfrm>
          <a:prstGeom prst="rect">
            <a:avLst/>
          </a:prstGeom>
          <a:noFill/>
          <a:ln/>
        </p:spPr>
        <p:txBody>
          <a:bodyPr wrap="square" lIns="0" tIns="0" rIns="0" bIns="0" rtlCol="0" anchor="t"/>
          <a:lstStyle/>
          <a:p>
            <a:pPr algn="l" indent="0" marL="0">
              <a:buNone/>
            </a:pPr>
            <a:r>
              <a:rPr lang="en-US" sz="1500" b="1" dirty="0">
                <a:solidFill>
                  <a:srgbClr val="56627A"/>
                </a:solidFill>
                <a:latin typeface="Calibri" pitchFamily="34" charset="0"/>
                <a:ea typeface="Calibri" pitchFamily="34" charset="-122"/>
                <a:cs typeface="Calibri" pitchFamily="34" charset="-120"/>
              </a:rPr>
              <a:t>US &amp; global stocks, ETFs</a:t>
            </a:r>
            <a:endParaRPr lang="en-US" sz="1500" dirty="0"/>
          </a:p>
        </p:txBody>
      </p:sp>
      <p:sp>
        <p:nvSpPr>
          <p:cNvPr id="43" name="nxd1"/>
          <p:cNvSpPr txBox="1"/>
          <p:nvPr/>
        </p:nvSpPr>
        <p:spPr>
          <a:xfrm>
            <a:off x="9136228" y="4800600"/>
            <a:ext cx="2369668" cy="27432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Broker-held; needs a custody decision</a:t>
            </a:r>
            <a:endParaRPr lang="en-US" sz="1200" dirty="0"/>
          </a:p>
        </p:txBody>
      </p:sp>
      <p:sp>
        <p:nvSpPr>
          <p:cNvPr id="44" name="nx2"/>
          <p:cNvSpPr/>
          <p:nvPr/>
        </p:nvSpPr>
        <p:spPr>
          <a:xfrm>
            <a:off x="6035040" y="5294376"/>
            <a:ext cx="2735428" cy="786384"/>
          </a:xfrm>
          <a:prstGeom prst="roundRect">
            <a:avLst>
              <a:gd name="adj" fmla="val 16279"/>
            </a:avLst>
          </a:prstGeom>
          <a:ln w="9525">
            <a:solidFill>
              <a:srgbClr val="CBD3DF"/>
            </a:solidFill>
            <a:prstDash val="dash"/>
          </a:ln>
        </p:spPr>
      </p:sp>
      <p:sp>
        <p:nvSpPr>
          <p:cNvPr id="45" name="nxt2"/>
          <p:cNvSpPr txBox="1"/>
          <p:nvPr/>
        </p:nvSpPr>
        <p:spPr>
          <a:xfrm>
            <a:off x="6263640" y="5404104"/>
            <a:ext cx="2369668" cy="310896"/>
          </a:xfrm>
          <a:prstGeom prst="rect">
            <a:avLst/>
          </a:prstGeom>
          <a:noFill/>
          <a:ln/>
        </p:spPr>
        <p:txBody>
          <a:bodyPr wrap="square" lIns="0" tIns="0" rIns="0" bIns="0" rtlCol="0" anchor="t"/>
          <a:lstStyle/>
          <a:p>
            <a:pPr algn="l" indent="0" marL="0">
              <a:buNone/>
            </a:pPr>
            <a:r>
              <a:rPr lang="en-US" sz="1500" b="1" dirty="0">
                <a:solidFill>
                  <a:srgbClr val="56627A"/>
                </a:solidFill>
                <a:latin typeface="Calibri" pitchFamily="34" charset="0"/>
                <a:ea typeface="Calibri" pitchFamily="34" charset="-122"/>
                <a:cs typeface="Calibri" pitchFamily="34" charset="-120"/>
              </a:rPr>
              <a:t>Commodities, indices, FX</a:t>
            </a:r>
            <a:endParaRPr lang="en-US" sz="1500" dirty="0"/>
          </a:p>
        </p:txBody>
      </p:sp>
      <p:sp>
        <p:nvSpPr>
          <p:cNvPr id="46" name="nxd2"/>
          <p:cNvSpPr txBox="1"/>
          <p:nvPr/>
        </p:nvSpPr>
        <p:spPr>
          <a:xfrm>
            <a:off x="6263640" y="5715000"/>
            <a:ext cx="2369668" cy="27432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Tokenized and conventional</a:t>
            </a:r>
            <a:endParaRPr lang="en-US" sz="1200" dirty="0"/>
          </a:p>
        </p:txBody>
      </p:sp>
      <p:sp>
        <p:nvSpPr>
          <p:cNvPr id="47" name="nx3"/>
          <p:cNvSpPr/>
          <p:nvPr/>
        </p:nvSpPr>
        <p:spPr>
          <a:xfrm>
            <a:off x="8907628" y="5294376"/>
            <a:ext cx="2735428" cy="786384"/>
          </a:xfrm>
          <a:prstGeom prst="roundRect">
            <a:avLst>
              <a:gd name="adj" fmla="val 16279"/>
            </a:avLst>
          </a:prstGeom>
          <a:ln w="9525">
            <a:solidFill>
              <a:srgbClr val="CBD3DF"/>
            </a:solidFill>
            <a:prstDash val="dash"/>
          </a:ln>
        </p:spPr>
      </p:sp>
      <p:sp>
        <p:nvSpPr>
          <p:cNvPr id="48" name="nxt3"/>
          <p:cNvSpPr txBox="1"/>
          <p:nvPr/>
        </p:nvSpPr>
        <p:spPr>
          <a:xfrm>
            <a:off x="9136228" y="5404104"/>
            <a:ext cx="2369668" cy="310896"/>
          </a:xfrm>
          <a:prstGeom prst="rect">
            <a:avLst/>
          </a:prstGeom>
          <a:noFill/>
          <a:ln/>
        </p:spPr>
        <p:txBody>
          <a:bodyPr wrap="square" lIns="0" tIns="0" rIns="0" bIns="0" rtlCol="0" anchor="t"/>
          <a:lstStyle/>
          <a:p>
            <a:pPr algn="l" indent="0" marL="0">
              <a:buNone/>
            </a:pPr>
            <a:r>
              <a:rPr lang="en-US" sz="1500" b="1" dirty="0">
                <a:solidFill>
                  <a:srgbClr val="56627A"/>
                </a:solidFill>
                <a:latin typeface="Calibri" pitchFamily="34" charset="0"/>
                <a:ea typeface="Calibri" pitchFamily="34" charset="-122"/>
                <a:cs typeface="Calibri" pitchFamily="34" charset="-120"/>
              </a:rPr>
              <a:t>Deposits &amp; pre-IPO</a:t>
            </a:r>
            <a:endParaRPr lang="en-US" sz="1500" dirty="0"/>
          </a:p>
        </p:txBody>
      </p:sp>
      <p:sp>
        <p:nvSpPr>
          <p:cNvPr id="49" name="nxd3"/>
          <p:cNvSpPr txBox="1"/>
          <p:nvPr/>
        </p:nvSpPr>
        <p:spPr>
          <a:xfrm>
            <a:off x="9136228" y="5715000"/>
            <a:ext cx="2369668" cy="274320"/>
          </a:xfrm>
          <a:prstGeom prst="rect">
            <a:avLst/>
          </a:prstGeom>
          <a:noFill/>
          <a:ln/>
        </p:spPr>
        <p:txBody>
          <a:bodyPr wrap="square" lIns="0" tIns="0" rIns="0" bIns="0" rtlCol="0" anchor="t"/>
          <a:lstStyle/>
          <a:p>
            <a:pPr algn="l" indent="0" marL="0">
              <a:buNone/>
            </a:pPr>
            <a:r>
              <a:rPr lang="en-US" sz="1200" dirty="0">
                <a:solidFill>
                  <a:srgbClr val="68728A"/>
                </a:solidFill>
                <a:latin typeface="Calibri" pitchFamily="34" charset="0"/>
                <a:ea typeface="Calibri" pitchFamily="34" charset="-122"/>
                <a:cs typeface="Calibri" pitchFamily="34" charset="-120"/>
              </a:rPr>
              <a:t>Fixed and recurring deposits, pre-IPO</a:t>
            </a:r>
            <a:endParaRPr lang="en-US" sz="1200" dirty="0"/>
          </a:p>
        </p:txBody>
      </p:sp>
      <p:sp>
        <p:nvSpPr>
          <p:cNvPr id="50"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Tokenized assets are checked per user (country and investor status); permissioned tokens are not offered in release 1. "Next" items are roadmap, not shipped.</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nodeType="withEffect">
                                  <p:stCondLst>
                                    <p:cond delay="30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10" presetClass="entr" presetSubtype="0" fill="hold" nodeType="withEffect">
                                  <p:stCondLst>
                                    <p:cond delay="32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600"/>
                                        <p:tgtEl>
                                          <p:spTgt spid="24"/>
                                        </p:tgtEl>
                                      </p:cBhvr>
                                    </p:animEffect>
                                  </p:childTnLst>
                                </p:cTn>
                              </p:par>
                              <p:par>
                                <p:cTn id="68" presetID="10" presetClass="entr" presetSubtype="0" fill="hold" nodeType="withEffect">
                                  <p:stCondLst>
                                    <p:cond delay="336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600"/>
                                        <p:tgtEl>
                                          <p:spTgt spid="25"/>
                                        </p:tgtEl>
                                      </p:cBhvr>
                                    </p:animEffect>
                                  </p:childTnLst>
                                </p:cTn>
                              </p:par>
                              <p:par>
                                <p:cTn id="71" presetID="10" presetClass="entr" presetSubtype="0" fill="hold" nodeType="withEffect">
                                  <p:stCondLst>
                                    <p:cond delay="35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10" presetClass="entr" presetSubtype="0" fill="hold" nodeType="withEffect">
                                  <p:stCondLst>
                                    <p:cond delay="36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par>
                                <p:cTn id="77" presetID="10" presetClass="entr" presetSubtype="0" fill="hold" nodeType="withEffect">
                                  <p:stCondLst>
                                    <p:cond delay="384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600"/>
                                        <p:tgtEl>
                                          <p:spTgt spid="28"/>
                                        </p:tgtEl>
                                      </p:cBhvr>
                                    </p:animEffect>
                                  </p:childTnLst>
                                </p:cTn>
                              </p:par>
                              <p:par>
                                <p:cTn id="80" presetID="10" presetClass="entr" presetSubtype="0" fill="hold" nodeType="withEffect">
                                  <p:stCondLst>
                                    <p:cond delay="4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600"/>
                                        <p:tgtEl>
                                          <p:spTgt spid="29"/>
                                        </p:tgtEl>
                                      </p:cBhvr>
                                    </p:animEffect>
                                  </p:childTnLst>
                                </p:cTn>
                              </p:par>
                              <p:par>
                                <p:cTn id="83" presetID="10" presetClass="entr" presetSubtype="0" fill="hold" nodeType="withEffect">
                                  <p:stCondLst>
                                    <p:cond delay="416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600"/>
                                        <p:tgtEl>
                                          <p:spTgt spid="30"/>
                                        </p:tgtEl>
                                      </p:cBhvr>
                                    </p:animEffect>
                                  </p:childTnLst>
                                </p:cTn>
                              </p:par>
                              <p:par>
                                <p:cTn id="86" presetID="10" presetClass="entr" presetSubtype="0" fill="hold" nodeType="withEffect">
                                  <p:stCondLst>
                                    <p:cond delay="432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600"/>
                                        <p:tgtEl>
                                          <p:spTgt spid="31"/>
                                        </p:tgtEl>
                                      </p:cBhvr>
                                    </p:animEffect>
                                  </p:childTnLst>
                                </p:cTn>
                              </p:par>
                              <p:par>
                                <p:cTn id="89" presetID="10" presetClass="entr" presetSubtype="0" fill="hold" nodeType="withEffect">
                                  <p:stCondLst>
                                    <p:cond delay="448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600"/>
                                        <p:tgtEl>
                                          <p:spTgt spid="32"/>
                                        </p:tgtEl>
                                      </p:cBhvr>
                                    </p:animEffect>
                                  </p:childTnLst>
                                </p:cTn>
                              </p:par>
                              <p:par>
                                <p:cTn id="92" presetID="10" presetClass="entr" presetSubtype="0" fill="hold" nodeType="withEffect">
                                  <p:stCondLst>
                                    <p:cond delay="464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600"/>
                                        <p:tgtEl>
                                          <p:spTgt spid="33"/>
                                        </p:tgtEl>
                                      </p:cBhvr>
                                    </p:animEffect>
                                  </p:childTnLst>
                                </p:cTn>
                              </p:par>
                              <p:par>
                                <p:cTn id="95" presetID="10" presetClass="entr" presetSubtype="0" fill="hold" nodeType="withEffect">
                                  <p:stCondLst>
                                    <p:cond delay="48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600"/>
                                        <p:tgtEl>
                                          <p:spTgt spid="34"/>
                                        </p:tgtEl>
                                      </p:cBhvr>
                                    </p:animEffect>
                                  </p:childTnLst>
                                </p:cTn>
                              </p:par>
                              <p:par>
                                <p:cTn id="98" presetID="10" presetClass="entr" presetSubtype="0" fill="hold" nodeType="withEffect">
                                  <p:stCondLst>
                                    <p:cond delay="496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600"/>
                                        <p:tgtEl>
                                          <p:spTgt spid="35"/>
                                        </p:tgtEl>
                                      </p:cBhvr>
                                    </p:animEffect>
                                  </p:childTnLst>
                                </p:cTn>
                              </p:par>
                              <p:par>
                                <p:cTn id="101" presetID="10" presetClass="entr" presetSubtype="0" fill="hold" nodeType="withEffect">
                                  <p:stCondLst>
                                    <p:cond delay="512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600"/>
                                        <p:tgtEl>
                                          <p:spTgt spid="36"/>
                                        </p:tgtEl>
                                      </p:cBhvr>
                                    </p:animEffect>
                                  </p:childTnLst>
                                </p:cTn>
                              </p:par>
                              <p:par>
                                <p:cTn id="104" presetID="10" presetClass="entr" presetSubtype="0" fill="hold" nodeType="withEffect">
                                  <p:stCondLst>
                                    <p:cond delay="528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600"/>
                                        <p:tgtEl>
                                          <p:spTgt spid="37"/>
                                        </p:tgtEl>
                                      </p:cBhvr>
                                    </p:animEffect>
                                  </p:childTnLst>
                                </p:cTn>
                              </p:par>
                              <p:par>
                                <p:cTn id="107" presetID="10" presetClass="entr" presetSubtype="0" fill="hold" nodeType="withEffect">
                                  <p:stCondLst>
                                    <p:cond delay="544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600"/>
                                        <p:tgtEl>
                                          <p:spTgt spid="38"/>
                                        </p:tgtEl>
                                      </p:cBhvr>
                                    </p:animEffect>
                                  </p:childTnLst>
                                </p:cTn>
                              </p:par>
                              <p:par>
                                <p:cTn id="110" presetID="10" presetClass="entr" presetSubtype="0" fill="hold" nodeType="withEffect">
                                  <p:stCondLst>
                                    <p:cond delay="56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600"/>
                                        <p:tgtEl>
                                          <p:spTgt spid="39"/>
                                        </p:tgtEl>
                                      </p:cBhvr>
                                    </p:animEffect>
                                  </p:childTnLst>
                                </p:cTn>
                              </p:par>
                              <p:par>
                                <p:cTn id="113" presetID="10" presetClass="entr" presetSubtype="0" fill="hold" nodeType="withEffect">
                                  <p:stCondLst>
                                    <p:cond delay="576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600"/>
                                        <p:tgtEl>
                                          <p:spTgt spid="40"/>
                                        </p:tgtEl>
                                      </p:cBhvr>
                                    </p:animEffect>
                                  </p:childTnLst>
                                </p:cTn>
                              </p:par>
                              <p:par>
                                <p:cTn id="116" presetID="10" presetClass="entr" presetSubtype="0" fill="hold" nodeType="withEffect">
                                  <p:stCondLst>
                                    <p:cond delay="592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600"/>
                                        <p:tgtEl>
                                          <p:spTgt spid="41"/>
                                        </p:tgtEl>
                                      </p:cBhvr>
                                    </p:animEffect>
                                  </p:childTnLst>
                                </p:cTn>
                              </p:par>
                              <p:par>
                                <p:cTn id="119" presetID="10" presetClass="entr" presetSubtype="0" fill="hold" nodeType="withEffect">
                                  <p:stCondLst>
                                    <p:cond delay="608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600"/>
                                        <p:tgtEl>
                                          <p:spTgt spid="42"/>
                                        </p:tgtEl>
                                      </p:cBhvr>
                                    </p:animEffect>
                                  </p:childTnLst>
                                </p:cTn>
                              </p:par>
                              <p:par>
                                <p:cTn id="122" presetID="10" presetClass="entr" presetSubtype="0" fill="hold" nodeType="withEffect">
                                  <p:stCondLst>
                                    <p:cond delay="624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600"/>
                                        <p:tgtEl>
                                          <p:spTgt spid="43"/>
                                        </p:tgtEl>
                                      </p:cBhvr>
                                    </p:animEffect>
                                  </p:childTnLst>
                                </p:cTn>
                              </p:par>
                              <p:par>
                                <p:cTn id="125" presetID="10" presetClass="entr" presetSubtype="0" fill="hold" nodeType="withEffect">
                                  <p:stCondLst>
                                    <p:cond delay="640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600"/>
                                        <p:tgtEl>
                                          <p:spTgt spid="44"/>
                                        </p:tgtEl>
                                      </p:cBhvr>
                                    </p:animEffect>
                                  </p:childTnLst>
                                </p:cTn>
                              </p:par>
                              <p:par>
                                <p:cTn id="128" presetID="10" presetClass="entr" presetSubtype="0" fill="hold" nodeType="withEffect">
                                  <p:stCondLst>
                                    <p:cond delay="656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600"/>
                                        <p:tgtEl>
                                          <p:spTgt spid="45"/>
                                        </p:tgtEl>
                                      </p:cBhvr>
                                    </p:animEffect>
                                  </p:childTnLst>
                                </p:cTn>
                              </p:par>
                              <p:par>
                                <p:cTn id="131" presetID="10" presetClass="entr" presetSubtype="0" fill="hold" nodeType="withEffect">
                                  <p:stCondLst>
                                    <p:cond delay="672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600"/>
                                        <p:tgtEl>
                                          <p:spTgt spid="46"/>
                                        </p:tgtEl>
                                      </p:cBhvr>
                                    </p:animEffect>
                                  </p:childTnLst>
                                </p:cTn>
                              </p:par>
                              <p:par>
                                <p:cTn id="134" presetID="10" presetClass="entr" presetSubtype="0" fill="hold" nodeType="withEffect">
                                  <p:stCondLst>
                                    <p:cond delay="6880"/>
                                  </p:stCondLst>
                                  <p:childTnLst>
                                    <p:set>
                                      <p:cBhvr>
                                        <p:cTn id="135" dur="1" fill="hold">
                                          <p:stCondLst>
                                            <p:cond delay="0"/>
                                          </p:stCondLst>
                                        </p:cTn>
                                        <p:tgtEl>
                                          <p:spTgt spid="47"/>
                                        </p:tgtEl>
                                        <p:attrNameLst>
                                          <p:attrName>style.visibility</p:attrName>
                                        </p:attrNameLst>
                                      </p:cBhvr>
                                      <p:to>
                                        <p:strVal val="visible"/>
                                      </p:to>
                                    </p:set>
                                    <p:animEffect transition="in" filter="fade">
                                      <p:cBhvr>
                                        <p:cTn id="136" dur="600"/>
                                        <p:tgtEl>
                                          <p:spTgt spid="47"/>
                                        </p:tgtEl>
                                      </p:cBhvr>
                                    </p:animEffect>
                                  </p:childTnLst>
                                </p:cTn>
                              </p:par>
                              <p:par>
                                <p:cTn id="137" presetID="10" presetClass="entr" presetSubtype="0" fill="hold" nodeType="withEffect">
                                  <p:stCondLst>
                                    <p:cond delay="7040"/>
                                  </p:stCondLst>
                                  <p:childTnLst>
                                    <p:set>
                                      <p:cBhvr>
                                        <p:cTn id="138" dur="1" fill="hold">
                                          <p:stCondLst>
                                            <p:cond delay="0"/>
                                          </p:stCondLst>
                                        </p:cTn>
                                        <p:tgtEl>
                                          <p:spTgt spid="48"/>
                                        </p:tgtEl>
                                        <p:attrNameLst>
                                          <p:attrName>style.visibility</p:attrName>
                                        </p:attrNameLst>
                                      </p:cBhvr>
                                      <p:to>
                                        <p:strVal val="visible"/>
                                      </p:to>
                                    </p:set>
                                    <p:animEffect transition="in" filter="fade">
                                      <p:cBhvr>
                                        <p:cTn id="139" dur="600"/>
                                        <p:tgtEl>
                                          <p:spTgt spid="48"/>
                                        </p:tgtEl>
                                      </p:cBhvr>
                                    </p:animEffect>
                                  </p:childTnLst>
                                </p:cTn>
                              </p:par>
                              <p:par>
                                <p:cTn id="140" presetID="10" presetClass="entr" presetSubtype="0" fill="hold" nodeType="withEffect">
                                  <p:stCondLst>
                                    <p:cond delay="720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6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14" grpId="0" animBg="1"/>
      <p:bldP spid="16" grpId="0" animBg="1"/>
      <p:bldP spid="18"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8AA6FF"/>
                </a:solidFill>
                <a:latin typeface="Calibri" pitchFamily="34" charset="0"/>
                <a:ea typeface="Calibri" pitchFamily="34" charset="-122"/>
                <a:cs typeface="Calibri" pitchFamily="34" charset="-120"/>
              </a:rPr>
              <a:t>UNDER THE HOOD</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EAF0F8"/>
                </a:solidFill>
                <a:latin typeface="Calibri Light" pitchFamily="34" charset="0"/>
                <a:ea typeface="Calibri Light" pitchFamily="34" charset="-122"/>
                <a:cs typeface="Calibri Light" pitchFamily="34" charset="-120"/>
              </a:rPr>
              <a:t>Solana is the settlement layer for every move</a:t>
            </a:r>
            <a:endParaRPr lang="en-US" sz="3600" dirty="0"/>
          </a:p>
        </p:txBody>
      </p:sp>
      <p:sp>
        <p:nvSpPr>
          <p:cNvPr id="4" name="a0"/>
          <p:cNvSpPr/>
          <p:nvPr/>
        </p:nvSpPr>
        <p:spPr>
          <a:xfrm>
            <a:off x="548640" y="1783080"/>
            <a:ext cx="2464994" cy="1188720"/>
          </a:xfrm>
          <a:prstGeom prst="roundRect">
            <a:avLst>
              <a:gd name="adj" fmla="val 12308"/>
            </a:avLst>
          </a:prstGeom>
          <a:solidFill>
            <a:srgbClr val="0E1726"/>
          </a:solidFill>
          <a:ln w="9525">
            <a:solidFill>
              <a:srgbClr val="1E2A3F"/>
            </a:solidFill>
            <a:prstDash val="solid"/>
          </a:ln>
        </p:spPr>
      </p:sp>
      <p:sp>
        <p:nvSpPr>
          <p:cNvPr id="5" name="at0"/>
          <p:cNvSpPr txBox="1"/>
          <p:nvPr/>
        </p:nvSpPr>
        <p:spPr>
          <a:xfrm>
            <a:off x="777240" y="1938528"/>
            <a:ext cx="2007794"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libri" pitchFamily="34" charset="0"/>
                <a:ea typeface="Calibri" pitchFamily="34" charset="-122"/>
                <a:cs typeface="Calibri" pitchFamily="34" charset="-120"/>
              </a:rPr>
              <a:t>Apps</a:t>
            </a:r>
            <a:endParaRPr lang="en-US" sz="1700" dirty="0"/>
          </a:p>
        </p:txBody>
      </p:sp>
      <p:sp>
        <p:nvSpPr>
          <p:cNvPr id="6" name="ad0"/>
          <p:cNvSpPr txBox="1"/>
          <p:nvPr/>
        </p:nvSpPr>
        <p:spPr>
          <a:xfrm>
            <a:off x="777240" y="2331720"/>
            <a:ext cx="2007794" cy="54864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Web and mobile (Android, iOS)</a:t>
            </a:r>
            <a:endParaRPr lang="en-US" sz="1300" dirty="0"/>
          </a:p>
        </p:txBody>
      </p:sp>
      <p:pic>
        <p:nvPicPr>
          <p:cNvPr id="7" name="aa0" descr="preencoded.png">    </p:cNvPr>
          <p:cNvPicPr>
            <a:picLocks noChangeAspect="1"/>
          </p:cNvPicPr>
          <p:nvPr/>
        </p:nvPicPr>
        <p:blipFill>
          <a:blip r:embed="rId1"/>
          <a:stretch>
            <a:fillRect/>
          </a:stretch>
        </p:blipFill>
        <p:spPr>
          <a:xfrm>
            <a:off x="3105074" y="2267712"/>
            <a:ext cx="228600" cy="228600"/>
          </a:xfrm>
          <a:prstGeom prst="rect">
            <a:avLst/>
          </a:prstGeom>
        </p:spPr>
      </p:pic>
      <p:sp>
        <p:nvSpPr>
          <p:cNvPr id="8" name="a1"/>
          <p:cNvSpPr/>
          <p:nvPr/>
        </p:nvSpPr>
        <p:spPr>
          <a:xfrm>
            <a:off x="3425114" y="1783080"/>
            <a:ext cx="2464994" cy="1188720"/>
          </a:xfrm>
          <a:prstGeom prst="roundRect">
            <a:avLst>
              <a:gd name="adj" fmla="val 12308"/>
            </a:avLst>
          </a:prstGeom>
          <a:solidFill>
            <a:srgbClr val="0E1726"/>
          </a:solidFill>
          <a:ln w="9525">
            <a:solidFill>
              <a:srgbClr val="1E2A3F"/>
            </a:solidFill>
            <a:prstDash val="solid"/>
          </a:ln>
        </p:spPr>
      </p:sp>
      <p:sp>
        <p:nvSpPr>
          <p:cNvPr id="9" name="at1"/>
          <p:cNvSpPr txBox="1"/>
          <p:nvPr/>
        </p:nvSpPr>
        <p:spPr>
          <a:xfrm>
            <a:off x="3653714" y="1938528"/>
            <a:ext cx="2007794"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libri" pitchFamily="34" charset="0"/>
                <a:ea typeface="Calibri" pitchFamily="34" charset="-122"/>
                <a:cs typeface="Calibri" pitchFamily="34" charset="-120"/>
              </a:rPr>
              <a:t>Bytesac core</a:t>
            </a:r>
            <a:endParaRPr lang="en-US" sz="1700" dirty="0"/>
          </a:p>
        </p:txBody>
      </p:sp>
      <p:sp>
        <p:nvSpPr>
          <p:cNvPr id="10" name="ad1"/>
          <p:cNvSpPr txBox="1"/>
          <p:nvPr/>
        </p:nvSpPr>
        <p:spPr>
          <a:xfrm>
            <a:off x="3653714" y="2331720"/>
            <a:ext cx="2007794" cy="54864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Plans, steps, ledger, eligibility</a:t>
            </a:r>
            <a:endParaRPr lang="en-US" sz="1300" dirty="0"/>
          </a:p>
        </p:txBody>
      </p:sp>
      <p:pic>
        <p:nvPicPr>
          <p:cNvPr id="11" name="aa1" descr="preencoded.png">    </p:cNvPr>
          <p:cNvPicPr>
            <a:picLocks noChangeAspect="1"/>
          </p:cNvPicPr>
          <p:nvPr/>
        </p:nvPicPr>
        <p:blipFill>
          <a:blip r:embed="rId2"/>
          <a:stretch>
            <a:fillRect/>
          </a:stretch>
        </p:blipFill>
        <p:spPr>
          <a:xfrm>
            <a:off x="5981548" y="2267712"/>
            <a:ext cx="228600" cy="228600"/>
          </a:xfrm>
          <a:prstGeom prst="rect">
            <a:avLst/>
          </a:prstGeom>
        </p:spPr>
      </p:pic>
      <p:sp>
        <p:nvSpPr>
          <p:cNvPr id="12" name="a2"/>
          <p:cNvSpPr/>
          <p:nvPr/>
        </p:nvSpPr>
        <p:spPr>
          <a:xfrm>
            <a:off x="6301588" y="1783080"/>
            <a:ext cx="2464994" cy="1188720"/>
          </a:xfrm>
          <a:prstGeom prst="roundRect">
            <a:avLst>
              <a:gd name="adj" fmla="val 12308"/>
            </a:avLst>
          </a:prstGeom>
          <a:solidFill>
            <a:srgbClr val="0E1726"/>
          </a:solidFill>
          <a:ln w="9525">
            <a:solidFill>
              <a:srgbClr val="1E2A3F"/>
            </a:solidFill>
            <a:prstDash val="solid"/>
          </a:ln>
        </p:spPr>
      </p:sp>
      <p:sp>
        <p:nvSpPr>
          <p:cNvPr id="13" name="at2"/>
          <p:cNvSpPr txBox="1"/>
          <p:nvPr/>
        </p:nvSpPr>
        <p:spPr>
          <a:xfrm>
            <a:off x="6530188" y="1938528"/>
            <a:ext cx="2007794"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libri" pitchFamily="34" charset="0"/>
                <a:ea typeface="Calibri" pitchFamily="34" charset="-122"/>
                <a:cs typeface="Calibri" pitchFamily="34" charset="-120"/>
              </a:rPr>
              <a:t>Providers</a:t>
            </a:r>
            <a:endParaRPr lang="en-US" sz="1700" dirty="0"/>
          </a:p>
        </p:txBody>
      </p:sp>
      <p:sp>
        <p:nvSpPr>
          <p:cNvPr id="14" name="ad2"/>
          <p:cNvSpPr txBox="1"/>
          <p:nvPr/>
        </p:nvSpPr>
        <p:spPr>
          <a:xfrm>
            <a:off x="6530188" y="2331720"/>
            <a:ext cx="2007794" cy="54864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LI.FI routes · Alchemy RPC · CoinMarketCap</a:t>
            </a:r>
            <a:endParaRPr lang="en-US" sz="1300" dirty="0"/>
          </a:p>
        </p:txBody>
      </p:sp>
      <p:pic>
        <p:nvPicPr>
          <p:cNvPr id="15" name="aa2" descr="preencoded.png">    </p:cNvPr>
          <p:cNvPicPr>
            <a:picLocks noChangeAspect="1"/>
          </p:cNvPicPr>
          <p:nvPr/>
        </p:nvPicPr>
        <p:blipFill>
          <a:blip r:embed="rId3"/>
          <a:stretch>
            <a:fillRect/>
          </a:stretch>
        </p:blipFill>
        <p:spPr>
          <a:xfrm>
            <a:off x="8858021" y="2267712"/>
            <a:ext cx="228600" cy="228600"/>
          </a:xfrm>
          <a:prstGeom prst="rect">
            <a:avLst/>
          </a:prstGeom>
        </p:spPr>
      </p:pic>
      <p:sp>
        <p:nvSpPr>
          <p:cNvPr id="16" name="a3"/>
          <p:cNvSpPr/>
          <p:nvPr/>
        </p:nvSpPr>
        <p:spPr>
          <a:xfrm>
            <a:off x="9178061" y="1783080"/>
            <a:ext cx="2464994" cy="1188720"/>
          </a:xfrm>
          <a:prstGeom prst="roundRect">
            <a:avLst>
              <a:gd name="adj" fmla="val 12308"/>
            </a:avLst>
          </a:prstGeom>
          <a:solidFill>
            <a:srgbClr val="0E1726"/>
          </a:solidFill>
          <a:ln w="19050">
            <a:solidFill>
              <a:srgbClr val="8AA6FF"/>
            </a:solidFill>
            <a:prstDash val="solid"/>
          </a:ln>
        </p:spPr>
      </p:sp>
      <p:sp>
        <p:nvSpPr>
          <p:cNvPr id="17" name="at3"/>
          <p:cNvSpPr txBox="1"/>
          <p:nvPr/>
        </p:nvSpPr>
        <p:spPr>
          <a:xfrm>
            <a:off x="9406661" y="1938528"/>
            <a:ext cx="2007794"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libri" pitchFamily="34" charset="0"/>
                <a:ea typeface="Calibri" pitchFamily="34" charset="-122"/>
                <a:cs typeface="Calibri" pitchFamily="34" charset="-120"/>
              </a:rPr>
              <a:t>Your wallets</a:t>
            </a:r>
            <a:endParaRPr lang="en-US" sz="1700" dirty="0"/>
          </a:p>
        </p:txBody>
      </p:sp>
      <p:sp>
        <p:nvSpPr>
          <p:cNvPr id="18" name="ad3"/>
          <p:cNvSpPr txBox="1"/>
          <p:nvPr/>
        </p:nvSpPr>
        <p:spPr>
          <a:xfrm>
            <a:off x="9406661" y="2331720"/>
            <a:ext cx="2007794" cy="54864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Solana hub + 6 more chains</a:t>
            </a:r>
            <a:endParaRPr lang="en-US" sz="1300" dirty="0"/>
          </a:p>
        </p:txBody>
      </p:sp>
      <p:sp>
        <p:nvSpPr>
          <p:cNvPr id="19" name="c0"/>
          <p:cNvSpPr/>
          <p:nvPr/>
        </p:nvSpPr>
        <p:spPr>
          <a:xfrm>
            <a:off x="548640" y="3246120"/>
            <a:ext cx="2464994" cy="1600200"/>
          </a:xfrm>
          <a:prstGeom prst="roundRect">
            <a:avLst>
              <a:gd name="adj" fmla="val 9143"/>
            </a:avLst>
          </a:prstGeom>
          <a:solidFill>
            <a:srgbClr val="0E1726"/>
          </a:solidFill>
          <a:ln w="9525">
            <a:solidFill>
              <a:srgbClr val="1E2A3F"/>
            </a:solidFill>
            <a:prstDash val="solid"/>
          </a:ln>
        </p:spPr>
      </p:sp>
      <p:pic>
        <p:nvPicPr>
          <p:cNvPr id="20" name="ci0" descr="preencoded.png">    </p:cNvPr>
          <p:cNvPicPr>
            <a:picLocks noChangeAspect="1"/>
          </p:cNvPicPr>
          <p:nvPr/>
        </p:nvPicPr>
        <p:blipFill>
          <a:blip r:embed="rId4"/>
          <a:stretch>
            <a:fillRect/>
          </a:stretch>
        </p:blipFill>
        <p:spPr>
          <a:xfrm>
            <a:off x="777240" y="3474720"/>
            <a:ext cx="292608" cy="292608"/>
          </a:xfrm>
          <a:prstGeom prst="rect">
            <a:avLst/>
          </a:prstGeom>
        </p:spPr>
      </p:pic>
      <p:sp>
        <p:nvSpPr>
          <p:cNvPr id="21" name="ct0"/>
          <p:cNvSpPr txBox="1"/>
          <p:nvPr/>
        </p:nvSpPr>
        <p:spPr>
          <a:xfrm>
            <a:off x="777240" y="3858768"/>
            <a:ext cx="2007794" cy="329184"/>
          </a:xfrm>
          <a:prstGeom prst="rect">
            <a:avLst/>
          </a:prstGeom>
          <a:noFill/>
          <a:ln/>
        </p:spPr>
        <p:txBody>
          <a:bodyPr wrap="square" lIns="0" tIns="0" rIns="0" bIns="0" rtlCol="0" anchor="t"/>
          <a:lstStyle/>
          <a:p>
            <a:pPr algn="l" indent="0" marL="0">
              <a:buNone/>
            </a:pPr>
            <a:r>
              <a:rPr lang="en-US" sz="1500" b="1" dirty="0">
                <a:solidFill>
                  <a:srgbClr val="EAF0F8"/>
                </a:solidFill>
                <a:latin typeface="Calibri" pitchFamily="34" charset="0"/>
                <a:ea typeface="Calibri" pitchFamily="34" charset="-122"/>
                <a:cs typeface="Calibri" pitchFamily="34" charset="-120"/>
              </a:rPr>
              <a:t>USDC on Solana</a:t>
            </a:r>
            <a:endParaRPr lang="en-US" sz="1500" dirty="0"/>
          </a:p>
        </p:txBody>
      </p:sp>
      <p:sp>
        <p:nvSpPr>
          <p:cNvPr id="22" name="cd0"/>
          <p:cNvSpPr txBox="1"/>
          <p:nvPr/>
        </p:nvSpPr>
        <p:spPr>
          <a:xfrm>
            <a:off x="777240" y="4206240"/>
            <a:ext cx="2007794" cy="566928"/>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The single entry currency and the hub for every rebalance</a:t>
            </a:r>
            <a:endParaRPr lang="en-US" sz="1300" dirty="0"/>
          </a:p>
        </p:txBody>
      </p:sp>
      <p:sp>
        <p:nvSpPr>
          <p:cNvPr id="23" name="c1"/>
          <p:cNvSpPr/>
          <p:nvPr/>
        </p:nvSpPr>
        <p:spPr>
          <a:xfrm>
            <a:off x="3425114" y="3246120"/>
            <a:ext cx="2464994" cy="1600200"/>
          </a:xfrm>
          <a:prstGeom prst="roundRect">
            <a:avLst>
              <a:gd name="adj" fmla="val 9143"/>
            </a:avLst>
          </a:prstGeom>
          <a:solidFill>
            <a:srgbClr val="0E1726"/>
          </a:solidFill>
          <a:ln w="9525">
            <a:solidFill>
              <a:srgbClr val="1E2A3F"/>
            </a:solidFill>
            <a:prstDash val="solid"/>
          </a:ln>
        </p:spPr>
      </p:sp>
      <p:pic>
        <p:nvPicPr>
          <p:cNvPr id="24" name="ci1" descr="preencoded.png">    </p:cNvPr>
          <p:cNvPicPr>
            <a:picLocks noChangeAspect="1"/>
          </p:cNvPicPr>
          <p:nvPr/>
        </p:nvPicPr>
        <p:blipFill>
          <a:blip r:embed="rId5"/>
          <a:stretch>
            <a:fillRect/>
          </a:stretch>
        </p:blipFill>
        <p:spPr>
          <a:xfrm>
            <a:off x="3653714" y="3474720"/>
            <a:ext cx="292608" cy="292608"/>
          </a:xfrm>
          <a:prstGeom prst="rect">
            <a:avLst/>
          </a:prstGeom>
        </p:spPr>
      </p:pic>
      <p:sp>
        <p:nvSpPr>
          <p:cNvPr id="25" name="ct1"/>
          <p:cNvSpPr txBox="1"/>
          <p:nvPr/>
        </p:nvSpPr>
        <p:spPr>
          <a:xfrm>
            <a:off x="3653714" y="3858768"/>
            <a:ext cx="2007794" cy="329184"/>
          </a:xfrm>
          <a:prstGeom prst="rect">
            <a:avLst/>
          </a:prstGeom>
          <a:noFill/>
          <a:ln/>
        </p:spPr>
        <p:txBody>
          <a:bodyPr wrap="square" lIns="0" tIns="0" rIns="0" bIns="0" rtlCol="0" anchor="t"/>
          <a:lstStyle/>
          <a:p>
            <a:pPr algn="l" indent="0" marL="0">
              <a:buNone/>
            </a:pPr>
            <a:r>
              <a:rPr lang="en-US" sz="1500" b="1" dirty="0">
                <a:solidFill>
                  <a:srgbClr val="EAF0F8"/>
                </a:solidFill>
                <a:latin typeface="Calibri" pitchFamily="34" charset="0"/>
                <a:ea typeface="Calibri" pitchFamily="34" charset="-122"/>
                <a:cs typeface="Calibri" pitchFamily="34" charset="-120"/>
              </a:rPr>
              <a:t>Sign-In with Solana</a:t>
            </a:r>
            <a:endParaRPr lang="en-US" sz="1500" dirty="0"/>
          </a:p>
        </p:txBody>
      </p:sp>
      <p:sp>
        <p:nvSpPr>
          <p:cNvPr id="26" name="cd1"/>
          <p:cNvSpPr txBox="1"/>
          <p:nvPr/>
        </p:nvSpPr>
        <p:spPr>
          <a:xfrm>
            <a:off x="3653714" y="4206240"/>
            <a:ext cx="2007794" cy="566928"/>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Your wallet is your identity, never spending permission</a:t>
            </a:r>
            <a:endParaRPr lang="en-US" sz="1300" dirty="0"/>
          </a:p>
        </p:txBody>
      </p:sp>
      <p:sp>
        <p:nvSpPr>
          <p:cNvPr id="27" name="c2"/>
          <p:cNvSpPr/>
          <p:nvPr/>
        </p:nvSpPr>
        <p:spPr>
          <a:xfrm>
            <a:off x="6301588" y="3246120"/>
            <a:ext cx="2464994" cy="1600200"/>
          </a:xfrm>
          <a:prstGeom prst="roundRect">
            <a:avLst>
              <a:gd name="adj" fmla="val 9143"/>
            </a:avLst>
          </a:prstGeom>
          <a:solidFill>
            <a:srgbClr val="0E1726"/>
          </a:solidFill>
          <a:ln w="9525">
            <a:solidFill>
              <a:srgbClr val="1E2A3F"/>
            </a:solidFill>
            <a:prstDash val="solid"/>
          </a:ln>
        </p:spPr>
      </p:sp>
      <p:pic>
        <p:nvPicPr>
          <p:cNvPr id="28" name="ci2" descr="preencoded.png">    </p:cNvPr>
          <p:cNvPicPr>
            <a:picLocks noChangeAspect="1"/>
          </p:cNvPicPr>
          <p:nvPr/>
        </p:nvPicPr>
        <p:blipFill>
          <a:blip r:embed="rId6"/>
          <a:stretch>
            <a:fillRect/>
          </a:stretch>
        </p:blipFill>
        <p:spPr>
          <a:xfrm>
            <a:off x="6530188" y="3474720"/>
            <a:ext cx="292608" cy="292608"/>
          </a:xfrm>
          <a:prstGeom prst="rect">
            <a:avLst/>
          </a:prstGeom>
        </p:spPr>
      </p:pic>
      <p:sp>
        <p:nvSpPr>
          <p:cNvPr id="29" name="ct2"/>
          <p:cNvSpPr txBox="1"/>
          <p:nvPr/>
        </p:nvSpPr>
        <p:spPr>
          <a:xfrm>
            <a:off x="6530188" y="3858768"/>
            <a:ext cx="2007794" cy="329184"/>
          </a:xfrm>
          <a:prstGeom prst="rect">
            <a:avLst/>
          </a:prstGeom>
          <a:noFill/>
          <a:ln/>
        </p:spPr>
        <p:txBody>
          <a:bodyPr wrap="square" lIns="0" tIns="0" rIns="0" bIns="0" rtlCol="0" anchor="t"/>
          <a:lstStyle/>
          <a:p>
            <a:pPr algn="l" indent="0" marL="0">
              <a:buNone/>
            </a:pPr>
            <a:r>
              <a:rPr lang="en-US" sz="1500" b="1" dirty="0">
                <a:solidFill>
                  <a:srgbClr val="EAF0F8"/>
                </a:solidFill>
                <a:latin typeface="Calibri" pitchFamily="34" charset="0"/>
                <a:ea typeface="Calibri" pitchFamily="34" charset="-122"/>
                <a:cs typeface="Calibri" pitchFamily="34" charset="-120"/>
              </a:rPr>
              <a:t>Fee-payer co-signing</a:t>
            </a:r>
            <a:endParaRPr lang="en-US" sz="1500" dirty="0"/>
          </a:p>
        </p:txBody>
      </p:sp>
      <p:sp>
        <p:nvSpPr>
          <p:cNvPr id="30" name="cd2"/>
          <p:cNvSpPr txBox="1"/>
          <p:nvPr/>
        </p:nvSpPr>
        <p:spPr>
          <a:xfrm>
            <a:off x="6530188" y="4206240"/>
            <a:ext cx="2007794" cy="566928"/>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Bytesac co-signs only byte-identical, quoted transactions</a:t>
            </a:r>
            <a:endParaRPr lang="en-US" sz="1300" dirty="0"/>
          </a:p>
        </p:txBody>
      </p:sp>
      <p:sp>
        <p:nvSpPr>
          <p:cNvPr id="31" name="c3"/>
          <p:cNvSpPr/>
          <p:nvPr/>
        </p:nvSpPr>
        <p:spPr>
          <a:xfrm>
            <a:off x="9178061" y="3246120"/>
            <a:ext cx="2464994" cy="1600200"/>
          </a:xfrm>
          <a:prstGeom prst="roundRect">
            <a:avLst>
              <a:gd name="adj" fmla="val 9143"/>
            </a:avLst>
          </a:prstGeom>
          <a:solidFill>
            <a:srgbClr val="0E1726"/>
          </a:solidFill>
          <a:ln w="9525">
            <a:solidFill>
              <a:srgbClr val="1E2A3F"/>
            </a:solidFill>
            <a:prstDash val="solid"/>
          </a:ln>
        </p:spPr>
      </p:sp>
      <p:pic>
        <p:nvPicPr>
          <p:cNvPr id="32" name="ci3" descr="preencoded.png">    </p:cNvPr>
          <p:cNvPicPr>
            <a:picLocks noChangeAspect="1"/>
          </p:cNvPicPr>
          <p:nvPr/>
        </p:nvPicPr>
        <p:blipFill>
          <a:blip r:embed="rId7"/>
          <a:stretch>
            <a:fillRect/>
          </a:stretch>
        </p:blipFill>
        <p:spPr>
          <a:xfrm>
            <a:off x="9406661" y="3474720"/>
            <a:ext cx="292608" cy="292608"/>
          </a:xfrm>
          <a:prstGeom prst="rect">
            <a:avLst/>
          </a:prstGeom>
        </p:spPr>
      </p:pic>
      <p:sp>
        <p:nvSpPr>
          <p:cNvPr id="33" name="ct3"/>
          <p:cNvSpPr txBox="1"/>
          <p:nvPr/>
        </p:nvSpPr>
        <p:spPr>
          <a:xfrm>
            <a:off x="9406661" y="3858768"/>
            <a:ext cx="2007794" cy="329184"/>
          </a:xfrm>
          <a:prstGeom prst="rect">
            <a:avLst/>
          </a:prstGeom>
          <a:noFill/>
          <a:ln/>
        </p:spPr>
        <p:txBody>
          <a:bodyPr wrap="square" lIns="0" tIns="0" rIns="0" bIns="0" rtlCol="0" anchor="t"/>
          <a:lstStyle/>
          <a:p>
            <a:pPr algn="l" indent="0" marL="0">
              <a:buNone/>
            </a:pPr>
            <a:r>
              <a:rPr lang="en-US" sz="1500" b="1" dirty="0">
                <a:solidFill>
                  <a:srgbClr val="EAF0F8"/>
                </a:solidFill>
                <a:latin typeface="Calibri" pitchFamily="34" charset="0"/>
                <a:ea typeface="Calibri" pitchFamily="34" charset="-122"/>
                <a:cs typeface="Calibri" pitchFamily="34" charset="-120"/>
              </a:rPr>
              <a:t>One fee transaction</a:t>
            </a:r>
            <a:endParaRPr lang="en-US" sz="1500" dirty="0"/>
          </a:p>
        </p:txBody>
      </p:sp>
      <p:sp>
        <p:nvSpPr>
          <p:cNvPr id="34" name="cd3"/>
          <p:cNvSpPr txBox="1"/>
          <p:nvPr/>
        </p:nvSpPr>
        <p:spPr>
          <a:xfrm>
            <a:off x="9406661" y="4206240"/>
            <a:ext cx="2007794" cy="566928"/>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All fees in one USDC payment</a:t>
            </a:r>
            <a:endParaRPr lang="en-US" sz="1300" dirty="0"/>
          </a:p>
        </p:txBody>
      </p:sp>
      <p:sp>
        <p:nvSpPr>
          <p:cNvPr id="35" name="sb0"/>
          <p:cNvSpPr txBox="1"/>
          <p:nvPr/>
        </p:nvSpPr>
        <p:spPr>
          <a:xfrm>
            <a:off x="548640" y="5074920"/>
            <a:ext cx="2464994" cy="566928"/>
          </a:xfrm>
          <a:prstGeom prst="rect">
            <a:avLst/>
          </a:prstGeom>
          <a:noFill/>
          <a:ln/>
        </p:spPr>
        <p:txBody>
          <a:bodyPr wrap="square" lIns="0" tIns="0" rIns="0" bIns="0" rtlCol="0" anchor="t"/>
          <a:lstStyle/>
          <a:p>
            <a:pPr algn="l" indent="0" marL="0">
              <a:buNone/>
            </a:pPr>
            <a:r>
              <a:rPr lang="en-US" sz="3400" dirty="0">
                <a:solidFill>
                  <a:srgbClr val="EAF0F8"/>
                </a:solidFill>
                <a:latin typeface="Calibri Light" pitchFamily="34" charset="0"/>
                <a:ea typeface="Calibri Light" pitchFamily="34" charset="-122"/>
                <a:cs typeface="Calibri Light" pitchFamily="34" charset="-120"/>
              </a:rPr>
              <a:t>$17.5B</a:t>
            </a:r>
            <a:endParaRPr lang="en-US" sz="3400" dirty="0"/>
          </a:p>
        </p:txBody>
      </p:sp>
      <p:sp>
        <p:nvSpPr>
          <p:cNvPr id="36" name="sl0"/>
          <p:cNvSpPr txBox="1"/>
          <p:nvPr/>
        </p:nvSpPr>
        <p:spPr>
          <a:xfrm>
            <a:off x="548640" y="5669280"/>
            <a:ext cx="2464994" cy="27432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stablecoins on Solana</a:t>
            </a:r>
            <a:endParaRPr lang="en-US" sz="1300" dirty="0"/>
          </a:p>
        </p:txBody>
      </p:sp>
      <p:sp>
        <p:nvSpPr>
          <p:cNvPr id="37" name="sb1"/>
          <p:cNvSpPr txBox="1"/>
          <p:nvPr/>
        </p:nvSpPr>
        <p:spPr>
          <a:xfrm>
            <a:off x="3425114" y="5074920"/>
            <a:ext cx="2464994" cy="566928"/>
          </a:xfrm>
          <a:prstGeom prst="rect">
            <a:avLst/>
          </a:prstGeom>
          <a:noFill/>
          <a:ln/>
        </p:spPr>
        <p:txBody>
          <a:bodyPr wrap="square" lIns="0" tIns="0" rIns="0" bIns="0" rtlCol="0" anchor="t"/>
          <a:lstStyle/>
          <a:p>
            <a:pPr algn="l" indent="0" marL="0">
              <a:buNone/>
            </a:pPr>
            <a:r>
              <a:rPr lang="en-US" sz="3400" dirty="0">
                <a:solidFill>
                  <a:srgbClr val="EAF0F8"/>
                </a:solidFill>
                <a:latin typeface="Calibri Light" pitchFamily="34" charset="0"/>
                <a:ea typeface="Calibri Light" pitchFamily="34" charset="-122"/>
                <a:cs typeface="Calibri Light" pitchFamily="34" charset="-120"/>
              </a:rPr>
              <a:t>13.07M</a:t>
            </a:r>
            <a:endParaRPr lang="en-US" sz="3400" dirty="0"/>
          </a:p>
        </p:txBody>
      </p:sp>
      <p:sp>
        <p:nvSpPr>
          <p:cNvPr id="38" name="sl1"/>
          <p:cNvSpPr txBox="1"/>
          <p:nvPr/>
        </p:nvSpPr>
        <p:spPr>
          <a:xfrm>
            <a:off x="3425114" y="5669280"/>
            <a:ext cx="2464994" cy="27432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stablecoin-holding wallets</a:t>
            </a:r>
            <a:endParaRPr lang="en-US" sz="1300" dirty="0"/>
          </a:p>
        </p:txBody>
      </p:sp>
      <p:sp>
        <p:nvSpPr>
          <p:cNvPr id="39" name="sb2"/>
          <p:cNvSpPr txBox="1"/>
          <p:nvPr/>
        </p:nvSpPr>
        <p:spPr>
          <a:xfrm>
            <a:off x="6301588" y="5074920"/>
            <a:ext cx="2464994" cy="566928"/>
          </a:xfrm>
          <a:prstGeom prst="rect">
            <a:avLst/>
          </a:prstGeom>
          <a:noFill/>
          <a:ln/>
        </p:spPr>
        <p:txBody>
          <a:bodyPr wrap="square" lIns="0" tIns="0" rIns="0" bIns="0" rtlCol="0" anchor="t"/>
          <a:lstStyle/>
          <a:p>
            <a:pPr algn="l" indent="0" marL="0">
              <a:buNone/>
            </a:pPr>
            <a:r>
              <a:rPr lang="en-US" sz="3400" dirty="0">
                <a:solidFill>
                  <a:srgbClr val="EAF0F8"/>
                </a:solidFill>
                <a:latin typeface="Calibri Light" pitchFamily="34" charset="0"/>
                <a:ea typeface="Calibri Light" pitchFamily="34" charset="-122"/>
                <a:cs typeface="Calibri Light" pitchFamily="34" charset="-120"/>
              </a:rPr>
              <a:t>1M+</a:t>
            </a:r>
            <a:endParaRPr lang="en-US" sz="3400" dirty="0"/>
          </a:p>
        </p:txBody>
      </p:sp>
      <p:sp>
        <p:nvSpPr>
          <p:cNvPr id="40" name="sl2"/>
          <p:cNvSpPr txBox="1"/>
          <p:nvPr/>
        </p:nvSpPr>
        <p:spPr>
          <a:xfrm>
            <a:off x="6301588" y="5669280"/>
            <a:ext cx="2464994" cy="27432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tokenized-stock holder wallets</a:t>
            </a:r>
            <a:endParaRPr lang="en-US" sz="1300" dirty="0"/>
          </a:p>
        </p:txBody>
      </p:sp>
      <p:sp>
        <p:nvSpPr>
          <p:cNvPr id="41" name="sb3"/>
          <p:cNvSpPr txBox="1"/>
          <p:nvPr/>
        </p:nvSpPr>
        <p:spPr>
          <a:xfrm>
            <a:off x="9178061" y="5074920"/>
            <a:ext cx="2464994" cy="566928"/>
          </a:xfrm>
          <a:prstGeom prst="rect">
            <a:avLst/>
          </a:prstGeom>
          <a:noFill/>
          <a:ln/>
        </p:spPr>
        <p:txBody>
          <a:bodyPr wrap="square" lIns="0" tIns="0" rIns="0" bIns="0" rtlCol="0" anchor="t"/>
          <a:lstStyle/>
          <a:p>
            <a:pPr algn="l" indent="0" marL="0">
              <a:buNone/>
            </a:pPr>
            <a:r>
              <a:rPr lang="en-US" sz="3400" dirty="0">
                <a:solidFill>
                  <a:srgbClr val="EAF0F8"/>
                </a:solidFill>
                <a:latin typeface="Calibri Light" pitchFamily="34" charset="0"/>
                <a:ea typeface="Calibri Light" pitchFamily="34" charset="-122"/>
                <a:cs typeface="Calibri Light" pitchFamily="34" charset="-120"/>
              </a:rPr>
              <a:t>47%</a:t>
            </a:r>
            <a:endParaRPr lang="en-US" sz="3400" dirty="0"/>
          </a:p>
        </p:txBody>
      </p:sp>
      <p:sp>
        <p:nvSpPr>
          <p:cNvPr id="42" name="sl3"/>
          <p:cNvSpPr txBox="1"/>
          <p:nvPr/>
        </p:nvSpPr>
        <p:spPr>
          <a:xfrm>
            <a:off x="9178061" y="5669280"/>
            <a:ext cx="2464994" cy="274320"/>
          </a:xfrm>
          <a:prstGeom prst="rect">
            <a:avLst/>
          </a:prstGeom>
          <a:noFill/>
          <a:ln/>
        </p:spPr>
        <p:txBody>
          <a:bodyPr wrap="square" lIns="0" tIns="0" rIns="0" bIns="0" rtlCol="0" anchor="t"/>
          <a:lstStyle/>
          <a:p>
            <a:pPr algn="l" indent="0" marL="0">
              <a:buNone/>
            </a:pPr>
            <a:r>
              <a:rPr lang="en-US" sz="1300" dirty="0">
                <a:solidFill>
                  <a:srgbClr val="9AA7BC"/>
                </a:solidFill>
                <a:latin typeface="Calibri" pitchFamily="34" charset="0"/>
                <a:ea typeface="Calibri" pitchFamily="34" charset="-122"/>
                <a:cs typeface="Calibri" pitchFamily="34" charset="-120"/>
              </a:rPr>
              <a:t>of on-chain RWA trades</a:t>
            </a:r>
            <a:endParaRPr lang="en-US" sz="1300" dirty="0"/>
          </a:p>
        </p:txBody>
      </p:sp>
      <p:sp>
        <p:nvSpPr>
          <p:cNvPr id="43"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9AA7BC"/>
                </a:solidFill>
                <a:latin typeface="Calibri" pitchFamily="34" charset="0"/>
                <a:ea typeface="Calibri" pitchFamily="34" charset="-122"/>
                <a:cs typeface="Calibri" pitchFamily="34" charset="-120"/>
              </a:rPr>
              <a:t>Solana Foundation, Sep 2026 roundup · Allium via Hokanews (47%, 12 months to 18 Aug 2026)</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nodeType="withEffect">
                                  <p:stCondLst>
                                    <p:cond delay="30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10" presetClass="entr" presetSubtype="0" fill="hold" nodeType="withEffect">
                                  <p:stCondLst>
                                    <p:cond delay="32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600"/>
                                        <p:tgtEl>
                                          <p:spTgt spid="24"/>
                                        </p:tgtEl>
                                      </p:cBhvr>
                                    </p:animEffect>
                                  </p:childTnLst>
                                </p:cTn>
                              </p:par>
                              <p:par>
                                <p:cTn id="68" presetID="10" presetClass="entr" presetSubtype="0" fill="hold" nodeType="withEffect">
                                  <p:stCondLst>
                                    <p:cond delay="336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600"/>
                                        <p:tgtEl>
                                          <p:spTgt spid="25"/>
                                        </p:tgtEl>
                                      </p:cBhvr>
                                    </p:animEffect>
                                  </p:childTnLst>
                                </p:cTn>
                              </p:par>
                              <p:par>
                                <p:cTn id="71" presetID="10" presetClass="entr" presetSubtype="0" fill="hold" nodeType="withEffect">
                                  <p:stCondLst>
                                    <p:cond delay="35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10" presetClass="entr" presetSubtype="0" fill="hold" nodeType="withEffect">
                                  <p:stCondLst>
                                    <p:cond delay="36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par>
                                <p:cTn id="77" presetID="10" presetClass="entr" presetSubtype="0" fill="hold" nodeType="withEffect">
                                  <p:stCondLst>
                                    <p:cond delay="384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600"/>
                                        <p:tgtEl>
                                          <p:spTgt spid="28"/>
                                        </p:tgtEl>
                                      </p:cBhvr>
                                    </p:animEffect>
                                  </p:childTnLst>
                                </p:cTn>
                              </p:par>
                              <p:par>
                                <p:cTn id="80" presetID="10" presetClass="entr" presetSubtype="0" fill="hold" nodeType="withEffect">
                                  <p:stCondLst>
                                    <p:cond delay="4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600"/>
                                        <p:tgtEl>
                                          <p:spTgt spid="29"/>
                                        </p:tgtEl>
                                      </p:cBhvr>
                                    </p:animEffect>
                                  </p:childTnLst>
                                </p:cTn>
                              </p:par>
                              <p:par>
                                <p:cTn id="83" presetID="10" presetClass="entr" presetSubtype="0" fill="hold" nodeType="withEffect">
                                  <p:stCondLst>
                                    <p:cond delay="416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600"/>
                                        <p:tgtEl>
                                          <p:spTgt spid="30"/>
                                        </p:tgtEl>
                                      </p:cBhvr>
                                    </p:animEffect>
                                  </p:childTnLst>
                                </p:cTn>
                              </p:par>
                              <p:par>
                                <p:cTn id="86" presetID="10" presetClass="entr" presetSubtype="0" fill="hold" nodeType="withEffect">
                                  <p:stCondLst>
                                    <p:cond delay="432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600"/>
                                        <p:tgtEl>
                                          <p:spTgt spid="31"/>
                                        </p:tgtEl>
                                      </p:cBhvr>
                                    </p:animEffect>
                                  </p:childTnLst>
                                </p:cTn>
                              </p:par>
                              <p:par>
                                <p:cTn id="89" presetID="10" presetClass="entr" presetSubtype="0" fill="hold" nodeType="withEffect">
                                  <p:stCondLst>
                                    <p:cond delay="448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600"/>
                                        <p:tgtEl>
                                          <p:spTgt spid="32"/>
                                        </p:tgtEl>
                                      </p:cBhvr>
                                    </p:animEffect>
                                  </p:childTnLst>
                                </p:cTn>
                              </p:par>
                              <p:par>
                                <p:cTn id="92" presetID="10" presetClass="entr" presetSubtype="0" fill="hold" nodeType="withEffect">
                                  <p:stCondLst>
                                    <p:cond delay="464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600"/>
                                        <p:tgtEl>
                                          <p:spTgt spid="33"/>
                                        </p:tgtEl>
                                      </p:cBhvr>
                                    </p:animEffect>
                                  </p:childTnLst>
                                </p:cTn>
                              </p:par>
                              <p:par>
                                <p:cTn id="95" presetID="10" presetClass="entr" presetSubtype="0" fill="hold" nodeType="withEffect">
                                  <p:stCondLst>
                                    <p:cond delay="48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600"/>
                                        <p:tgtEl>
                                          <p:spTgt spid="34"/>
                                        </p:tgtEl>
                                      </p:cBhvr>
                                    </p:animEffect>
                                  </p:childTnLst>
                                </p:cTn>
                              </p:par>
                              <p:par>
                                <p:cTn id="98" presetID="10" presetClass="entr" presetSubtype="0" fill="hold" nodeType="withEffect">
                                  <p:stCondLst>
                                    <p:cond delay="496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600"/>
                                        <p:tgtEl>
                                          <p:spTgt spid="35"/>
                                        </p:tgtEl>
                                      </p:cBhvr>
                                    </p:animEffect>
                                  </p:childTnLst>
                                </p:cTn>
                              </p:par>
                              <p:par>
                                <p:cTn id="101" presetID="10" presetClass="entr" presetSubtype="0" fill="hold" nodeType="withEffect">
                                  <p:stCondLst>
                                    <p:cond delay="512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600"/>
                                        <p:tgtEl>
                                          <p:spTgt spid="36"/>
                                        </p:tgtEl>
                                      </p:cBhvr>
                                    </p:animEffect>
                                  </p:childTnLst>
                                </p:cTn>
                              </p:par>
                              <p:par>
                                <p:cTn id="104" presetID="10" presetClass="entr" presetSubtype="0" fill="hold" nodeType="withEffect">
                                  <p:stCondLst>
                                    <p:cond delay="528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600"/>
                                        <p:tgtEl>
                                          <p:spTgt spid="37"/>
                                        </p:tgtEl>
                                      </p:cBhvr>
                                    </p:animEffect>
                                  </p:childTnLst>
                                </p:cTn>
                              </p:par>
                              <p:par>
                                <p:cTn id="107" presetID="10" presetClass="entr" presetSubtype="0" fill="hold" nodeType="withEffect">
                                  <p:stCondLst>
                                    <p:cond delay="544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600"/>
                                        <p:tgtEl>
                                          <p:spTgt spid="38"/>
                                        </p:tgtEl>
                                      </p:cBhvr>
                                    </p:animEffect>
                                  </p:childTnLst>
                                </p:cTn>
                              </p:par>
                              <p:par>
                                <p:cTn id="110" presetID="10" presetClass="entr" presetSubtype="0" fill="hold" nodeType="withEffect">
                                  <p:stCondLst>
                                    <p:cond delay="56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600"/>
                                        <p:tgtEl>
                                          <p:spTgt spid="39"/>
                                        </p:tgtEl>
                                      </p:cBhvr>
                                    </p:animEffect>
                                  </p:childTnLst>
                                </p:cTn>
                              </p:par>
                              <p:par>
                                <p:cTn id="113" presetID="10" presetClass="entr" presetSubtype="0" fill="hold" nodeType="withEffect">
                                  <p:stCondLst>
                                    <p:cond delay="576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600"/>
                                        <p:tgtEl>
                                          <p:spTgt spid="40"/>
                                        </p:tgtEl>
                                      </p:cBhvr>
                                    </p:animEffect>
                                  </p:childTnLst>
                                </p:cTn>
                              </p:par>
                              <p:par>
                                <p:cTn id="116" presetID="10" presetClass="entr" presetSubtype="0" fill="hold" nodeType="withEffect">
                                  <p:stCondLst>
                                    <p:cond delay="592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600"/>
                                        <p:tgtEl>
                                          <p:spTgt spid="41"/>
                                        </p:tgtEl>
                                      </p:cBhvr>
                                    </p:animEffect>
                                  </p:childTnLst>
                                </p:cTn>
                              </p:par>
                              <p:par>
                                <p:cTn id="119" presetID="10" presetClass="entr" presetSubtype="0" fill="hold" nodeType="withEffect">
                                  <p:stCondLst>
                                    <p:cond delay="608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6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MARKET</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Tokenized assets are compounding, on Solana fastest</a:t>
            </a:r>
            <a:endParaRPr lang="en-US" sz="3600" dirty="0"/>
          </a:p>
        </p:txBody>
      </p:sp>
      <p:sp>
        <p:nvSpPr>
          <p:cNvPr id="4" name="c1bg"/>
          <p:cNvSpPr/>
          <p:nvPr/>
        </p:nvSpPr>
        <p:spPr>
          <a:xfrm>
            <a:off x="548640" y="1783080"/>
            <a:ext cx="4114800" cy="4343400"/>
          </a:xfrm>
          <a:prstGeom prst="roundRect">
            <a:avLst>
              <a:gd name="adj" fmla="val 4000"/>
            </a:avLst>
          </a:prstGeom>
          <a:solidFill>
            <a:srgbClr val="FFFFFF"/>
          </a:solidFill>
          <a:ln w="9525">
            <a:solidFill>
              <a:srgbClr val="E2E7EF"/>
            </a:solidFill>
            <a:prstDash val="solid"/>
          </a:ln>
        </p:spPr>
      </p:sp>
      <p:graphicFrame>
        <p:nvGraphicFramePr>
          <p:cNvPr id="5" name="rwa" descr=""/>
          <p:cNvGraphicFramePr/>
          <p:nvPr/>
        </p:nvGraphicFramePr>
        <p:xfrm>
          <a:off x="658368" y="1874520"/>
          <a:ext cx="3895344" cy="4160520"/>
        </p:xfrm>
        <a:graphic xmlns:a="http://schemas.openxmlformats.org/drawingml/2006/main">
          <a:graphicData uri="http://schemas.openxmlformats.org/drawingml/2006/chart">
            <c:chart xmlns:c="http://schemas.openxmlformats.org/drawingml/2006/chart" r:id="rId1"/>
          </a:graphicData>
        </a:graphic>
      </p:graphicFrame>
      <p:sp>
        <p:nvSpPr>
          <p:cNvPr id="6" name="c2bg"/>
          <p:cNvSpPr/>
          <p:nvPr/>
        </p:nvSpPr>
        <p:spPr>
          <a:xfrm>
            <a:off x="4892040" y="1783080"/>
            <a:ext cx="4114800" cy="4343400"/>
          </a:xfrm>
          <a:prstGeom prst="roundRect">
            <a:avLst>
              <a:gd name="adj" fmla="val 4000"/>
            </a:avLst>
          </a:prstGeom>
          <a:solidFill>
            <a:srgbClr val="FFFFFF"/>
          </a:solidFill>
          <a:ln w="9525">
            <a:solidFill>
              <a:srgbClr val="E2E7EF"/>
            </a:solidFill>
            <a:prstDash val="solid"/>
          </a:ln>
        </p:spPr>
      </p:sp>
      <p:graphicFrame>
        <p:nvGraphicFramePr>
          <p:cNvPr id="7" name="sol" descr=""/>
          <p:cNvGraphicFramePr/>
          <p:nvPr/>
        </p:nvGraphicFramePr>
        <p:xfrm>
          <a:off x="5001768" y="1874520"/>
          <a:ext cx="3895344" cy="4160520"/>
        </p:xfrm>
        <a:graphic xmlns:a="http://schemas.openxmlformats.org/drawingml/2006/main">
          <a:graphicData uri="http://schemas.openxmlformats.org/drawingml/2006/chart">
            <c:chart xmlns:c="http://schemas.openxmlformats.org/drawingml/2006/chart" r:id="rId2"/>
          </a:graphicData>
        </a:graphic>
      </p:graphicFrame>
      <p:sp>
        <p:nvSpPr>
          <p:cNvPr id="8" name="t0"/>
          <p:cNvSpPr/>
          <p:nvPr/>
        </p:nvSpPr>
        <p:spPr>
          <a:xfrm>
            <a:off x="9235440" y="1783080"/>
            <a:ext cx="2407615" cy="1371600"/>
          </a:xfrm>
          <a:prstGeom prst="roundRect">
            <a:avLst>
              <a:gd name="adj" fmla="val 10667"/>
            </a:avLst>
          </a:prstGeom>
          <a:solidFill>
            <a:srgbClr val="FFFFFF"/>
          </a:solidFill>
          <a:ln w="9525">
            <a:solidFill>
              <a:srgbClr val="E2E7EF"/>
            </a:solidFill>
            <a:prstDash val="solid"/>
          </a:ln>
        </p:spPr>
      </p:sp>
      <p:sp>
        <p:nvSpPr>
          <p:cNvPr id="9" name="tb0"/>
          <p:cNvSpPr txBox="1"/>
          <p:nvPr/>
        </p:nvSpPr>
        <p:spPr>
          <a:xfrm>
            <a:off x="9436608" y="1920240"/>
            <a:ext cx="2041855" cy="566928"/>
          </a:xfrm>
          <a:prstGeom prst="rect">
            <a:avLst/>
          </a:prstGeom>
          <a:noFill/>
          <a:ln/>
        </p:spPr>
        <p:txBody>
          <a:bodyPr wrap="square" lIns="0" tIns="0" rIns="0" bIns="0" rtlCol="0" anchor="t"/>
          <a:lstStyle/>
          <a:p>
            <a:pPr algn="l" indent="0" marL="0">
              <a:buNone/>
            </a:pPr>
            <a:r>
              <a:rPr lang="en-US" sz="3200" dirty="0">
                <a:solidFill>
                  <a:srgbClr val="0F1E3A"/>
                </a:solidFill>
                <a:latin typeface="Calibri Light" pitchFamily="34" charset="0"/>
                <a:ea typeface="Calibri Light" pitchFamily="34" charset="-122"/>
                <a:cs typeface="Calibri Light" pitchFamily="34" charset="-120"/>
              </a:rPr>
              <a:t>10M+</a:t>
            </a:r>
            <a:endParaRPr lang="en-US" sz="3200" dirty="0"/>
          </a:p>
        </p:txBody>
      </p:sp>
      <p:sp>
        <p:nvSpPr>
          <p:cNvPr id="10" name="tl0"/>
          <p:cNvSpPr txBox="1"/>
          <p:nvPr/>
        </p:nvSpPr>
        <p:spPr>
          <a:xfrm>
            <a:off x="9436608" y="2514600"/>
            <a:ext cx="2041855" cy="566928"/>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smallcase investors in manager-led baskets</a:t>
            </a:r>
            <a:endParaRPr lang="en-US" sz="1300" dirty="0"/>
          </a:p>
        </p:txBody>
      </p:sp>
      <p:sp>
        <p:nvSpPr>
          <p:cNvPr id="11" name="t1"/>
          <p:cNvSpPr/>
          <p:nvPr/>
        </p:nvSpPr>
        <p:spPr>
          <a:xfrm>
            <a:off x="9235440" y="3264408"/>
            <a:ext cx="2407615" cy="1371600"/>
          </a:xfrm>
          <a:prstGeom prst="roundRect">
            <a:avLst>
              <a:gd name="adj" fmla="val 10667"/>
            </a:avLst>
          </a:prstGeom>
          <a:solidFill>
            <a:srgbClr val="FFFFFF"/>
          </a:solidFill>
          <a:ln w="9525">
            <a:solidFill>
              <a:srgbClr val="E2E7EF"/>
            </a:solidFill>
            <a:prstDash val="solid"/>
          </a:ln>
        </p:spPr>
      </p:sp>
      <p:sp>
        <p:nvSpPr>
          <p:cNvPr id="12" name="tb1"/>
          <p:cNvSpPr txBox="1"/>
          <p:nvPr/>
        </p:nvSpPr>
        <p:spPr>
          <a:xfrm>
            <a:off x="9436608" y="3401568"/>
            <a:ext cx="2041855" cy="566928"/>
          </a:xfrm>
          <a:prstGeom prst="rect">
            <a:avLst/>
          </a:prstGeom>
          <a:noFill/>
          <a:ln/>
        </p:spPr>
        <p:txBody>
          <a:bodyPr wrap="square" lIns="0" tIns="0" rIns="0" bIns="0" rtlCol="0" anchor="t"/>
          <a:lstStyle/>
          <a:p>
            <a:pPr algn="l" indent="0" marL="0">
              <a:buNone/>
            </a:pPr>
            <a:r>
              <a:rPr lang="en-US" sz="3200" dirty="0">
                <a:solidFill>
                  <a:srgbClr val="0F1E3A"/>
                </a:solidFill>
                <a:latin typeface="Calibri Light" pitchFamily="34" charset="0"/>
                <a:ea typeface="Calibri Light" pitchFamily="34" charset="-122"/>
                <a:cs typeface="Calibri Light" pitchFamily="34" charset="-120"/>
              </a:rPr>
              <a:t>3.81M</a:t>
            </a:r>
            <a:endParaRPr lang="en-US" sz="3200" dirty="0"/>
          </a:p>
        </p:txBody>
      </p:sp>
      <p:sp>
        <p:nvSpPr>
          <p:cNvPr id="13" name="tl1"/>
          <p:cNvSpPr txBox="1"/>
          <p:nvPr/>
        </p:nvSpPr>
        <p:spPr>
          <a:xfrm>
            <a:off x="9436608" y="3995928"/>
            <a:ext cx="2041855" cy="566928"/>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eToro funded accounts; copy trading at a record high</a:t>
            </a:r>
            <a:endParaRPr lang="en-US" sz="1300" dirty="0"/>
          </a:p>
        </p:txBody>
      </p:sp>
      <p:sp>
        <p:nvSpPr>
          <p:cNvPr id="14" name="t2"/>
          <p:cNvSpPr/>
          <p:nvPr/>
        </p:nvSpPr>
        <p:spPr>
          <a:xfrm>
            <a:off x="9235440" y="4745736"/>
            <a:ext cx="2407615" cy="1371600"/>
          </a:xfrm>
          <a:prstGeom prst="roundRect">
            <a:avLst>
              <a:gd name="adj" fmla="val 10667"/>
            </a:avLst>
          </a:prstGeom>
          <a:solidFill>
            <a:srgbClr val="E8EEFC"/>
          </a:solidFill>
          <a:ln/>
        </p:spPr>
      </p:sp>
      <p:sp>
        <p:nvSpPr>
          <p:cNvPr id="15" name="tb2"/>
          <p:cNvSpPr txBox="1"/>
          <p:nvPr/>
        </p:nvSpPr>
        <p:spPr>
          <a:xfrm>
            <a:off x="9436608" y="4882896"/>
            <a:ext cx="2041855" cy="566928"/>
          </a:xfrm>
          <a:prstGeom prst="rect">
            <a:avLst/>
          </a:prstGeom>
          <a:noFill/>
          <a:ln/>
        </p:spPr>
        <p:txBody>
          <a:bodyPr wrap="square" lIns="0" tIns="0" rIns="0" bIns="0" rtlCol="0" anchor="t"/>
          <a:lstStyle/>
          <a:p>
            <a:pPr algn="l" indent="0" marL="0">
              <a:buNone/>
            </a:pPr>
            <a:r>
              <a:rPr lang="en-US" sz="3200" dirty="0">
                <a:solidFill>
                  <a:srgbClr val="0F1E3A"/>
                </a:solidFill>
                <a:latin typeface="Calibri Light" pitchFamily="34" charset="0"/>
                <a:ea typeface="Calibri Light" pitchFamily="34" charset="-122"/>
                <a:cs typeface="Calibri Light" pitchFamily="34" charset="-120"/>
              </a:rPr>
              <a:t>13.07M</a:t>
            </a:r>
            <a:endParaRPr lang="en-US" sz="3200" dirty="0"/>
          </a:p>
        </p:txBody>
      </p:sp>
      <p:sp>
        <p:nvSpPr>
          <p:cNvPr id="16" name="tl2"/>
          <p:cNvSpPr txBox="1"/>
          <p:nvPr/>
        </p:nvSpPr>
        <p:spPr>
          <a:xfrm>
            <a:off x="9436608" y="5477256"/>
            <a:ext cx="2041855" cy="566928"/>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Solana stablecoin wallets: our first market</a:t>
            </a:r>
            <a:endParaRPr lang="en-US" sz="1300" dirty="0"/>
          </a:p>
        </p:txBody>
      </p:sp>
      <p:sp>
        <p:nvSpPr>
          <p:cNvPr id="17"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rwa.xyz via KuCoin (9 Oct 2026), Investax Q1 2026, Cryptobriefing · Solana Foundation; Dec 2025 Solana figure from secondary reports · smallcase.com · eToro Q4 2025.</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16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32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nodeType="withEffect">
                                  <p:stCondLst>
                                    <p:cond delay="48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64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0" presetID="10" presetClass="entr" presetSubtype="0" fill="hold" nodeType="withEffect">
                                  <p:stCondLst>
                                    <p:cond delay="8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childTnLst>
                                </p:cTn>
                              </p:par>
                              <p:par>
                                <p:cTn id="23" presetID="10" presetClass="entr" presetSubtype="0" fill="hold" nodeType="withEffect">
                                  <p:stCondLst>
                                    <p:cond delay="96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600"/>
                                        <p:tgtEl>
                                          <p:spTgt spid="12"/>
                                        </p:tgtEl>
                                      </p:cBhvr>
                                    </p:animEffect>
                                  </p:childTnLst>
                                </p:cTn>
                              </p:par>
                              <p:par>
                                <p:cTn id="26" presetID="10" presetClass="entr" presetSubtype="0" fill="hold" nodeType="withEffect">
                                  <p:stCondLst>
                                    <p:cond delay="112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600"/>
                                        <p:tgtEl>
                                          <p:spTgt spid="13"/>
                                        </p:tgtEl>
                                      </p:cBhvr>
                                    </p:animEffect>
                                  </p:childTnLst>
                                </p:cTn>
                              </p:par>
                              <p:par>
                                <p:cTn id="29" presetID="10" presetClass="entr" presetSubtype="0" fill="hold" nodeType="withEffect">
                                  <p:stCondLst>
                                    <p:cond delay="128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600"/>
                                        <p:tgtEl>
                                          <p:spTgt spid="14"/>
                                        </p:tgtEl>
                                      </p:cBhvr>
                                    </p:animEffect>
                                  </p:childTnLst>
                                </p:cTn>
                              </p:par>
                              <p:par>
                                <p:cTn id="32" presetID="10" presetClass="entr" presetSubtype="0" fill="hold" nodeType="withEffect">
                                  <p:stCondLst>
                                    <p:cond delay="144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600"/>
                                        <p:tgtEl>
                                          <p:spTgt spid="15"/>
                                        </p:tgtEl>
                                      </p:cBhvr>
                                    </p:animEffect>
                                  </p:childTnLst>
                                </p:cTn>
                              </p:par>
                              <p:par>
                                <p:cTn id="35" presetID="10" presetClass="entr" presetSubtype="0" fill="hold" nodeType="withEffect">
                                  <p:stCondLst>
                                    <p:cond delay="16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BUSINESS MODEL AND TRACTION</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Revenue on every operation. Managers paid on chain.</a:t>
            </a:r>
            <a:endParaRPr lang="en-US" sz="3600" dirty="0"/>
          </a:p>
        </p:txBody>
      </p:sp>
      <p:sp>
        <p:nvSpPr>
          <p:cNvPr id="4" name="lbg"/>
          <p:cNvSpPr/>
          <p:nvPr/>
        </p:nvSpPr>
        <p:spPr>
          <a:xfrm>
            <a:off x="548640" y="1783080"/>
            <a:ext cx="4297680" cy="4389120"/>
          </a:xfrm>
          <a:prstGeom prst="roundRect">
            <a:avLst>
              <a:gd name="adj" fmla="val 4255"/>
            </a:avLst>
          </a:prstGeom>
          <a:solidFill>
            <a:srgbClr val="FFFFFF"/>
          </a:solidFill>
          <a:ln w="9525">
            <a:solidFill>
              <a:srgbClr val="E2E7EF"/>
            </a:solidFill>
            <a:prstDash val="solid"/>
          </a:ln>
        </p:spPr>
      </p:sp>
      <p:sp>
        <p:nvSpPr>
          <p:cNvPr id="5" name="lh"/>
          <p:cNvSpPr txBox="1"/>
          <p:nvPr/>
        </p:nvSpPr>
        <p:spPr>
          <a:xfrm>
            <a:off x="822960" y="1993392"/>
            <a:ext cx="27432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HOW MONEY FLOWS</a:t>
            </a:r>
            <a:endParaRPr lang="en-US" sz="1100" dirty="0"/>
          </a:p>
        </p:txBody>
      </p:sp>
      <p:sp>
        <p:nvSpPr>
          <p:cNvPr id="6" name="tx"/>
          <p:cNvSpPr/>
          <p:nvPr/>
        </p:nvSpPr>
        <p:spPr>
          <a:xfrm>
            <a:off x="822960" y="2377440"/>
            <a:ext cx="3749040" cy="566928"/>
          </a:xfrm>
          <a:prstGeom prst="roundRect">
            <a:avLst>
              <a:gd name="adj" fmla="val 19355"/>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One user-signed Solana transaction in USDC</a:t>
            </a:r>
            <a:endParaRPr lang="en-US" sz="1400" dirty="0"/>
          </a:p>
        </p:txBody>
      </p:sp>
      <p:sp>
        <p:nvSpPr>
          <p:cNvPr id="7" name="fl0"/>
          <p:cNvSpPr/>
          <p:nvPr/>
        </p:nvSpPr>
        <p:spPr>
          <a:xfrm>
            <a:off x="1051560" y="2944368"/>
            <a:ext cx="0" cy="576072"/>
          </a:xfrm>
          <a:prstGeom prst="line">
            <a:avLst/>
          </a:prstGeom>
          <a:noFill/>
          <a:ln w="15875">
            <a:solidFill>
              <a:srgbClr val="CBD3DF"/>
            </a:solidFill>
            <a:prstDash val="solid"/>
          </a:ln>
        </p:spPr>
      </p:sp>
      <p:sp>
        <p:nvSpPr>
          <p:cNvPr id="8" name="fh0"/>
          <p:cNvSpPr/>
          <p:nvPr/>
        </p:nvSpPr>
        <p:spPr>
          <a:xfrm>
            <a:off x="1051560" y="3520440"/>
            <a:ext cx="274320" cy="0"/>
          </a:xfrm>
          <a:prstGeom prst="line">
            <a:avLst/>
          </a:prstGeom>
          <a:noFill/>
          <a:ln w="15875">
            <a:solidFill>
              <a:srgbClr val="CBD3DF"/>
            </a:solidFill>
            <a:prstDash val="solid"/>
          </a:ln>
        </p:spPr>
      </p:sp>
      <p:sp>
        <p:nvSpPr>
          <p:cNvPr id="9" name="fr0"/>
          <p:cNvSpPr/>
          <p:nvPr/>
        </p:nvSpPr>
        <p:spPr>
          <a:xfrm>
            <a:off x="1371600" y="3246120"/>
            <a:ext cx="3200400" cy="548640"/>
          </a:xfrm>
          <a:prstGeom prst="roundRect">
            <a:avLst>
              <a:gd name="adj" fmla="val 16667"/>
            </a:avLst>
          </a:prstGeom>
          <a:solidFill>
            <a:srgbClr val="F6F8FB"/>
          </a:solidFill>
          <a:ln/>
        </p:spPr>
        <p:txBody>
          <a:bodyPr wrap="square" lIns="0" tIns="101600" rIns="101600" bIns="0" rtlCol="0" anchor="ctr"/>
          <a:lstStyle/>
          <a:p>
            <a:pPr algn="l" indent="0" marL="0">
              <a:buNone/>
            </a:pPr>
            <a:r>
              <a:rPr lang="en-US" sz="1400" b="1" dirty="0">
                <a:solidFill>
                  <a:srgbClr val="0F1E3A"/>
                </a:solidFill>
                <a:latin typeface="Calibri" pitchFamily="34" charset="0"/>
                <a:ea typeface="Calibri" pitchFamily="34" charset="-122"/>
                <a:cs typeface="Calibri" pitchFamily="34" charset="-120"/>
              </a:rPr>
              <a:t>Network cost</a:t>
            </a:r>
            <a:pPr algn="l" indent="0" marL="0">
              <a:buNone/>
            </a:pPr>
            <a:r>
              <a:rPr lang="en-US" sz="1400" dirty="0">
                <a:solidFill>
                  <a:srgbClr val="56627A"/>
                </a:solidFill>
                <a:latin typeface="Calibri" pitchFamily="34" charset="0"/>
                <a:ea typeface="Calibri" pitchFamily="34" charset="-122"/>
                <a:cs typeface="Calibri" pitchFamily="34" charset="-120"/>
              </a:rPr>
              <a:t>  to the gas treasury</a:t>
            </a:r>
            <a:endParaRPr lang="en-US" sz="1400" dirty="0"/>
          </a:p>
        </p:txBody>
      </p:sp>
      <p:sp>
        <p:nvSpPr>
          <p:cNvPr id="10" name="fl1"/>
          <p:cNvSpPr/>
          <p:nvPr/>
        </p:nvSpPr>
        <p:spPr>
          <a:xfrm>
            <a:off x="1051560" y="2944368"/>
            <a:ext cx="0" cy="1234440"/>
          </a:xfrm>
          <a:prstGeom prst="line">
            <a:avLst/>
          </a:prstGeom>
          <a:noFill/>
          <a:ln w="15875">
            <a:solidFill>
              <a:srgbClr val="CBD3DF"/>
            </a:solidFill>
            <a:prstDash val="solid"/>
          </a:ln>
        </p:spPr>
      </p:sp>
      <p:sp>
        <p:nvSpPr>
          <p:cNvPr id="11" name="fh1"/>
          <p:cNvSpPr/>
          <p:nvPr/>
        </p:nvSpPr>
        <p:spPr>
          <a:xfrm>
            <a:off x="1051560" y="4178808"/>
            <a:ext cx="274320" cy="0"/>
          </a:xfrm>
          <a:prstGeom prst="line">
            <a:avLst/>
          </a:prstGeom>
          <a:noFill/>
          <a:ln w="15875">
            <a:solidFill>
              <a:srgbClr val="CBD3DF"/>
            </a:solidFill>
            <a:prstDash val="solid"/>
          </a:ln>
        </p:spPr>
      </p:sp>
      <p:sp>
        <p:nvSpPr>
          <p:cNvPr id="12" name="fr1"/>
          <p:cNvSpPr/>
          <p:nvPr/>
        </p:nvSpPr>
        <p:spPr>
          <a:xfrm>
            <a:off x="1371600" y="3904488"/>
            <a:ext cx="3200400" cy="548640"/>
          </a:xfrm>
          <a:prstGeom prst="roundRect">
            <a:avLst>
              <a:gd name="adj" fmla="val 16667"/>
            </a:avLst>
          </a:prstGeom>
          <a:solidFill>
            <a:srgbClr val="F6F8FB"/>
          </a:solidFill>
          <a:ln/>
        </p:spPr>
        <p:txBody>
          <a:bodyPr wrap="square" lIns="0" tIns="101600" rIns="101600" bIns="0" rtlCol="0" anchor="ctr"/>
          <a:lstStyle/>
          <a:p>
            <a:pPr algn="l" indent="0" marL="0">
              <a:buNone/>
            </a:pPr>
            <a:r>
              <a:rPr lang="en-US" sz="1400" b="1" dirty="0">
                <a:solidFill>
                  <a:srgbClr val="0F1E3A"/>
                </a:solidFill>
                <a:latin typeface="Calibri" pitchFamily="34" charset="0"/>
                <a:ea typeface="Calibri" pitchFamily="34" charset="-122"/>
                <a:cs typeface="Calibri" pitchFamily="34" charset="-120"/>
              </a:rPr>
              <a:t>Manager fee</a:t>
            </a:r>
            <a:pPr algn="l" indent="0" marL="0">
              <a:buNone/>
            </a:pPr>
            <a:r>
              <a:rPr lang="en-US" sz="1400" dirty="0">
                <a:solidFill>
                  <a:srgbClr val="56627A"/>
                </a:solidFill>
                <a:latin typeface="Calibri" pitchFamily="34" charset="0"/>
                <a:ea typeface="Calibri" pitchFamily="34" charset="-122"/>
                <a:cs typeface="Calibri" pitchFamily="34" charset="-120"/>
              </a:rPr>
              <a:t>  to their verified payout wallet</a:t>
            </a:r>
            <a:endParaRPr lang="en-US" sz="1400" dirty="0"/>
          </a:p>
        </p:txBody>
      </p:sp>
      <p:sp>
        <p:nvSpPr>
          <p:cNvPr id="13" name="fl2"/>
          <p:cNvSpPr/>
          <p:nvPr/>
        </p:nvSpPr>
        <p:spPr>
          <a:xfrm>
            <a:off x="1051560" y="2944368"/>
            <a:ext cx="0" cy="1892808"/>
          </a:xfrm>
          <a:prstGeom prst="line">
            <a:avLst/>
          </a:prstGeom>
          <a:noFill/>
          <a:ln w="15875">
            <a:solidFill>
              <a:srgbClr val="CBD3DF"/>
            </a:solidFill>
            <a:prstDash val="solid"/>
          </a:ln>
        </p:spPr>
      </p:sp>
      <p:sp>
        <p:nvSpPr>
          <p:cNvPr id="14" name="fh2"/>
          <p:cNvSpPr/>
          <p:nvPr/>
        </p:nvSpPr>
        <p:spPr>
          <a:xfrm>
            <a:off x="1051560" y="4837176"/>
            <a:ext cx="274320" cy="0"/>
          </a:xfrm>
          <a:prstGeom prst="line">
            <a:avLst/>
          </a:prstGeom>
          <a:noFill/>
          <a:ln w="15875">
            <a:solidFill>
              <a:srgbClr val="CBD3DF"/>
            </a:solidFill>
            <a:prstDash val="solid"/>
          </a:ln>
        </p:spPr>
      </p:sp>
      <p:sp>
        <p:nvSpPr>
          <p:cNvPr id="15" name="fr2"/>
          <p:cNvSpPr/>
          <p:nvPr/>
        </p:nvSpPr>
        <p:spPr>
          <a:xfrm>
            <a:off x="1371600" y="4562856"/>
            <a:ext cx="3200400" cy="548640"/>
          </a:xfrm>
          <a:prstGeom prst="roundRect">
            <a:avLst>
              <a:gd name="adj" fmla="val 16667"/>
            </a:avLst>
          </a:prstGeom>
          <a:solidFill>
            <a:srgbClr val="F6F8FB"/>
          </a:solidFill>
          <a:ln/>
        </p:spPr>
        <p:txBody>
          <a:bodyPr wrap="square" lIns="0" tIns="101600" rIns="101600" bIns="0" rtlCol="0" anchor="ctr"/>
          <a:lstStyle/>
          <a:p>
            <a:pPr algn="l" indent="0" marL="0">
              <a:buNone/>
            </a:pPr>
            <a:r>
              <a:rPr lang="en-US" sz="1400" b="1" dirty="0">
                <a:solidFill>
                  <a:srgbClr val="0F1E3A"/>
                </a:solidFill>
                <a:latin typeface="Calibri" pitchFamily="34" charset="0"/>
                <a:ea typeface="Calibri" pitchFamily="34" charset="-122"/>
                <a:cs typeface="Calibri" pitchFamily="34" charset="-120"/>
              </a:rPr>
              <a:t>Platform fee</a:t>
            </a:r>
            <a:pPr algn="l" indent="0" marL="0">
              <a:buNone/>
            </a:pPr>
            <a:r>
              <a:rPr lang="en-US" sz="1400" dirty="0">
                <a:solidFill>
                  <a:srgbClr val="56627A"/>
                </a:solidFill>
                <a:latin typeface="Calibri" pitchFamily="34" charset="0"/>
                <a:ea typeface="Calibri" pitchFamily="34" charset="-122"/>
                <a:cs typeface="Calibri" pitchFamily="34" charset="-120"/>
              </a:rPr>
              <a:t>  to Bytesac revenue</a:t>
            </a:r>
            <a:endParaRPr lang="en-US" sz="1400" dirty="0"/>
          </a:p>
        </p:txBody>
      </p:sp>
      <p:sp>
        <p:nvSpPr>
          <p:cNvPr id="16" name="lnote"/>
          <p:cNvSpPr txBox="1"/>
          <p:nvPr/>
        </p:nvSpPr>
        <p:spPr>
          <a:xfrm>
            <a:off x="822960" y="5257800"/>
            <a:ext cx="3749040" cy="77724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Managers set entry and rebalance fees, capped at 1%. Bytesac never holds manager money. Later: management fees and subscriptions.</a:t>
            </a:r>
            <a:endParaRPr lang="en-US" sz="1300" dirty="0"/>
          </a:p>
        </p:txBody>
      </p:sp>
      <p:sp>
        <p:nvSpPr>
          <p:cNvPr id="17" name="gh"/>
          <p:cNvSpPr txBox="1"/>
          <p:nvPr/>
        </p:nvSpPr>
        <p:spPr>
          <a:xfrm>
            <a:off x="5120640" y="1993392"/>
            <a:ext cx="3291840" cy="256032"/>
          </a:xfrm>
          <a:prstGeom prst="rect">
            <a:avLst/>
          </a:prstGeom>
          <a:noFill/>
          <a:ln/>
        </p:spPr>
        <p:txBody>
          <a:bodyPr wrap="square" lIns="0" tIns="0" rIns="0" bIns="0" rtlCol="0" anchor="t"/>
          <a:lstStyle/>
          <a:p>
            <a:pPr algn="ctr" indent="0" marL="0">
              <a:buNone/>
            </a:pPr>
            <a:r>
              <a:rPr lang="en-US" sz="1100" b="1" spc="200" kern="0" dirty="0">
                <a:solidFill>
                  <a:srgbClr val="3D63D9"/>
                </a:solidFill>
                <a:latin typeface="Calibri" pitchFamily="34" charset="0"/>
                <a:ea typeface="Calibri" pitchFamily="34" charset="-122"/>
                <a:cs typeface="Calibri" pitchFamily="34" charset="-120"/>
              </a:rPr>
              <a:t>GROWTH LOOP</a:t>
            </a:r>
            <a:endParaRPr lang="en-US" sz="1100" dirty="0"/>
          </a:p>
        </p:txBody>
      </p:sp>
      <p:sp>
        <p:nvSpPr>
          <p:cNvPr id="18" name="wheel"/>
          <p:cNvSpPr/>
          <p:nvPr/>
        </p:nvSpPr>
        <p:spPr>
          <a:xfrm>
            <a:off x="5623560" y="2743200"/>
            <a:ext cx="2286000" cy="2286000"/>
          </a:xfrm>
          <a:prstGeom prst="ellipse">
            <a:avLst/>
          </a:prstGeom>
          <a:ln w="25400">
            <a:solidFill>
              <a:srgbClr val="3D63D9"/>
            </a:solidFill>
            <a:prstDash val="solid"/>
          </a:ln>
        </p:spPr>
      </p:sp>
      <p:sp>
        <p:nvSpPr>
          <p:cNvPr id="19" name="wn0"/>
          <p:cNvSpPr/>
          <p:nvPr/>
        </p:nvSpPr>
        <p:spPr>
          <a:xfrm>
            <a:off x="6035040" y="2551176"/>
            <a:ext cx="1463040" cy="384048"/>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b="1" dirty="0">
                <a:solidFill>
                  <a:srgbClr val="0F1E3A"/>
                </a:solidFill>
                <a:latin typeface="Calibri" pitchFamily="34" charset="0"/>
                <a:ea typeface="Calibri" pitchFamily="34" charset="-122"/>
                <a:cs typeface="Calibri" pitchFamily="34" charset="-120"/>
              </a:rPr>
              <a:t>Verified managers</a:t>
            </a:r>
            <a:endParaRPr lang="en-US" sz="1300" dirty="0"/>
          </a:p>
        </p:txBody>
      </p:sp>
      <p:sp>
        <p:nvSpPr>
          <p:cNvPr id="20" name="wn1"/>
          <p:cNvSpPr/>
          <p:nvPr/>
        </p:nvSpPr>
        <p:spPr>
          <a:xfrm>
            <a:off x="7178040" y="3694176"/>
            <a:ext cx="1463040" cy="384048"/>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b="1" dirty="0">
                <a:solidFill>
                  <a:srgbClr val="0F1E3A"/>
                </a:solidFill>
                <a:latin typeface="Calibri" pitchFamily="34" charset="0"/>
                <a:ea typeface="Calibri" pitchFamily="34" charset="-122"/>
                <a:cs typeface="Calibri" pitchFamily="34" charset="-120"/>
              </a:rPr>
              <a:t>Their audiences</a:t>
            </a:r>
            <a:endParaRPr lang="en-US" sz="1300" dirty="0"/>
          </a:p>
        </p:txBody>
      </p:sp>
      <p:sp>
        <p:nvSpPr>
          <p:cNvPr id="21" name="wn2"/>
          <p:cNvSpPr/>
          <p:nvPr/>
        </p:nvSpPr>
        <p:spPr>
          <a:xfrm>
            <a:off x="6035040" y="4837176"/>
            <a:ext cx="1463040" cy="384048"/>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b="1" dirty="0">
                <a:solidFill>
                  <a:srgbClr val="0F1E3A"/>
                </a:solidFill>
                <a:latin typeface="Calibri" pitchFamily="34" charset="0"/>
                <a:ea typeface="Calibri" pitchFamily="34" charset="-122"/>
                <a:cs typeface="Calibri" pitchFamily="34" charset="-120"/>
              </a:rPr>
              <a:t>Investors</a:t>
            </a:r>
            <a:endParaRPr lang="en-US" sz="1300" dirty="0"/>
          </a:p>
        </p:txBody>
      </p:sp>
      <p:sp>
        <p:nvSpPr>
          <p:cNvPr id="22" name="wn3"/>
          <p:cNvSpPr/>
          <p:nvPr/>
        </p:nvSpPr>
        <p:spPr>
          <a:xfrm>
            <a:off x="4892040" y="3694176"/>
            <a:ext cx="1463040" cy="384048"/>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b="1" dirty="0">
                <a:solidFill>
                  <a:srgbClr val="0F1E3A"/>
                </a:solidFill>
                <a:latin typeface="Calibri" pitchFamily="34" charset="0"/>
                <a:ea typeface="Calibri" pitchFamily="34" charset="-122"/>
                <a:cs typeface="Calibri" pitchFamily="34" charset="-120"/>
              </a:rPr>
              <a:t>Fees + data</a:t>
            </a:r>
            <a:endParaRPr lang="en-US" sz="1300" dirty="0"/>
          </a:p>
        </p:txBody>
      </p:sp>
      <p:sp>
        <p:nvSpPr>
          <p:cNvPr id="23" name="gnote"/>
          <p:cNvSpPr txBox="1"/>
          <p:nvPr/>
        </p:nvSpPr>
        <p:spPr>
          <a:xfrm>
            <a:off x="5120640" y="5349240"/>
            <a:ext cx="3291840" cy="640080"/>
          </a:xfrm>
          <a:prstGeom prst="rect">
            <a:avLst/>
          </a:prstGeom>
          <a:noFill/>
          <a:ln/>
        </p:spPr>
        <p:txBody>
          <a:bodyPr wrap="square" lIns="0" tIns="0" rIns="0" bIns="0" rtlCol="0" anchor="t"/>
          <a:lstStyle/>
          <a:p>
            <a:pPr algn="ctr" indent="0" marL="0">
              <a:buNone/>
            </a:pPr>
            <a:r>
              <a:rPr lang="en-US" sz="1300" dirty="0">
                <a:solidFill>
                  <a:srgbClr val="56627A"/>
                </a:solidFill>
                <a:latin typeface="Calibri" pitchFamily="34" charset="0"/>
                <a:ea typeface="Calibri" pitchFamily="34" charset="-122"/>
                <a:cs typeface="Calibri" pitchFamily="34" charset="-120"/>
              </a:rPr>
              <a:t>Managers bring their audiences; investor adoption and fees bring more managers.</a:t>
            </a:r>
            <a:endParaRPr lang="en-US" sz="1300" dirty="0"/>
          </a:p>
        </p:txBody>
      </p:sp>
      <p:sp>
        <p:nvSpPr>
          <p:cNvPr id="24" name="rbg"/>
          <p:cNvSpPr/>
          <p:nvPr/>
        </p:nvSpPr>
        <p:spPr>
          <a:xfrm>
            <a:off x="8686800" y="1783080"/>
            <a:ext cx="2956255" cy="4389120"/>
          </a:xfrm>
          <a:prstGeom prst="roundRect">
            <a:avLst>
              <a:gd name="adj" fmla="val 6186"/>
            </a:avLst>
          </a:prstGeom>
          <a:solidFill>
            <a:srgbClr val="FFFFFF"/>
          </a:solidFill>
          <a:ln w="9525">
            <a:solidFill>
              <a:srgbClr val="E2E7EF"/>
            </a:solidFill>
            <a:prstDash val="solid"/>
          </a:ln>
        </p:spPr>
      </p:sp>
      <p:sp>
        <p:nvSpPr>
          <p:cNvPr id="25" name="rh"/>
          <p:cNvSpPr txBox="1"/>
          <p:nvPr/>
        </p:nvSpPr>
        <p:spPr>
          <a:xfrm>
            <a:off x="8961120" y="1993392"/>
            <a:ext cx="27432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TRACTION</a:t>
            </a:r>
            <a:endParaRPr lang="en-US" sz="1100" dirty="0"/>
          </a:p>
        </p:txBody>
      </p:sp>
      <p:pic>
        <p:nvPicPr>
          <p:cNvPr id="26" name="tk0" descr="preencoded.png">    </p:cNvPr>
          <p:cNvPicPr>
            <a:picLocks noChangeAspect="1"/>
          </p:cNvPicPr>
          <p:nvPr/>
        </p:nvPicPr>
        <p:blipFill>
          <a:blip r:embed="rId1"/>
          <a:stretch>
            <a:fillRect/>
          </a:stretch>
        </p:blipFill>
        <p:spPr>
          <a:xfrm>
            <a:off x="8961120" y="2450592"/>
            <a:ext cx="219456" cy="219456"/>
          </a:xfrm>
          <a:prstGeom prst="rect">
            <a:avLst/>
          </a:prstGeom>
        </p:spPr>
      </p:pic>
      <p:sp>
        <p:nvSpPr>
          <p:cNvPr id="27" name="tt0"/>
          <p:cNvSpPr txBox="1"/>
          <p:nvPr/>
        </p:nvSpPr>
        <p:spPr>
          <a:xfrm>
            <a:off x="9281160" y="2395728"/>
            <a:ext cx="2133295" cy="457200"/>
          </a:xfrm>
          <a:prstGeom prst="rect">
            <a:avLst/>
          </a:prstGeom>
          <a:noFill/>
          <a:ln/>
        </p:spPr>
        <p:txBody>
          <a:bodyPr wrap="square" lIns="0" tIns="0" rIns="0" bIns="0" rtlCol="0" anchor="t"/>
          <a:lstStyle/>
          <a:p>
            <a:pPr algn="l" indent="0" marL="0">
              <a:buNone/>
            </a:pPr>
            <a:r>
              <a:rPr lang="en-US" sz="1400" dirty="0">
                <a:solidFill>
                  <a:srgbClr val="0F1E3A"/>
                </a:solidFill>
                <a:latin typeface="Calibri" pitchFamily="34" charset="0"/>
                <a:ea typeface="Calibri" pitchFamily="34" charset="-122"/>
                <a:cs typeface="Calibri" pitchFamily="34" charset="-120"/>
              </a:rPr>
              <a:t>Web and Android apps built end to end</a:t>
            </a:r>
            <a:endParaRPr lang="en-US" sz="1400" dirty="0"/>
          </a:p>
        </p:txBody>
      </p:sp>
      <p:pic>
        <p:nvPicPr>
          <p:cNvPr id="28" name="tk1" descr="preencoded.png">    </p:cNvPr>
          <p:cNvPicPr>
            <a:picLocks noChangeAspect="1"/>
          </p:cNvPicPr>
          <p:nvPr/>
        </p:nvPicPr>
        <p:blipFill>
          <a:blip r:embed="rId2"/>
          <a:stretch>
            <a:fillRect/>
          </a:stretch>
        </p:blipFill>
        <p:spPr>
          <a:xfrm>
            <a:off x="8961120" y="2953512"/>
            <a:ext cx="219456" cy="219456"/>
          </a:xfrm>
          <a:prstGeom prst="rect">
            <a:avLst/>
          </a:prstGeom>
        </p:spPr>
      </p:pic>
      <p:sp>
        <p:nvSpPr>
          <p:cNvPr id="29" name="tt1"/>
          <p:cNvSpPr txBox="1"/>
          <p:nvPr/>
        </p:nvSpPr>
        <p:spPr>
          <a:xfrm>
            <a:off x="9281160" y="2898648"/>
            <a:ext cx="2133295" cy="457200"/>
          </a:xfrm>
          <a:prstGeom prst="rect">
            <a:avLst/>
          </a:prstGeom>
          <a:noFill/>
          <a:ln/>
        </p:spPr>
        <p:txBody>
          <a:bodyPr wrap="square" lIns="0" tIns="0" rIns="0" bIns="0" rtlCol="0" anchor="t"/>
          <a:lstStyle/>
          <a:p>
            <a:pPr algn="l" indent="0" marL="0">
              <a:buNone/>
            </a:pPr>
            <a:r>
              <a:rPr lang="en-US" sz="1400" dirty="0">
                <a:solidFill>
                  <a:srgbClr val="0F1E3A"/>
                </a:solidFill>
                <a:latin typeface="Calibri" pitchFamily="34" charset="0"/>
                <a:ea typeface="Calibri" pitchFamily="34" charset="-122"/>
                <a:cs typeface="Calibri" pitchFamily="34" charset="-120"/>
              </a:rPr>
              <a:t>Invest, rebalance, drift repair, exits</a:t>
            </a:r>
            <a:endParaRPr lang="en-US" sz="1400" dirty="0"/>
          </a:p>
        </p:txBody>
      </p:sp>
      <p:pic>
        <p:nvPicPr>
          <p:cNvPr id="30" name="tk2" descr="preencoded.png">    </p:cNvPr>
          <p:cNvPicPr>
            <a:picLocks noChangeAspect="1"/>
          </p:cNvPicPr>
          <p:nvPr/>
        </p:nvPicPr>
        <p:blipFill>
          <a:blip r:embed="rId3"/>
          <a:stretch>
            <a:fillRect/>
          </a:stretch>
        </p:blipFill>
        <p:spPr>
          <a:xfrm>
            <a:off x="8961120" y="3456432"/>
            <a:ext cx="219456" cy="219456"/>
          </a:xfrm>
          <a:prstGeom prst="rect">
            <a:avLst/>
          </a:prstGeom>
        </p:spPr>
      </p:pic>
      <p:sp>
        <p:nvSpPr>
          <p:cNvPr id="31" name="tt2"/>
          <p:cNvSpPr txBox="1"/>
          <p:nvPr/>
        </p:nvSpPr>
        <p:spPr>
          <a:xfrm>
            <a:off x="9281160" y="3401568"/>
            <a:ext cx="2133295" cy="457200"/>
          </a:xfrm>
          <a:prstGeom prst="rect">
            <a:avLst/>
          </a:prstGeom>
          <a:noFill/>
          <a:ln/>
        </p:spPr>
        <p:txBody>
          <a:bodyPr wrap="square" lIns="0" tIns="0" rIns="0" bIns="0" rtlCol="0" anchor="t"/>
          <a:lstStyle/>
          <a:p>
            <a:pPr algn="l" indent="0" marL="0">
              <a:buNone/>
            </a:pPr>
            <a:r>
              <a:rPr lang="en-US" sz="1400" dirty="0">
                <a:solidFill>
                  <a:srgbClr val="0F1E3A"/>
                </a:solidFill>
                <a:latin typeface="Calibri" pitchFamily="34" charset="0"/>
                <a:ea typeface="Calibri" pitchFamily="34" charset="-122"/>
                <a:cs typeface="Calibri" pitchFamily="34" charset="-120"/>
              </a:rPr>
              <a:t>Fees paid on chain to managers</a:t>
            </a:r>
            <a:endParaRPr lang="en-US" sz="1400" dirty="0"/>
          </a:p>
        </p:txBody>
      </p:sp>
      <p:pic>
        <p:nvPicPr>
          <p:cNvPr id="32" name="tk3" descr="preencoded.png">    </p:cNvPr>
          <p:cNvPicPr>
            <a:picLocks noChangeAspect="1"/>
          </p:cNvPicPr>
          <p:nvPr/>
        </p:nvPicPr>
        <p:blipFill>
          <a:blip r:embed="rId4"/>
          <a:stretch>
            <a:fillRect/>
          </a:stretch>
        </p:blipFill>
        <p:spPr>
          <a:xfrm>
            <a:off x="8961120" y="3959352"/>
            <a:ext cx="219456" cy="219456"/>
          </a:xfrm>
          <a:prstGeom prst="rect">
            <a:avLst/>
          </a:prstGeom>
        </p:spPr>
      </p:pic>
      <p:sp>
        <p:nvSpPr>
          <p:cNvPr id="33" name="tt3"/>
          <p:cNvSpPr txBox="1"/>
          <p:nvPr/>
        </p:nvSpPr>
        <p:spPr>
          <a:xfrm>
            <a:off x="9281160" y="3904488"/>
            <a:ext cx="2133295" cy="457200"/>
          </a:xfrm>
          <a:prstGeom prst="rect">
            <a:avLst/>
          </a:prstGeom>
          <a:noFill/>
          <a:ln/>
        </p:spPr>
        <p:txBody>
          <a:bodyPr wrap="square" lIns="0" tIns="0" rIns="0" bIns="0" rtlCol="0" anchor="t"/>
          <a:lstStyle/>
          <a:p>
            <a:pPr algn="l" indent="0" marL="0">
              <a:buNone/>
            </a:pPr>
            <a:r>
              <a:rPr lang="en-US" sz="1400" dirty="0">
                <a:solidFill>
                  <a:srgbClr val="0F1E3A"/>
                </a:solidFill>
                <a:latin typeface="Calibri" pitchFamily="34" charset="0"/>
                <a:ea typeface="Calibri" pitchFamily="34" charset="-122"/>
                <a:cs typeface="Calibri" pitchFamily="34" charset="-120"/>
              </a:rPr>
              <a:t>Eligibility engine for tokenized assets</a:t>
            </a:r>
            <a:endParaRPr lang="en-US" sz="1400" dirty="0"/>
          </a:p>
        </p:txBody>
      </p:sp>
      <p:sp>
        <p:nvSpPr>
          <p:cNvPr id="34" name="need"/>
          <p:cNvSpPr/>
          <p:nvPr/>
        </p:nvSpPr>
        <p:spPr>
          <a:xfrm>
            <a:off x="8961120" y="4526280"/>
            <a:ext cx="2407615" cy="1371600"/>
          </a:xfrm>
          <a:prstGeom prst="roundRect">
            <a:avLst>
              <a:gd name="adj" fmla="val 8000"/>
            </a:avLst>
          </a:prstGeom>
          <a:solidFill>
            <a:srgbClr val="FFF3D6"/>
          </a:solidFill>
          <a:ln/>
        </p:spPr>
        <p:txBody>
          <a:bodyPr wrap="square" lIns="101600" tIns="127000" rIns="127000" bIns="101600" rtlCol="0" anchor="t"/>
          <a:lstStyle/>
          <a:p>
            <a:pPr algn="l" indent="0" marL="0">
              <a:buNone/>
            </a:pPr>
            <a:r>
              <a:rPr lang="en-US" sz="1100" b="1" dirty="0">
                <a:solidFill>
                  <a:srgbClr val="8A5A00"/>
                </a:solidFill>
                <a:latin typeface="Calibri" pitchFamily="34" charset="0"/>
                <a:ea typeface="Calibri" pitchFamily="34" charset="-122"/>
                <a:cs typeface="Calibri" pitchFamily="34" charset="-120"/>
              </a:rPr>
              <a:t>ADD BEFORE SENDING</a:t>
            </a:r>
            <a:endParaRPr lang="en-US" sz="1400" dirty="0"/>
          </a:p>
          <a:p>
            <a:pPr algn="l" indent="0" marL="0">
              <a:buNone/>
            </a:pPr>
            <a:r>
              <a:rPr lang="en-US" sz="1300" dirty="0">
                <a:solidFill>
                  <a:srgbClr val="8A5A00"/>
                </a:solidFill>
                <a:latin typeface="Calibri" pitchFamily="34" charset="0"/>
                <a:ea typeface="Calibri" pitchFamily="34" charset="-122"/>
                <a:cs typeface="Calibri" pitchFamily="34" charset="-120"/>
              </a:rPr>
              <a:t>Waitlist size · manager letters of intent · user interviews · pilot numbers</a:t>
            </a:r>
            <a:endParaRPr lang="en-US" sz="1400" dirty="0"/>
          </a:p>
        </p:txBody>
      </p:sp>
      <p:sp>
        <p:nvSpPr>
          <p:cNvPr id="35"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Fee mechanics: ADR-016. Platform fee rates are set by ops and not final.</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10" presetClass="entr" presetSubtype="0" fill="hold" nodeType="withEffect">
                                  <p:stCondLst>
                                    <p:cond delay="64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00"/>
                                        <p:tgtEl>
                                          <p:spTgt spid="12"/>
                                        </p:tgtEl>
                                      </p:cBhvr>
                                    </p:animEffect>
                                  </p:childTnLst>
                                </p:cTn>
                              </p:par>
                              <p:par>
                                <p:cTn id="20" presetID="10" presetClass="entr" presetSubtype="0" fill="hold" nodeType="withEffect">
                                  <p:stCondLst>
                                    <p:cond delay="80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600"/>
                                        <p:tgtEl>
                                          <p:spTgt spid="15"/>
                                        </p:tgtEl>
                                      </p:cBhvr>
                                    </p:animEffect>
                                  </p:childTnLst>
                                </p:cTn>
                              </p:par>
                              <p:par>
                                <p:cTn id="23" presetID="10" presetClass="entr" presetSubtype="0" fill="hold" nodeType="withEffect">
                                  <p:stCondLst>
                                    <p:cond delay="96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600"/>
                                        <p:tgtEl>
                                          <p:spTgt spid="16"/>
                                        </p:tgtEl>
                                      </p:cBhvr>
                                    </p:animEffect>
                                  </p:childTnLst>
                                </p:cTn>
                              </p:par>
                              <p:par>
                                <p:cTn id="26" presetID="10" presetClass="entr" presetSubtype="0" fill="hold" nodeType="withEffect">
                                  <p:stCondLst>
                                    <p:cond delay="112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600"/>
                                        <p:tgtEl>
                                          <p:spTgt spid="17"/>
                                        </p:tgtEl>
                                      </p:cBhvr>
                                    </p:animEffect>
                                  </p:childTnLst>
                                </p:cTn>
                              </p:par>
                              <p:par>
                                <p:cTn id="29" presetID="10" presetClass="entr" presetSubtype="0" fill="hold" nodeType="withEffect">
                                  <p:stCondLst>
                                    <p:cond delay="128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600"/>
                                        <p:tgtEl>
                                          <p:spTgt spid="18"/>
                                        </p:tgtEl>
                                      </p:cBhvr>
                                    </p:animEffect>
                                  </p:childTnLst>
                                </p:cTn>
                              </p:par>
                              <p:par>
                                <p:cTn id="32" presetID="10" presetClass="entr" presetSubtype="0" fill="hold" nodeType="withEffect">
                                  <p:stCondLst>
                                    <p:cond delay="144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600"/>
                                        <p:tgtEl>
                                          <p:spTgt spid="19"/>
                                        </p:tgtEl>
                                      </p:cBhvr>
                                    </p:animEffect>
                                  </p:childTnLst>
                                </p:cTn>
                              </p:par>
                              <p:par>
                                <p:cTn id="35" presetID="10" presetClass="entr" presetSubtype="0" fill="hold" nodeType="withEffect">
                                  <p:stCondLst>
                                    <p:cond delay="16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600"/>
                                        <p:tgtEl>
                                          <p:spTgt spid="20"/>
                                        </p:tgtEl>
                                      </p:cBhvr>
                                    </p:animEffect>
                                  </p:childTnLst>
                                </p:cTn>
                              </p:par>
                              <p:par>
                                <p:cTn id="38" presetID="10" presetClass="entr" presetSubtype="0" fill="hold" nodeType="withEffect">
                                  <p:stCondLst>
                                    <p:cond delay="176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600"/>
                                        <p:tgtEl>
                                          <p:spTgt spid="21"/>
                                        </p:tgtEl>
                                      </p:cBhvr>
                                    </p:animEffect>
                                  </p:childTnLst>
                                </p:cTn>
                              </p:par>
                              <p:par>
                                <p:cTn id="41" presetID="10" presetClass="entr" presetSubtype="0" fill="hold" nodeType="withEffect">
                                  <p:stCondLst>
                                    <p:cond delay="192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00"/>
                                        <p:tgtEl>
                                          <p:spTgt spid="22"/>
                                        </p:tgtEl>
                                      </p:cBhvr>
                                    </p:animEffect>
                                  </p:childTnLst>
                                </p:cTn>
                              </p:par>
                              <p:par>
                                <p:cTn id="44" presetID="10" presetClass="entr" presetSubtype="0" fill="hold" nodeType="withEffect">
                                  <p:stCondLst>
                                    <p:cond delay="208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600"/>
                                        <p:tgtEl>
                                          <p:spTgt spid="23"/>
                                        </p:tgtEl>
                                      </p:cBhvr>
                                    </p:animEffect>
                                  </p:childTnLst>
                                </p:cTn>
                              </p:par>
                              <p:par>
                                <p:cTn id="47" presetID="10" presetClass="entr" presetSubtype="0" fill="hold" nodeType="withEffect">
                                  <p:stCondLst>
                                    <p:cond delay="224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600"/>
                                        <p:tgtEl>
                                          <p:spTgt spid="24"/>
                                        </p:tgtEl>
                                      </p:cBhvr>
                                    </p:animEffect>
                                  </p:childTnLst>
                                </p:cTn>
                              </p:par>
                              <p:par>
                                <p:cTn id="50" presetID="10" presetClass="entr" presetSubtype="0" fill="hold" nodeType="withEffect">
                                  <p:stCondLst>
                                    <p:cond delay="240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600"/>
                                        <p:tgtEl>
                                          <p:spTgt spid="25"/>
                                        </p:tgtEl>
                                      </p:cBhvr>
                                    </p:animEffect>
                                  </p:childTnLst>
                                </p:cTn>
                              </p:par>
                              <p:par>
                                <p:cTn id="53" presetID="10" presetClass="entr" presetSubtype="0" fill="hold" nodeType="withEffect">
                                  <p:stCondLst>
                                    <p:cond delay="256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600"/>
                                        <p:tgtEl>
                                          <p:spTgt spid="26"/>
                                        </p:tgtEl>
                                      </p:cBhvr>
                                    </p:animEffect>
                                  </p:childTnLst>
                                </p:cTn>
                              </p:par>
                              <p:par>
                                <p:cTn id="56" presetID="10" presetClass="entr" presetSubtype="0" fill="hold" nodeType="withEffect">
                                  <p:stCondLst>
                                    <p:cond delay="272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600"/>
                                        <p:tgtEl>
                                          <p:spTgt spid="27"/>
                                        </p:tgtEl>
                                      </p:cBhvr>
                                    </p:animEffect>
                                  </p:childTnLst>
                                </p:cTn>
                              </p:par>
                              <p:par>
                                <p:cTn id="59" presetID="10" presetClass="entr" presetSubtype="0" fill="hold" nodeType="withEffect">
                                  <p:stCondLst>
                                    <p:cond delay="288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600"/>
                                        <p:tgtEl>
                                          <p:spTgt spid="28"/>
                                        </p:tgtEl>
                                      </p:cBhvr>
                                    </p:animEffect>
                                  </p:childTnLst>
                                </p:cTn>
                              </p:par>
                              <p:par>
                                <p:cTn id="62" presetID="10" presetClass="entr" presetSubtype="0" fill="hold" nodeType="withEffect">
                                  <p:stCondLst>
                                    <p:cond delay="304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600"/>
                                        <p:tgtEl>
                                          <p:spTgt spid="29"/>
                                        </p:tgtEl>
                                      </p:cBhvr>
                                    </p:animEffect>
                                  </p:childTnLst>
                                </p:cTn>
                              </p:par>
                              <p:par>
                                <p:cTn id="65" presetID="10" presetClass="entr" presetSubtype="0" fill="hold" nodeType="withEffect">
                                  <p:stCondLst>
                                    <p:cond delay="320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600"/>
                                        <p:tgtEl>
                                          <p:spTgt spid="30"/>
                                        </p:tgtEl>
                                      </p:cBhvr>
                                    </p:animEffect>
                                  </p:childTnLst>
                                </p:cTn>
                              </p:par>
                              <p:par>
                                <p:cTn id="68" presetID="10" presetClass="entr" presetSubtype="0" fill="hold" nodeType="withEffect">
                                  <p:stCondLst>
                                    <p:cond delay="336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600"/>
                                        <p:tgtEl>
                                          <p:spTgt spid="31"/>
                                        </p:tgtEl>
                                      </p:cBhvr>
                                    </p:animEffect>
                                  </p:childTnLst>
                                </p:cTn>
                              </p:par>
                              <p:par>
                                <p:cTn id="71" presetID="10" presetClass="entr" presetSubtype="0" fill="hold" nodeType="withEffect">
                                  <p:stCondLst>
                                    <p:cond delay="352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600"/>
                                        <p:tgtEl>
                                          <p:spTgt spid="32"/>
                                        </p:tgtEl>
                                      </p:cBhvr>
                                    </p:animEffect>
                                  </p:childTnLst>
                                </p:cTn>
                              </p:par>
                              <p:par>
                                <p:cTn id="74" presetID="10" presetClass="entr" presetSubtype="0" fill="hold" nodeType="withEffect">
                                  <p:stCondLst>
                                    <p:cond delay="368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600"/>
                                        <p:tgtEl>
                                          <p:spTgt spid="33"/>
                                        </p:tgtEl>
                                      </p:cBhvr>
                                    </p:animEffect>
                                  </p:childTnLst>
                                </p:cTn>
                              </p:par>
                              <p:par>
                                <p:cTn id="77" presetID="10" presetClass="entr" presetSubtype="0" fill="hold" nodeType="withEffect">
                                  <p:stCondLst>
                                    <p:cond delay="3840"/>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2"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9" grpId="0" animBg="1"/>
      <p:bldP spid="31" grpId="0" animBg="1"/>
      <p:bldP spid="33"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logo" descr="Bytesac logo">    </p:cNvPr>
          <p:cNvPicPr>
            <a:picLocks noChangeAspect="1"/>
          </p:cNvPicPr>
          <p:nvPr/>
        </p:nvPicPr>
        <p:blipFill>
          <a:blip r:embed="rId1"/>
          <a:stretch>
            <a:fillRect/>
          </a:stretch>
        </p:blipFill>
        <p:spPr>
          <a:xfrm>
            <a:off x="548640" y="457200"/>
            <a:ext cx="1591056" cy="384048"/>
          </a:xfrm>
          <a:prstGeom prst="rect">
            <a:avLst/>
          </a:prstGeom>
        </p:spPr>
      </p:pic>
      <p:sp>
        <p:nvSpPr>
          <p:cNvPr id="3" name="eyebrow"/>
          <p:cNvSpPr txBox="1"/>
          <p:nvPr/>
        </p:nvSpPr>
        <p:spPr>
          <a:xfrm>
            <a:off x="548640" y="1143000"/>
            <a:ext cx="5486400" cy="256032"/>
          </a:xfrm>
          <a:prstGeom prst="rect">
            <a:avLst/>
          </a:prstGeom>
          <a:noFill/>
          <a:ln/>
        </p:spPr>
        <p:txBody>
          <a:bodyPr wrap="square" lIns="0" tIns="0" rIns="0" bIns="0" rtlCol="0" anchor="t"/>
          <a:lstStyle/>
          <a:p>
            <a:pPr algn="l" indent="0" marL="0">
              <a:buNone/>
            </a:pPr>
            <a:r>
              <a:rPr lang="en-US" sz="1100" b="1" spc="200" kern="0" dirty="0">
                <a:solidFill>
                  <a:srgbClr val="1C2B4A"/>
                </a:solidFill>
                <a:latin typeface="Calibri" pitchFamily="34" charset="0"/>
                <a:ea typeface="Calibri" pitchFamily="34" charset="-122"/>
                <a:cs typeface="Calibri" pitchFamily="34" charset="-120"/>
              </a:rPr>
              <a:t>TEAM · ROADMAP · ASK</a:t>
            </a:r>
            <a:endParaRPr lang="en-US" sz="1100" dirty="0"/>
          </a:p>
        </p:txBody>
      </p:sp>
      <p:sp>
        <p:nvSpPr>
          <p:cNvPr id="4" name="headline"/>
          <p:cNvSpPr txBox="1"/>
          <p:nvPr/>
        </p:nvSpPr>
        <p:spPr>
          <a:xfrm>
            <a:off x="548640" y="1417320"/>
            <a:ext cx="5394960" cy="1143000"/>
          </a:xfrm>
          <a:prstGeom prst="rect">
            <a:avLst/>
          </a:prstGeom>
          <a:noFill/>
          <a:ln/>
        </p:spPr>
        <p:txBody>
          <a:bodyPr wrap="square" lIns="0" tIns="0" rIns="0" bIns="0" rtlCol="0" anchor="t"/>
          <a:lstStyle/>
          <a:p>
            <a:pPr algn="l" indent="0" marL="0">
              <a:lnSpc>
                <a:spcPct val="95000"/>
              </a:lnSpc>
              <a:buNone/>
            </a:pPr>
            <a:r>
              <a:rPr lang="en-US" sz="3600" dirty="0">
                <a:solidFill>
                  <a:srgbClr val="0F1E3A"/>
                </a:solidFill>
                <a:latin typeface="Calibri Light" pitchFamily="34" charset="0"/>
                <a:ea typeface="Calibri Light" pitchFamily="34" charset="-122"/>
                <a:cs typeface="Calibri Light" pitchFamily="34" charset="-120"/>
              </a:rPr>
              <a:t>We built it.</a:t>
            </a:r>
            <a:endParaRPr lang="en-US" sz="3600" dirty="0"/>
          </a:p>
          <a:p>
            <a:pPr algn="l" indent="0" marL="0">
              <a:lnSpc>
                <a:spcPct val="95000"/>
              </a:lnSpc>
              <a:buNone/>
            </a:pPr>
            <a:r>
              <a:rPr lang="en-US" sz="3600" dirty="0">
                <a:solidFill>
                  <a:srgbClr val="41557A"/>
                </a:solidFill>
                <a:latin typeface="Calibri Light" pitchFamily="34" charset="0"/>
                <a:ea typeface="Calibri Light" pitchFamily="34" charset="-122"/>
                <a:cs typeface="Calibri Light" pitchFamily="34" charset="-120"/>
              </a:rPr>
              <a:t>Now we launch it.</a:t>
            </a:r>
            <a:endParaRPr lang="en-US" sz="3600" dirty="0"/>
          </a:p>
        </p:txBody>
      </p:sp>
      <p:sp>
        <p:nvSpPr>
          <p:cNvPr id="5" name="ph0"/>
          <p:cNvSpPr/>
          <p:nvPr/>
        </p:nvSpPr>
        <p:spPr>
          <a:xfrm>
            <a:off x="548640" y="2743200"/>
            <a:ext cx="868680" cy="868680"/>
          </a:xfrm>
          <a:prstGeom prst="ellipse">
            <a:avLst/>
          </a:prstGeom>
          <a:solidFill>
            <a:srgbClr val="FFFFFF">
              <a:alpha val="70000"/>
            </a:srgbClr>
          </a:solidFill>
          <a:ln w="9525">
            <a:solidFill>
              <a:srgbClr val="FFFFFF"/>
            </a:solidFill>
            <a:prstDash val="solid"/>
          </a:ln>
        </p:spPr>
      </p:sp>
      <p:pic>
        <p:nvPicPr>
          <p:cNvPr id="6" name="pi0" descr="preencoded.png">    </p:cNvPr>
          <p:cNvPicPr>
            <a:picLocks noChangeAspect="1"/>
          </p:cNvPicPr>
          <p:nvPr/>
        </p:nvPicPr>
        <p:blipFill>
          <a:blip r:embed="rId2"/>
          <a:stretch>
            <a:fillRect/>
          </a:stretch>
        </p:blipFill>
        <p:spPr>
          <a:xfrm>
            <a:off x="822960" y="3017520"/>
            <a:ext cx="320040" cy="320040"/>
          </a:xfrm>
          <a:prstGeom prst="rect">
            <a:avLst/>
          </a:prstGeom>
        </p:spPr>
      </p:pic>
      <p:sp>
        <p:nvSpPr>
          <p:cNvPr id="7" name="pn0"/>
          <p:cNvSpPr txBox="1"/>
          <p:nvPr/>
        </p:nvSpPr>
        <p:spPr>
          <a:xfrm>
            <a:off x="1554480" y="2788920"/>
            <a:ext cx="1508760" cy="777240"/>
          </a:xfrm>
          <a:prstGeom prst="rect">
            <a:avLst/>
          </a:prstGeom>
          <a:noFill/>
          <a:ln/>
        </p:spPr>
        <p:txBody>
          <a:bodyPr wrap="square" lIns="0" tIns="0" rIns="0" bIns="0" rtlCol="0" anchor="ctr"/>
          <a:lstStyle/>
          <a:p>
            <a:pPr algn="l" indent="0" marL="0">
              <a:buNone/>
            </a:pPr>
            <a:r>
              <a:rPr lang="en-US" sz="1500" b="1" dirty="0">
                <a:solidFill>
                  <a:srgbClr val="0F1E3A"/>
                </a:solidFill>
                <a:latin typeface="Calibri" pitchFamily="34" charset="0"/>
                <a:ea typeface="Calibri" pitchFamily="34" charset="-122"/>
                <a:cs typeface="Calibri" pitchFamily="34" charset="-120"/>
              </a:rPr>
              <a:t>[Name]</a:t>
            </a:r>
            <a:endParaRPr lang="en-US" sz="1400" dirty="0"/>
          </a:p>
          <a:p>
            <a:pPr algn="l" indent="0" marL="0">
              <a:buNone/>
            </a:pPr>
            <a:r>
              <a:rPr lang="en-US" sz="1200" dirty="0">
                <a:solidFill>
                  <a:srgbClr val="1C2B4A"/>
                </a:solidFill>
                <a:latin typeface="Calibri" pitchFamily="34" charset="0"/>
                <a:ea typeface="Calibri" pitchFamily="34" charset="-122"/>
                <a:cs typeface="Calibri" pitchFamily="34" charset="-120"/>
              </a:rPr>
              <a:t>[Role · one proof line]</a:t>
            </a:r>
            <a:endParaRPr lang="en-US" sz="1400" dirty="0"/>
          </a:p>
        </p:txBody>
      </p:sp>
      <p:sp>
        <p:nvSpPr>
          <p:cNvPr id="8" name="ph1"/>
          <p:cNvSpPr/>
          <p:nvPr/>
        </p:nvSpPr>
        <p:spPr>
          <a:xfrm>
            <a:off x="3154680" y="2743200"/>
            <a:ext cx="868680" cy="868680"/>
          </a:xfrm>
          <a:prstGeom prst="ellipse">
            <a:avLst/>
          </a:prstGeom>
          <a:solidFill>
            <a:srgbClr val="FFFFFF">
              <a:alpha val="70000"/>
            </a:srgbClr>
          </a:solidFill>
          <a:ln w="9525">
            <a:solidFill>
              <a:srgbClr val="FFFFFF"/>
            </a:solidFill>
            <a:prstDash val="solid"/>
          </a:ln>
        </p:spPr>
      </p:sp>
      <p:pic>
        <p:nvPicPr>
          <p:cNvPr id="9" name="pi1" descr="preencoded.png">    </p:cNvPr>
          <p:cNvPicPr>
            <a:picLocks noChangeAspect="1"/>
          </p:cNvPicPr>
          <p:nvPr/>
        </p:nvPicPr>
        <p:blipFill>
          <a:blip r:embed="rId3"/>
          <a:stretch>
            <a:fillRect/>
          </a:stretch>
        </p:blipFill>
        <p:spPr>
          <a:xfrm>
            <a:off x="3429000" y="3017520"/>
            <a:ext cx="320040" cy="320040"/>
          </a:xfrm>
          <a:prstGeom prst="rect">
            <a:avLst/>
          </a:prstGeom>
        </p:spPr>
      </p:pic>
      <p:sp>
        <p:nvSpPr>
          <p:cNvPr id="10" name="pn1"/>
          <p:cNvSpPr txBox="1"/>
          <p:nvPr/>
        </p:nvSpPr>
        <p:spPr>
          <a:xfrm>
            <a:off x="4160520" y="2788920"/>
            <a:ext cx="1508760" cy="777240"/>
          </a:xfrm>
          <a:prstGeom prst="rect">
            <a:avLst/>
          </a:prstGeom>
          <a:noFill/>
          <a:ln/>
        </p:spPr>
        <p:txBody>
          <a:bodyPr wrap="square" lIns="0" tIns="0" rIns="0" bIns="0" rtlCol="0" anchor="ctr"/>
          <a:lstStyle/>
          <a:p>
            <a:pPr algn="l" indent="0" marL="0">
              <a:buNone/>
            </a:pPr>
            <a:r>
              <a:rPr lang="en-US" sz="1500" b="1" dirty="0">
                <a:solidFill>
                  <a:srgbClr val="0F1E3A"/>
                </a:solidFill>
                <a:latin typeface="Calibri" pitchFamily="34" charset="0"/>
                <a:ea typeface="Calibri" pitchFamily="34" charset="-122"/>
                <a:cs typeface="Calibri" pitchFamily="34" charset="-120"/>
              </a:rPr>
              <a:t>[Name]</a:t>
            </a:r>
            <a:endParaRPr lang="en-US" sz="1400" dirty="0"/>
          </a:p>
          <a:p>
            <a:pPr algn="l" indent="0" marL="0">
              <a:buNone/>
            </a:pPr>
            <a:r>
              <a:rPr lang="en-US" sz="1200" dirty="0">
                <a:solidFill>
                  <a:srgbClr val="1C2B4A"/>
                </a:solidFill>
                <a:latin typeface="Calibri" pitchFamily="34" charset="0"/>
                <a:ea typeface="Calibri" pitchFamily="34" charset="-122"/>
                <a:cs typeface="Calibri" pitchFamily="34" charset="-120"/>
              </a:rPr>
              <a:t>[Role · one proof line]</a:t>
            </a:r>
            <a:endParaRPr lang="en-US" sz="1400" dirty="0"/>
          </a:p>
        </p:txBody>
      </p:sp>
      <p:sp>
        <p:nvSpPr>
          <p:cNvPr id="11" name="ask"/>
          <p:cNvSpPr/>
          <p:nvPr/>
        </p:nvSpPr>
        <p:spPr>
          <a:xfrm>
            <a:off x="548640" y="3886200"/>
            <a:ext cx="4937760" cy="1143000"/>
          </a:xfrm>
          <a:prstGeom prst="roundRect">
            <a:avLst>
              <a:gd name="adj" fmla="val 12800"/>
            </a:avLst>
          </a:prstGeom>
          <a:solidFill>
            <a:srgbClr val="FFFFFF">
              <a:alpha val="75000"/>
            </a:srgbClr>
          </a:solidFill>
          <a:ln w="9525">
            <a:solidFill>
              <a:srgbClr val="FFFFFF"/>
            </a:solidFill>
            <a:prstDash val="solid"/>
          </a:ln>
        </p:spPr>
        <p:txBody>
          <a:bodyPr wrap="square" lIns="127000" tIns="177800" rIns="177800" bIns="127000" rtlCol="0" anchor="ctr"/>
          <a:lstStyle/>
          <a:p>
            <a:pPr algn="l" indent="0" marL="0">
              <a:buNone/>
            </a:pPr>
            <a:r>
              <a:rPr lang="en-US" sz="2200" b="1" dirty="0">
                <a:solidFill>
                  <a:srgbClr val="0F1E3A"/>
                </a:solidFill>
                <a:latin typeface="Calibri" pitchFamily="34" charset="0"/>
                <a:ea typeface="Calibri" pitchFamily="34" charset="-122"/>
                <a:cs typeface="Calibri" pitchFamily="34" charset="-120"/>
              </a:rPr>
              <a:t>Raising [amount]</a:t>
            </a:r>
            <a:endParaRPr lang="en-US" sz="1400" dirty="0"/>
          </a:p>
          <a:p>
            <a:pPr algn="l" indent="0" marL="0">
              <a:buNone/>
            </a:pPr>
            <a:r>
              <a:rPr lang="en-US" sz="1300" dirty="0">
                <a:solidFill>
                  <a:srgbClr val="1C2B4A"/>
                </a:solidFill>
                <a:latin typeface="Calibri" pitchFamily="34" charset="0"/>
                <a:ea typeface="Calibri" pitchFamily="34" charset="-122"/>
                <a:cs typeface="Calibri" pitchFamily="34" charset="-120"/>
              </a:rPr>
              <a:t>Security audit · legal and RWA licensing · launch managers · KYC vendor · team</a:t>
            </a:r>
            <a:endParaRPr lang="en-US" sz="1400" dirty="0"/>
          </a:p>
        </p:txBody>
      </p:sp>
      <p:sp>
        <p:nvSpPr>
          <p:cNvPr id="12" name="rm0"/>
          <p:cNvSpPr/>
          <p:nvPr/>
        </p:nvSpPr>
        <p:spPr>
          <a:xfrm>
            <a:off x="6172200" y="1463040"/>
            <a:ext cx="1732178" cy="3383280"/>
          </a:xfrm>
          <a:prstGeom prst="roundRect">
            <a:avLst>
              <a:gd name="adj" fmla="val 9502"/>
            </a:avLst>
          </a:prstGeom>
          <a:solidFill>
            <a:srgbClr val="FFFFFF">
              <a:alpha val="70000"/>
            </a:srgbClr>
          </a:solidFill>
          <a:ln w="9525">
            <a:solidFill>
              <a:srgbClr val="FFFFFF"/>
            </a:solidFill>
            <a:prstDash val="solid"/>
          </a:ln>
        </p:spPr>
      </p:sp>
      <p:sp>
        <p:nvSpPr>
          <p:cNvPr id="13" name="rmh0"/>
          <p:cNvSpPr txBox="1"/>
          <p:nvPr/>
        </p:nvSpPr>
        <p:spPr>
          <a:xfrm>
            <a:off x="6373368" y="1664208"/>
            <a:ext cx="1329842"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NOW</a:t>
            </a:r>
            <a:endParaRPr lang="en-US" sz="1100" dirty="0"/>
          </a:p>
        </p:txBody>
      </p:sp>
      <p:sp>
        <p:nvSpPr>
          <p:cNvPr id="14" name="rml0"/>
          <p:cNvSpPr txBox="1"/>
          <p:nvPr/>
        </p:nvSpPr>
        <p:spPr>
          <a:xfrm>
            <a:off x="6373368" y="2011680"/>
            <a:ext cx="1366418" cy="265176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Mainnet pilot with small amounts</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Web and Android</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First verified managers</a:t>
            </a:r>
            <a:endParaRPr lang="en-US" sz="1400" dirty="0"/>
          </a:p>
        </p:txBody>
      </p:sp>
      <p:sp>
        <p:nvSpPr>
          <p:cNvPr id="15" name="rm1"/>
          <p:cNvSpPr/>
          <p:nvPr/>
        </p:nvSpPr>
        <p:spPr>
          <a:xfrm>
            <a:off x="8041538" y="1463040"/>
            <a:ext cx="1732178" cy="3383280"/>
          </a:xfrm>
          <a:prstGeom prst="roundRect">
            <a:avLst>
              <a:gd name="adj" fmla="val 9502"/>
            </a:avLst>
          </a:prstGeom>
          <a:solidFill>
            <a:srgbClr val="FFFFFF">
              <a:alpha val="70000"/>
            </a:srgbClr>
          </a:solidFill>
          <a:ln w="9525">
            <a:solidFill>
              <a:srgbClr val="FFFFFF"/>
            </a:solidFill>
            <a:prstDash val="solid"/>
          </a:ln>
        </p:spPr>
      </p:sp>
      <p:sp>
        <p:nvSpPr>
          <p:cNvPr id="16" name="rmh1"/>
          <p:cNvSpPr txBox="1"/>
          <p:nvPr/>
        </p:nvSpPr>
        <p:spPr>
          <a:xfrm>
            <a:off x="8242706" y="1664208"/>
            <a:ext cx="1329842"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NEXT</a:t>
            </a:r>
            <a:endParaRPr lang="en-US" sz="1100" dirty="0"/>
          </a:p>
        </p:txBody>
      </p:sp>
      <p:sp>
        <p:nvSpPr>
          <p:cNvPr id="17" name="rml1"/>
          <p:cNvSpPr txBox="1"/>
          <p:nvPr/>
        </p:nvSpPr>
        <p:spPr>
          <a:xfrm>
            <a:off x="8242706" y="2011680"/>
            <a:ext cx="1366418" cy="265176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One address per chain, several wallets</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KYC and permissioned RWAs</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Mobile push, one-tap repair</a:t>
            </a:r>
            <a:endParaRPr lang="en-US" sz="1400" dirty="0"/>
          </a:p>
        </p:txBody>
      </p:sp>
      <p:sp>
        <p:nvSpPr>
          <p:cNvPr id="18" name="rm2"/>
          <p:cNvSpPr/>
          <p:nvPr/>
        </p:nvSpPr>
        <p:spPr>
          <a:xfrm>
            <a:off x="9910877" y="1463040"/>
            <a:ext cx="1732178" cy="3383280"/>
          </a:xfrm>
          <a:prstGeom prst="roundRect">
            <a:avLst>
              <a:gd name="adj" fmla="val 9502"/>
            </a:avLst>
          </a:prstGeom>
          <a:solidFill>
            <a:srgbClr val="FFFFFF">
              <a:alpha val="70000"/>
            </a:srgbClr>
          </a:solidFill>
          <a:ln w="9525">
            <a:solidFill>
              <a:srgbClr val="FFFFFF"/>
            </a:solidFill>
            <a:prstDash val="solid"/>
          </a:ln>
        </p:spPr>
      </p:sp>
      <p:sp>
        <p:nvSpPr>
          <p:cNvPr id="19" name="rmh2"/>
          <p:cNvSpPr txBox="1"/>
          <p:nvPr/>
        </p:nvSpPr>
        <p:spPr>
          <a:xfrm>
            <a:off x="10112045" y="1664208"/>
            <a:ext cx="1329842"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LATER</a:t>
            </a:r>
            <a:endParaRPr lang="en-US" sz="1100" dirty="0"/>
          </a:p>
        </p:txBody>
      </p:sp>
      <p:sp>
        <p:nvSpPr>
          <p:cNvPr id="20" name="rml2"/>
          <p:cNvSpPr txBox="1"/>
          <p:nvPr/>
        </p:nvSpPr>
        <p:spPr>
          <a:xfrm>
            <a:off x="10112045" y="2011680"/>
            <a:ext cx="1366418" cy="2651760"/>
          </a:xfrm>
          <a:prstGeom prst="rect">
            <a:avLst/>
          </a:prstGeom>
          <a:noFill/>
          <a:ln/>
        </p:spPr>
        <p:txBody>
          <a:bodyPr wrap="square" lIns="0" tIns="0" rIns="0" bIns="0" rtlCol="0" anchor="t"/>
          <a:lstStyle/>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Stocks, ETFs, commodities</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Deposits and pre-IPO</a:t>
            </a:r>
            <a:endParaRPr lang="en-US" sz="1400" dirty="0"/>
          </a:p>
          <a:p>
            <a:pPr algn="l" marL="342900" indent="-342900">
              <a:spcAft>
                <a:spcPts val="800"/>
              </a:spcAft>
              <a:buSzPct val="100000"/>
              <a:buChar char="•"/>
            </a:pPr>
            <a:r>
              <a:rPr lang="en-US" sz="1400" dirty="0">
                <a:solidFill>
                  <a:srgbClr val="0F1E3A"/>
                </a:solidFill>
                <a:latin typeface="Calibri" pitchFamily="34" charset="0"/>
                <a:ea typeface="Calibri" pitchFamily="34" charset="-122"/>
                <a:cs typeface="Calibri" pitchFamily="34" charset="-120"/>
              </a:rPr>
              <a:t>More settlement currencies</a:t>
            </a:r>
            <a:endParaRPr lang="en-US" sz="1400" dirty="0"/>
          </a:p>
        </p:txBody>
      </p:sp>
      <p:sp>
        <p:nvSpPr>
          <p:cNvPr id="21" name="tag"/>
          <p:cNvSpPr txBox="1"/>
          <p:nvPr/>
        </p:nvSpPr>
        <p:spPr>
          <a:xfrm>
            <a:off x="548640" y="5303520"/>
            <a:ext cx="5486400" cy="365760"/>
          </a:xfrm>
          <a:prstGeom prst="rect">
            <a:avLst/>
          </a:prstGeom>
          <a:noFill/>
          <a:ln/>
        </p:spPr>
        <p:txBody>
          <a:bodyPr wrap="square" lIns="0" tIns="0" rIns="0" bIns="0" rtlCol="0" anchor="t"/>
          <a:lstStyle/>
          <a:p>
            <a:pPr algn="l" indent="0" marL="0">
              <a:buNone/>
            </a:pPr>
            <a:r>
              <a:rPr lang="en-US" sz="1800" dirty="0">
                <a:solidFill>
                  <a:srgbClr val="1C2B4A"/>
                </a:solidFill>
                <a:latin typeface="Calibri Light" pitchFamily="34" charset="0"/>
                <a:ea typeface="Calibri Light" pitchFamily="34" charset="-122"/>
                <a:cs typeface="Calibri Light" pitchFamily="34" charset="-120"/>
              </a:rPr>
              <a:t>Expert-managed portfolios. Held in your own wallet.</a:t>
            </a:r>
            <a:endParaRPr lang="en-US" sz="18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10" presetClass="entr" presetSubtype="0" fill="hold" nodeType="withEffect">
                                  <p:stCondLst>
                                    <p:cond delay="16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600"/>
                                        <p:tgtEl>
                                          <p:spTgt spid="4"/>
                                        </p:tgtEl>
                                      </p:cBhvr>
                                    </p:animEffect>
                                  </p:childTnLst>
                                </p:cTn>
                              </p:par>
                              <p:par>
                                <p:cTn id="11" presetID="10" presetClass="entr" presetSubtype="0" fill="hold" nodeType="withEffect">
                                  <p:stCondLst>
                                    <p:cond delay="32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par>
                                <p:cTn id="14" presetID="10" presetClass="entr" presetSubtype="0" fill="hold" nodeType="withEffect">
                                  <p:stCondLst>
                                    <p:cond delay="4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par>
                                <p:cTn id="17" presetID="10" presetClass="entr" presetSubtype="0" fill="hold" nodeType="withEffect">
                                  <p:stCondLst>
                                    <p:cond delay="64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childTnLst>
                                </p:cTn>
                              </p:par>
                              <p:par>
                                <p:cTn id="20" presetID="10" presetClass="entr" presetSubtype="0" fill="hold" nodeType="withEffect">
                                  <p:stCondLst>
                                    <p:cond delay="8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00"/>
                                        <p:tgtEl>
                                          <p:spTgt spid="8"/>
                                        </p:tgtEl>
                                      </p:cBhvr>
                                    </p:animEffect>
                                  </p:childTnLst>
                                </p:cTn>
                              </p:par>
                              <p:par>
                                <p:cTn id="23" presetID="10" presetClass="entr" presetSubtype="0" fill="hold" nodeType="withEffect">
                                  <p:stCondLst>
                                    <p:cond delay="96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00"/>
                                        <p:tgtEl>
                                          <p:spTgt spid="9"/>
                                        </p:tgtEl>
                                      </p:cBhvr>
                                    </p:animEffect>
                                  </p:childTnLst>
                                </p:cTn>
                              </p:par>
                              <p:par>
                                <p:cTn id="26" presetID="10" presetClass="entr" presetSubtype="0" fill="hold" nodeType="withEffect">
                                  <p:stCondLst>
                                    <p:cond delay="112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600"/>
                                        <p:tgtEl>
                                          <p:spTgt spid="10"/>
                                        </p:tgtEl>
                                      </p:cBhvr>
                                    </p:animEffect>
                                  </p:childTnLst>
                                </p:cTn>
                              </p:par>
                              <p:par>
                                <p:cTn id="29" presetID="10" presetClass="entr" presetSubtype="0" fill="hold" nodeType="withEffect">
                                  <p:stCondLst>
                                    <p:cond delay="128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600"/>
                                        <p:tgtEl>
                                          <p:spTgt spid="11"/>
                                        </p:tgtEl>
                                      </p:cBhvr>
                                    </p:animEffect>
                                  </p:childTnLst>
                                </p:cTn>
                              </p:par>
                              <p:par>
                                <p:cTn id="32" presetID="10" presetClass="entr" presetSubtype="0" fill="hold" nodeType="withEffect">
                                  <p:stCondLst>
                                    <p:cond delay="144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600"/>
                                        <p:tgtEl>
                                          <p:spTgt spid="12"/>
                                        </p:tgtEl>
                                      </p:cBhvr>
                                    </p:animEffect>
                                  </p:childTnLst>
                                </p:cTn>
                              </p:par>
                              <p:par>
                                <p:cTn id="35" presetID="10" presetClass="entr" presetSubtype="0" fill="hold" nodeType="withEffect">
                                  <p:stCondLst>
                                    <p:cond delay="160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8" presetID="10" presetClass="entr" presetSubtype="0" fill="hold" nodeType="withEffect">
                                  <p:stCondLst>
                                    <p:cond delay="176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1" presetID="10" presetClass="entr" presetSubtype="0" fill="hold" nodeType="withEffect">
                                  <p:stCondLst>
                                    <p:cond delay="192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4" presetID="10" presetClass="entr" presetSubtype="0" fill="hold" nodeType="withEffect">
                                  <p:stCondLst>
                                    <p:cond delay="208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600"/>
                                        <p:tgtEl>
                                          <p:spTgt spid="16"/>
                                        </p:tgtEl>
                                      </p:cBhvr>
                                    </p:animEffect>
                                  </p:childTnLst>
                                </p:cTn>
                              </p:par>
                              <p:par>
                                <p:cTn id="47" presetID="10" presetClass="entr" presetSubtype="0" fill="hold" nodeType="withEffect">
                                  <p:stCondLst>
                                    <p:cond delay="224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600"/>
                                        <p:tgtEl>
                                          <p:spTgt spid="17"/>
                                        </p:tgtEl>
                                      </p:cBhvr>
                                    </p:animEffect>
                                  </p:childTnLst>
                                </p:cTn>
                              </p:par>
                              <p:par>
                                <p:cTn id="50" presetID="10" presetClass="entr" presetSubtype="0" fill="hold" nodeType="withEffect">
                                  <p:stCondLst>
                                    <p:cond delay="24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600"/>
                                        <p:tgtEl>
                                          <p:spTgt spid="18"/>
                                        </p:tgtEl>
                                      </p:cBhvr>
                                    </p:animEffect>
                                  </p:childTnLst>
                                </p:cTn>
                              </p:par>
                              <p:par>
                                <p:cTn id="53" presetID="10" presetClass="entr" presetSubtype="0" fill="hold" nodeType="withEffect">
                                  <p:stCondLst>
                                    <p:cond delay="256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nodeType="withEffect">
                                  <p:stCondLst>
                                    <p:cond delay="272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10" presetClass="entr" presetSubtype="0" fill="hold" nodeType="withEffect">
                                  <p:stCondLst>
                                    <p:cond delay="288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A1 · ARCHITECTURE</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A modular monolith with every provider behind an adapter</a:t>
            </a:r>
            <a:endParaRPr lang="en-US" sz="3600" dirty="0"/>
          </a:p>
        </p:txBody>
      </p:sp>
      <p:sp>
        <p:nvSpPr>
          <p:cNvPr id="4" name="clbg"/>
          <p:cNvSpPr/>
          <p:nvPr/>
        </p:nvSpPr>
        <p:spPr>
          <a:xfrm>
            <a:off x="548640" y="1828800"/>
            <a:ext cx="3200400" cy="1325880"/>
          </a:xfrm>
          <a:prstGeom prst="roundRect">
            <a:avLst>
              <a:gd name="adj" fmla="val 11034"/>
            </a:avLst>
          </a:prstGeom>
          <a:solidFill>
            <a:srgbClr val="FFFFFF"/>
          </a:solidFill>
          <a:ln w="9525">
            <a:solidFill>
              <a:srgbClr val="E2E7EF"/>
            </a:solidFill>
            <a:prstDash val="solid"/>
          </a:ln>
        </p:spPr>
      </p:sp>
      <p:sp>
        <p:nvSpPr>
          <p:cNvPr id="5" name="clt"/>
          <p:cNvSpPr txBox="1"/>
          <p:nvPr/>
        </p:nvSpPr>
        <p:spPr>
          <a:xfrm>
            <a:off x="777240" y="1993392"/>
            <a:ext cx="2743200"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Clients</a:t>
            </a:r>
            <a:endParaRPr lang="en-US" sz="1500" dirty="0"/>
          </a:p>
        </p:txBody>
      </p:sp>
      <p:sp>
        <p:nvSpPr>
          <p:cNvPr id="6" name="cld"/>
          <p:cNvSpPr txBox="1"/>
          <p:nvPr/>
        </p:nvSpPr>
        <p:spPr>
          <a:xfrm>
            <a:off x="777240" y="2359152"/>
            <a:ext cx="2743200" cy="68580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Web: Next.js 16 · Mobile: Expo 57 · wallets via Reown AppKit</a:t>
            </a:r>
            <a:endParaRPr lang="en-US" sz="1300" dirty="0"/>
          </a:p>
        </p:txBody>
      </p:sp>
      <p:sp>
        <p:nvSpPr>
          <p:cNvPr id="7" name="dabg"/>
          <p:cNvSpPr/>
          <p:nvPr/>
        </p:nvSpPr>
        <p:spPr>
          <a:xfrm>
            <a:off x="548640" y="3429000"/>
            <a:ext cx="3200400" cy="2514600"/>
          </a:xfrm>
          <a:prstGeom prst="roundRect">
            <a:avLst>
              <a:gd name="adj" fmla="val 5818"/>
            </a:avLst>
          </a:prstGeom>
          <a:solidFill>
            <a:srgbClr val="FFFFFF"/>
          </a:solidFill>
          <a:ln w="9525">
            <a:solidFill>
              <a:srgbClr val="E2E7EF"/>
            </a:solidFill>
            <a:prstDash val="solid"/>
          </a:ln>
        </p:spPr>
      </p:sp>
      <p:sp>
        <p:nvSpPr>
          <p:cNvPr id="8" name="dat"/>
          <p:cNvSpPr txBox="1"/>
          <p:nvPr/>
        </p:nvSpPr>
        <p:spPr>
          <a:xfrm>
            <a:off x="777240" y="3593592"/>
            <a:ext cx="2743200"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Data</a:t>
            </a:r>
            <a:endParaRPr lang="en-US" sz="1500" dirty="0"/>
          </a:p>
        </p:txBody>
      </p:sp>
      <p:sp>
        <p:nvSpPr>
          <p:cNvPr id="9" name="dad"/>
          <p:cNvSpPr txBox="1"/>
          <p:nvPr/>
        </p:nvSpPr>
        <p:spPr>
          <a:xfrm>
            <a:off x="777240" y="3959352"/>
            <a:ext cx="2743200" cy="187452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PostgreSQL on Supabase (pg_cron, pgvector), app role without DELETE · Redis for queues, cache and rate limits · Cloudflare R2 for private documents</a:t>
            </a:r>
            <a:endParaRPr lang="en-US" sz="1300" dirty="0"/>
          </a:p>
        </p:txBody>
      </p:sp>
      <p:sp>
        <p:nvSpPr>
          <p:cNvPr id="10" name="apibg"/>
          <p:cNvSpPr/>
          <p:nvPr/>
        </p:nvSpPr>
        <p:spPr>
          <a:xfrm>
            <a:off x="4069080" y="1828800"/>
            <a:ext cx="3977640" cy="2377440"/>
          </a:xfrm>
          <a:prstGeom prst="roundRect">
            <a:avLst>
              <a:gd name="adj" fmla="val 6154"/>
            </a:avLst>
          </a:prstGeom>
          <a:solidFill>
            <a:srgbClr val="E8EEFC"/>
          </a:solidFill>
          <a:ln/>
        </p:spPr>
      </p:sp>
      <p:sp>
        <p:nvSpPr>
          <p:cNvPr id="11" name="apit"/>
          <p:cNvSpPr txBox="1"/>
          <p:nvPr/>
        </p:nvSpPr>
        <p:spPr>
          <a:xfrm>
            <a:off x="4297680" y="1993392"/>
            <a:ext cx="3520440"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Bytesac API · Express 5, TypeScript</a:t>
            </a:r>
            <a:endParaRPr lang="en-US" sz="1500" dirty="0"/>
          </a:p>
        </p:txBody>
      </p:sp>
      <p:sp>
        <p:nvSpPr>
          <p:cNvPr id="12" name="apid"/>
          <p:cNvSpPr txBox="1"/>
          <p:nvPr/>
        </p:nvSpPr>
        <p:spPr>
          <a:xfrm>
            <a:off x="4297680" y="2359152"/>
            <a:ext cx="3520440" cy="173736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Feature modules: auth, organizations, members, assets, baskets, discovery, operations, portfolio, rebalance, fees, eligibility, notifications. Every route authorized server-side; append-only ledgers.</a:t>
            </a:r>
            <a:endParaRPr lang="en-US" sz="1300" dirty="0"/>
          </a:p>
        </p:txBody>
      </p:sp>
      <p:sp>
        <p:nvSpPr>
          <p:cNvPr id="13" name="wkbg"/>
          <p:cNvSpPr/>
          <p:nvPr/>
        </p:nvSpPr>
        <p:spPr>
          <a:xfrm>
            <a:off x="4069080" y="4434840"/>
            <a:ext cx="3977640" cy="1508760"/>
          </a:xfrm>
          <a:prstGeom prst="roundRect">
            <a:avLst>
              <a:gd name="adj" fmla="val 9697"/>
            </a:avLst>
          </a:prstGeom>
          <a:solidFill>
            <a:srgbClr val="FFFFFF"/>
          </a:solidFill>
          <a:ln w="9525">
            <a:solidFill>
              <a:srgbClr val="E2E7EF"/>
            </a:solidFill>
            <a:prstDash val="solid"/>
          </a:ln>
        </p:spPr>
      </p:sp>
      <p:sp>
        <p:nvSpPr>
          <p:cNvPr id="14" name="wkt"/>
          <p:cNvSpPr txBox="1"/>
          <p:nvPr/>
        </p:nvSpPr>
        <p:spPr>
          <a:xfrm>
            <a:off x="4297680" y="4599432"/>
            <a:ext cx="3520440"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Worker · BullMQ</a:t>
            </a:r>
            <a:endParaRPr lang="en-US" sz="1500" dirty="0"/>
          </a:p>
        </p:txBody>
      </p:sp>
      <p:sp>
        <p:nvSpPr>
          <p:cNvPr id="15" name="wkd"/>
          <p:cNvSpPr txBox="1"/>
          <p:nvPr/>
        </p:nvSpPr>
        <p:spPr>
          <a:xfrm>
            <a:off x="4297680" y="4965192"/>
            <a:ext cx="3520440" cy="86868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Prices, performance, search index, step tracking, nightly reconciliation, gas checks, revenue reconciliation, notifications. Jobs never move money.</a:t>
            </a:r>
            <a:endParaRPr lang="en-US" sz="1300" dirty="0"/>
          </a:p>
        </p:txBody>
      </p:sp>
      <p:sp>
        <p:nvSpPr>
          <p:cNvPr id="16" name="prbg"/>
          <p:cNvSpPr/>
          <p:nvPr/>
        </p:nvSpPr>
        <p:spPr>
          <a:xfrm>
            <a:off x="8321040" y="1828800"/>
            <a:ext cx="3322015" cy="2377440"/>
          </a:xfrm>
          <a:prstGeom prst="roundRect">
            <a:avLst>
              <a:gd name="adj" fmla="val 6154"/>
            </a:avLst>
          </a:prstGeom>
          <a:solidFill>
            <a:srgbClr val="FFFFFF"/>
          </a:solidFill>
          <a:ln w="9525">
            <a:solidFill>
              <a:srgbClr val="E2E7EF"/>
            </a:solidFill>
            <a:prstDash val="solid"/>
          </a:ln>
        </p:spPr>
      </p:sp>
      <p:sp>
        <p:nvSpPr>
          <p:cNvPr id="17" name="prt"/>
          <p:cNvSpPr txBox="1"/>
          <p:nvPr/>
        </p:nvSpPr>
        <p:spPr>
          <a:xfrm>
            <a:off x="8549640" y="1993392"/>
            <a:ext cx="2864815"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Providers</a:t>
            </a:r>
            <a:endParaRPr lang="en-US" sz="1500" dirty="0"/>
          </a:p>
        </p:txBody>
      </p:sp>
      <p:sp>
        <p:nvSpPr>
          <p:cNvPr id="18" name="prd"/>
          <p:cNvSpPr txBox="1"/>
          <p:nvPr/>
        </p:nvSpPr>
        <p:spPr>
          <a:xfrm>
            <a:off x="8549640" y="2359152"/>
            <a:ext cx="2864815" cy="1737360"/>
          </a:xfrm>
          <a:prstGeom prst="rect">
            <a:avLst/>
          </a:prstGeom>
          <a:noFill/>
          <a:ln/>
        </p:spPr>
        <p:txBody>
          <a:bodyPr wrap="square" lIns="0" tIns="0" rIns="0" bIns="0" rtlCol="0" anchor="t"/>
          <a:lstStyle/>
          <a:p>
            <a:pPr algn="l" indent="0" marL="0">
              <a:lnSpc>
                <a:spcPct val="105000"/>
              </a:lnSpc>
              <a:buNone/>
            </a:pPr>
            <a:r>
              <a:rPr lang="en-US" sz="1300" dirty="0">
                <a:solidFill>
                  <a:srgbClr val="56627A"/>
                </a:solidFill>
                <a:latin typeface="Calibri" pitchFamily="34" charset="0"/>
                <a:ea typeface="Calibri" pitchFamily="34" charset="-122"/>
                <a:cs typeface="Calibri" pitchFamily="34" charset="-120"/>
              </a:rPr>
              <a:t>LI.FI routing · Alchemy RPC for EVM, Solana and Bitcoin · CoinMarketCap prices · Gemini AI search · Resend email · Twilio SMS · FCM and Expo push</a:t>
            </a:r>
            <a:endParaRPr lang="en-US" sz="1300" dirty="0"/>
          </a:p>
        </p:txBody>
      </p:sp>
      <p:sp>
        <p:nvSpPr>
          <p:cNvPr id="19" name="chbg"/>
          <p:cNvSpPr/>
          <p:nvPr/>
        </p:nvSpPr>
        <p:spPr>
          <a:xfrm>
            <a:off x="8321040" y="4434840"/>
            <a:ext cx="3322015" cy="1508760"/>
          </a:xfrm>
          <a:prstGeom prst="roundRect">
            <a:avLst>
              <a:gd name="adj" fmla="val 9697"/>
            </a:avLst>
          </a:prstGeom>
          <a:solidFill>
            <a:srgbClr val="FFFFFF"/>
          </a:solidFill>
          <a:ln w="9525">
            <a:solidFill>
              <a:srgbClr val="E2E7EF"/>
            </a:solidFill>
            <a:prstDash val="solid"/>
          </a:ln>
        </p:spPr>
      </p:sp>
      <p:sp>
        <p:nvSpPr>
          <p:cNvPr id="20" name="cht"/>
          <p:cNvSpPr txBox="1"/>
          <p:nvPr/>
        </p:nvSpPr>
        <p:spPr>
          <a:xfrm>
            <a:off x="8549640" y="4599432"/>
            <a:ext cx="2743200"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User wallets on 7 chains</a:t>
            </a:r>
            <a:endParaRPr lang="en-US" sz="1500" dirty="0"/>
          </a:p>
        </p:txBody>
      </p:sp>
      <p:pic>
        <p:nvPicPr>
          <p:cNvPr id="21" name="chi0" descr="sol">    </p:cNvPr>
          <p:cNvPicPr>
            <a:picLocks noChangeAspect="1"/>
          </p:cNvPicPr>
          <p:nvPr/>
        </p:nvPicPr>
        <p:blipFill>
          <a:blip r:embed="rId1"/>
          <a:stretch>
            <a:fillRect/>
          </a:stretch>
        </p:blipFill>
        <p:spPr>
          <a:xfrm>
            <a:off x="8549640" y="5120640"/>
            <a:ext cx="329184" cy="329184"/>
          </a:xfrm>
          <a:prstGeom prst="rect">
            <a:avLst/>
          </a:prstGeom>
        </p:spPr>
      </p:pic>
      <p:pic>
        <p:nvPicPr>
          <p:cNvPr id="22" name="chi1" descr="eth">    </p:cNvPr>
          <p:cNvPicPr>
            <a:picLocks noChangeAspect="1"/>
          </p:cNvPicPr>
          <p:nvPr/>
        </p:nvPicPr>
        <p:blipFill>
          <a:blip r:embed="rId2"/>
          <a:stretch>
            <a:fillRect/>
          </a:stretch>
        </p:blipFill>
        <p:spPr>
          <a:xfrm>
            <a:off x="8979408" y="5120640"/>
            <a:ext cx="329184" cy="329184"/>
          </a:xfrm>
          <a:prstGeom prst="rect">
            <a:avLst/>
          </a:prstGeom>
        </p:spPr>
      </p:pic>
      <p:pic>
        <p:nvPicPr>
          <p:cNvPr id="23" name="chi2" descr="base">    </p:cNvPr>
          <p:cNvPicPr>
            <a:picLocks noChangeAspect="1"/>
          </p:cNvPicPr>
          <p:nvPr/>
        </p:nvPicPr>
        <p:blipFill>
          <a:blip r:embed="rId3"/>
          <a:stretch>
            <a:fillRect/>
          </a:stretch>
        </p:blipFill>
        <p:spPr>
          <a:xfrm>
            <a:off x="9409176" y="5120640"/>
            <a:ext cx="329184" cy="329184"/>
          </a:xfrm>
          <a:prstGeom prst="rect">
            <a:avLst/>
          </a:prstGeom>
        </p:spPr>
      </p:pic>
      <p:pic>
        <p:nvPicPr>
          <p:cNvPr id="24" name="chi3" descr="bnb">    </p:cNvPr>
          <p:cNvPicPr>
            <a:picLocks noChangeAspect="1"/>
          </p:cNvPicPr>
          <p:nvPr/>
        </p:nvPicPr>
        <p:blipFill>
          <a:blip r:embed="rId4"/>
          <a:stretch>
            <a:fillRect/>
          </a:stretch>
        </p:blipFill>
        <p:spPr>
          <a:xfrm>
            <a:off x="9838944" y="5120640"/>
            <a:ext cx="329184" cy="329184"/>
          </a:xfrm>
          <a:prstGeom prst="rect">
            <a:avLst/>
          </a:prstGeom>
        </p:spPr>
      </p:pic>
      <p:pic>
        <p:nvPicPr>
          <p:cNvPr id="25" name="chi4" descr="arb">    </p:cNvPr>
          <p:cNvPicPr>
            <a:picLocks noChangeAspect="1"/>
          </p:cNvPicPr>
          <p:nvPr/>
        </p:nvPicPr>
        <p:blipFill>
          <a:blip r:embed="rId5"/>
          <a:stretch>
            <a:fillRect/>
          </a:stretch>
        </p:blipFill>
        <p:spPr>
          <a:xfrm>
            <a:off x="10268712" y="5120640"/>
            <a:ext cx="329184" cy="329184"/>
          </a:xfrm>
          <a:prstGeom prst="rect">
            <a:avLst/>
          </a:prstGeom>
        </p:spPr>
      </p:pic>
      <p:pic>
        <p:nvPicPr>
          <p:cNvPr id="26" name="chi5" descr="matic">    </p:cNvPr>
          <p:cNvPicPr>
            <a:picLocks noChangeAspect="1"/>
          </p:cNvPicPr>
          <p:nvPr/>
        </p:nvPicPr>
        <p:blipFill>
          <a:blip r:embed="rId6"/>
          <a:stretch>
            <a:fillRect/>
          </a:stretch>
        </p:blipFill>
        <p:spPr>
          <a:xfrm>
            <a:off x="10698480" y="5120640"/>
            <a:ext cx="329184" cy="329184"/>
          </a:xfrm>
          <a:prstGeom prst="rect">
            <a:avLst/>
          </a:prstGeom>
        </p:spPr>
      </p:pic>
      <p:pic>
        <p:nvPicPr>
          <p:cNvPr id="27" name="chi6" descr="btc">    </p:cNvPr>
          <p:cNvPicPr>
            <a:picLocks noChangeAspect="1"/>
          </p:cNvPicPr>
          <p:nvPr/>
        </p:nvPicPr>
        <p:blipFill>
          <a:blip r:embed="rId7"/>
          <a:stretch>
            <a:fillRect/>
          </a:stretch>
        </p:blipFill>
        <p:spPr>
          <a:xfrm>
            <a:off x="11128248" y="5120640"/>
            <a:ext cx="329184" cy="329184"/>
          </a:xfrm>
          <a:prstGeom prst="rect">
            <a:avLst/>
          </a:prstGeom>
        </p:spPr>
      </p:pic>
      <p:sp>
        <p:nvSpPr>
          <p:cNvPr id="28" name="Shape 19"/>
          <p:cNvSpPr/>
          <p:nvPr/>
        </p:nvSpPr>
        <p:spPr>
          <a:xfrm>
            <a:off x="3749040" y="2487168"/>
            <a:ext cx="320040" cy="0"/>
          </a:xfrm>
          <a:prstGeom prst="line">
            <a:avLst/>
          </a:prstGeom>
          <a:noFill/>
          <a:ln w="19050">
            <a:solidFill>
              <a:srgbClr val="CBD3DF"/>
            </a:solidFill>
            <a:prstDash val="solid"/>
          </a:ln>
        </p:spPr>
      </p:sp>
      <p:sp>
        <p:nvSpPr>
          <p:cNvPr id="29" name="Shape 20"/>
          <p:cNvSpPr/>
          <p:nvPr/>
        </p:nvSpPr>
        <p:spPr>
          <a:xfrm>
            <a:off x="3749040" y="4114800"/>
            <a:ext cx="320040" cy="0"/>
          </a:xfrm>
          <a:prstGeom prst="line">
            <a:avLst/>
          </a:prstGeom>
          <a:noFill/>
          <a:ln w="19050">
            <a:solidFill>
              <a:srgbClr val="CBD3DF"/>
            </a:solidFill>
            <a:prstDash val="solid"/>
          </a:ln>
        </p:spPr>
      </p:sp>
      <p:sp>
        <p:nvSpPr>
          <p:cNvPr id="30" name="Shape 21"/>
          <p:cNvSpPr/>
          <p:nvPr/>
        </p:nvSpPr>
        <p:spPr>
          <a:xfrm>
            <a:off x="8046720" y="3017520"/>
            <a:ext cx="274320" cy="0"/>
          </a:xfrm>
          <a:prstGeom prst="line">
            <a:avLst/>
          </a:prstGeom>
          <a:noFill/>
          <a:ln w="19050">
            <a:solidFill>
              <a:srgbClr val="CBD3DF"/>
            </a:solidFill>
            <a:prstDash val="solid"/>
          </a:ln>
        </p:spPr>
      </p:sp>
      <p:sp>
        <p:nvSpPr>
          <p:cNvPr id="31" name="Shape 22"/>
          <p:cNvSpPr/>
          <p:nvPr/>
        </p:nvSpPr>
        <p:spPr>
          <a:xfrm>
            <a:off x="8046720" y="5184648"/>
            <a:ext cx="274320" cy="0"/>
          </a:xfrm>
          <a:prstGeom prst="line">
            <a:avLst/>
          </a:prstGeom>
          <a:noFill/>
          <a:ln w="19050">
            <a:solidFill>
              <a:srgbClr val="CBD3DF"/>
            </a:solidFill>
            <a:prstDash val="solid"/>
          </a:ln>
        </p:spPr>
      </p:sp>
      <p:sp>
        <p:nvSpPr>
          <p:cNvPr id="32" name="Shape 23"/>
          <p:cNvSpPr/>
          <p:nvPr/>
        </p:nvSpPr>
        <p:spPr>
          <a:xfrm>
            <a:off x="6053328" y="4206240"/>
            <a:ext cx="0" cy="228600"/>
          </a:xfrm>
          <a:prstGeom prst="line">
            <a:avLst/>
          </a:prstGeom>
          <a:noFill/>
          <a:ln w="19050">
            <a:solidFill>
              <a:srgbClr val="CBD3DF"/>
            </a:solidFill>
            <a:prstDash val="solid"/>
          </a:ln>
        </p:spPr>
      </p:sp>
      <p:sp>
        <p:nvSpPr>
          <p:cNvPr id="33"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Source of truth: docs/architecture/ARCHITECTURE.md and the decision register (D-001 to D-121).</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nodeType="withEffect">
                                  <p:stCondLst>
                                    <p:cond delay="30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10" presetClass="entr" presetSubtype="0" fill="hold" nodeType="withEffect">
                                  <p:stCondLst>
                                    <p:cond delay="32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600"/>
                                        <p:tgtEl>
                                          <p:spTgt spid="24"/>
                                        </p:tgtEl>
                                      </p:cBhvr>
                                    </p:animEffect>
                                  </p:childTnLst>
                                </p:cTn>
                              </p:par>
                              <p:par>
                                <p:cTn id="68" presetID="10" presetClass="entr" presetSubtype="0" fill="hold" nodeType="withEffect">
                                  <p:stCondLst>
                                    <p:cond delay="336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600"/>
                                        <p:tgtEl>
                                          <p:spTgt spid="25"/>
                                        </p:tgtEl>
                                      </p:cBhvr>
                                    </p:animEffect>
                                  </p:childTnLst>
                                </p:cTn>
                              </p:par>
                              <p:par>
                                <p:cTn id="71" presetID="10" presetClass="entr" presetSubtype="0" fill="hold" nodeType="withEffect">
                                  <p:stCondLst>
                                    <p:cond delay="35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10" presetClass="entr" presetSubtype="0" fill="hold" nodeType="withEffect">
                                  <p:stCondLst>
                                    <p:cond delay="36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A2 · SOLANA INTEGRATION</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How one investment moves, step by step</a:t>
            </a:r>
            <a:endParaRPr lang="en-US" sz="3600" dirty="0"/>
          </a:p>
        </p:txBody>
      </p:sp>
      <p:sp>
        <p:nvSpPr>
          <p:cNvPr id="4" name="s0"/>
          <p:cNvSpPr/>
          <p:nvPr/>
        </p:nvSpPr>
        <p:spPr>
          <a:xfrm>
            <a:off x="548640" y="1828800"/>
            <a:ext cx="1467351" cy="1828800"/>
          </a:xfrm>
          <a:prstGeom prst="roundRect">
            <a:avLst>
              <a:gd name="adj" fmla="val 8724"/>
            </a:avLst>
          </a:prstGeom>
          <a:solidFill>
            <a:srgbClr val="FFFFFF"/>
          </a:solidFill>
          <a:ln w="9525">
            <a:solidFill>
              <a:srgbClr val="E2E7EF"/>
            </a:solidFill>
            <a:prstDash val="solid"/>
          </a:ln>
        </p:spPr>
      </p:sp>
      <p:sp>
        <p:nvSpPr>
          <p:cNvPr id="5" name="sn0"/>
          <p:cNvSpPr txBox="1"/>
          <p:nvPr/>
        </p:nvSpPr>
        <p:spPr>
          <a:xfrm>
            <a:off x="685800"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01</a:t>
            </a:r>
            <a:endParaRPr lang="en-US" sz="1200" dirty="0"/>
          </a:p>
        </p:txBody>
      </p:sp>
      <p:sp>
        <p:nvSpPr>
          <p:cNvPr id="6" name="st0"/>
          <p:cNvSpPr txBox="1"/>
          <p:nvPr/>
        </p:nvSpPr>
        <p:spPr>
          <a:xfrm>
            <a:off x="685800"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Sign in</a:t>
            </a:r>
            <a:endParaRPr lang="en-US" sz="1500" dirty="0"/>
          </a:p>
        </p:txBody>
      </p:sp>
      <p:sp>
        <p:nvSpPr>
          <p:cNvPr id="7" name="sd0"/>
          <p:cNvSpPr txBox="1"/>
          <p:nvPr/>
        </p:nvSpPr>
        <p:spPr>
          <a:xfrm>
            <a:off x="685800"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Sign-In with Solana proof; session only</a:t>
            </a:r>
            <a:endParaRPr lang="en-US" sz="1200" dirty="0"/>
          </a:p>
        </p:txBody>
      </p:sp>
      <p:sp>
        <p:nvSpPr>
          <p:cNvPr id="8" name="s1"/>
          <p:cNvSpPr/>
          <p:nvPr/>
        </p:nvSpPr>
        <p:spPr>
          <a:xfrm>
            <a:off x="2153151" y="1828800"/>
            <a:ext cx="1467351" cy="1828800"/>
          </a:xfrm>
          <a:prstGeom prst="roundRect">
            <a:avLst>
              <a:gd name="adj" fmla="val 8724"/>
            </a:avLst>
          </a:prstGeom>
          <a:solidFill>
            <a:srgbClr val="FFFFFF"/>
          </a:solidFill>
          <a:ln w="9525">
            <a:solidFill>
              <a:srgbClr val="E2E7EF"/>
            </a:solidFill>
            <a:prstDash val="solid"/>
          </a:ln>
        </p:spPr>
      </p:sp>
      <p:sp>
        <p:nvSpPr>
          <p:cNvPr id="9" name="sn1"/>
          <p:cNvSpPr txBox="1"/>
          <p:nvPr/>
        </p:nvSpPr>
        <p:spPr>
          <a:xfrm>
            <a:off x="2290311"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02</a:t>
            </a:r>
            <a:endParaRPr lang="en-US" sz="1200" dirty="0"/>
          </a:p>
        </p:txBody>
      </p:sp>
      <p:sp>
        <p:nvSpPr>
          <p:cNvPr id="10" name="st1"/>
          <p:cNvSpPr txBox="1"/>
          <p:nvPr/>
        </p:nvSpPr>
        <p:spPr>
          <a:xfrm>
            <a:off x="2290311"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Plan</a:t>
            </a:r>
            <a:endParaRPr lang="en-US" sz="1500" dirty="0"/>
          </a:p>
        </p:txBody>
      </p:sp>
      <p:sp>
        <p:nvSpPr>
          <p:cNvPr id="11" name="sd1"/>
          <p:cNvSpPr txBox="1"/>
          <p:nvPr/>
        </p:nvSpPr>
        <p:spPr>
          <a:xfrm>
            <a:off x="2290311"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Steps built from reconciled holdings</a:t>
            </a:r>
            <a:endParaRPr lang="en-US" sz="1200" dirty="0"/>
          </a:p>
        </p:txBody>
      </p:sp>
      <p:sp>
        <p:nvSpPr>
          <p:cNvPr id="12" name="s2"/>
          <p:cNvSpPr/>
          <p:nvPr/>
        </p:nvSpPr>
        <p:spPr>
          <a:xfrm>
            <a:off x="3757661" y="1828800"/>
            <a:ext cx="1467351" cy="1828800"/>
          </a:xfrm>
          <a:prstGeom prst="roundRect">
            <a:avLst>
              <a:gd name="adj" fmla="val 8724"/>
            </a:avLst>
          </a:prstGeom>
          <a:solidFill>
            <a:srgbClr val="E8EEFC"/>
          </a:solidFill>
          <a:ln/>
        </p:spPr>
      </p:sp>
      <p:sp>
        <p:nvSpPr>
          <p:cNvPr id="13" name="sn2"/>
          <p:cNvSpPr txBox="1"/>
          <p:nvPr/>
        </p:nvSpPr>
        <p:spPr>
          <a:xfrm>
            <a:off x="3894821"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03</a:t>
            </a:r>
            <a:endParaRPr lang="en-US" sz="1200" dirty="0"/>
          </a:p>
        </p:txBody>
      </p:sp>
      <p:sp>
        <p:nvSpPr>
          <p:cNvPr id="14" name="st2"/>
          <p:cNvSpPr txBox="1"/>
          <p:nvPr/>
        </p:nvSpPr>
        <p:spPr>
          <a:xfrm>
            <a:off x="3894821"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Fee step</a:t>
            </a:r>
            <a:endParaRPr lang="en-US" sz="1500" dirty="0"/>
          </a:p>
        </p:txBody>
      </p:sp>
      <p:sp>
        <p:nvSpPr>
          <p:cNvPr id="15" name="sd2"/>
          <p:cNvSpPr txBox="1"/>
          <p:nvPr/>
        </p:nvSpPr>
        <p:spPr>
          <a:xfrm>
            <a:off x="3894821"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One Solana tx, several USDC transfers</a:t>
            </a:r>
            <a:endParaRPr lang="en-US" sz="1200" dirty="0"/>
          </a:p>
        </p:txBody>
      </p:sp>
      <p:sp>
        <p:nvSpPr>
          <p:cNvPr id="16" name="s3"/>
          <p:cNvSpPr/>
          <p:nvPr/>
        </p:nvSpPr>
        <p:spPr>
          <a:xfrm>
            <a:off x="5362172" y="1828800"/>
            <a:ext cx="1467351" cy="1828800"/>
          </a:xfrm>
          <a:prstGeom prst="roundRect">
            <a:avLst>
              <a:gd name="adj" fmla="val 8724"/>
            </a:avLst>
          </a:prstGeom>
          <a:solidFill>
            <a:srgbClr val="FFFFFF"/>
          </a:solidFill>
          <a:ln w="9525">
            <a:solidFill>
              <a:srgbClr val="E2E7EF"/>
            </a:solidFill>
            <a:prstDash val="solid"/>
          </a:ln>
        </p:spPr>
      </p:sp>
      <p:sp>
        <p:nvSpPr>
          <p:cNvPr id="17" name="sn3"/>
          <p:cNvSpPr txBox="1"/>
          <p:nvPr/>
        </p:nvSpPr>
        <p:spPr>
          <a:xfrm>
            <a:off x="5499332"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04</a:t>
            </a:r>
            <a:endParaRPr lang="en-US" sz="1200" dirty="0"/>
          </a:p>
        </p:txBody>
      </p:sp>
      <p:sp>
        <p:nvSpPr>
          <p:cNvPr id="18" name="st3"/>
          <p:cNvSpPr txBox="1"/>
          <p:nvPr/>
        </p:nvSpPr>
        <p:spPr>
          <a:xfrm>
            <a:off x="5499332"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Quote</a:t>
            </a:r>
            <a:endParaRPr lang="en-US" sz="1500" dirty="0"/>
          </a:p>
        </p:txBody>
      </p:sp>
      <p:sp>
        <p:nvSpPr>
          <p:cNvPr id="19" name="sd3"/>
          <p:cNvSpPr txBox="1"/>
          <p:nvPr/>
        </p:nvSpPr>
        <p:spPr>
          <a:xfrm>
            <a:off x="5499332"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Fresh 60-second quote per step</a:t>
            </a:r>
            <a:endParaRPr lang="en-US" sz="1200" dirty="0"/>
          </a:p>
        </p:txBody>
      </p:sp>
      <p:sp>
        <p:nvSpPr>
          <p:cNvPr id="20" name="s4"/>
          <p:cNvSpPr/>
          <p:nvPr/>
        </p:nvSpPr>
        <p:spPr>
          <a:xfrm>
            <a:off x="6966683" y="1828800"/>
            <a:ext cx="1467351" cy="1828800"/>
          </a:xfrm>
          <a:prstGeom prst="roundRect">
            <a:avLst>
              <a:gd name="adj" fmla="val 8724"/>
            </a:avLst>
          </a:prstGeom>
          <a:solidFill>
            <a:srgbClr val="FFFFFF"/>
          </a:solidFill>
          <a:ln w="9525">
            <a:solidFill>
              <a:srgbClr val="E2E7EF"/>
            </a:solidFill>
            <a:prstDash val="solid"/>
          </a:ln>
        </p:spPr>
      </p:sp>
      <p:sp>
        <p:nvSpPr>
          <p:cNvPr id="21" name="sn4"/>
          <p:cNvSpPr txBox="1"/>
          <p:nvPr/>
        </p:nvSpPr>
        <p:spPr>
          <a:xfrm>
            <a:off x="7103843"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05</a:t>
            </a:r>
            <a:endParaRPr lang="en-US" sz="1200" dirty="0"/>
          </a:p>
        </p:txBody>
      </p:sp>
      <p:sp>
        <p:nvSpPr>
          <p:cNvPr id="22" name="st4"/>
          <p:cNvSpPr txBox="1"/>
          <p:nvPr/>
        </p:nvSpPr>
        <p:spPr>
          <a:xfrm>
            <a:off x="7103843"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Sign</a:t>
            </a:r>
            <a:endParaRPr lang="en-US" sz="1500" dirty="0"/>
          </a:p>
        </p:txBody>
      </p:sp>
      <p:sp>
        <p:nvSpPr>
          <p:cNvPr id="23" name="sd4"/>
          <p:cNvSpPr txBox="1"/>
          <p:nvPr/>
        </p:nvSpPr>
        <p:spPr>
          <a:xfrm>
            <a:off x="7103843"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You sign in your own wallet</a:t>
            </a:r>
            <a:endParaRPr lang="en-US" sz="1200" dirty="0"/>
          </a:p>
        </p:txBody>
      </p:sp>
      <p:sp>
        <p:nvSpPr>
          <p:cNvPr id="24" name="s5"/>
          <p:cNvSpPr/>
          <p:nvPr/>
        </p:nvSpPr>
        <p:spPr>
          <a:xfrm>
            <a:off x="8571194" y="1828800"/>
            <a:ext cx="1467351" cy="1828800"/>
          </a:xfrm>
          <a:prstGeom prst="roundRect">
            <a:avLst>
              <a:gd name="adj" fmla="val 8724"/>
            </a:avLst>
          </a:prstGeom>
          <a:solidFill>
            <a:srgbClr val="E8EEFC"/>
          </a:solidFill>
          <a:ln/>
        </p:spPr>
      </p:sp>
      <p:sp>
        <p:nvSpPr>
          <p:cNvPr id="25" name="sn5"/>
          <p:cNvSpPr txBox="1"/>
          <p:nvPr/>
        </p:nvSpPr>
        <p:spPr>
          <a:xfrm>
            <a:off x="8708354"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06</a:t>
            </a:r>
            <a:endParaRPr lang="en-US" sz="1200" dirty="0"/>
          </a:p>
        </p:txBody>
      </p:sp>
      <p:sp>
        <p:nvSpPr>
          <p:cNvPr id="26" name="st5"/>
          <p:cNvSpPr txBox="1"/>
          <p:nvPr/>
        </p:nvSpPr>
        <p:spPr>
          <a:xfrm>
            <a:off x="8708354"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Co-sign</a:t>
            </a:r>
            <a:endParaRPr lang="en-US" sz="1500" dirty="0"/>
          </a:p>
        </p:txBody>
      </p:sp>
      <p:sp>
        <p:nvSpPr>
          <p:cNvPr id="27" name="sd5"/>
          <p:cNvSpPr txBox="1"/>
          <p:nvPr/>
        </p:nvSpPr>
        <p:spPr>
          <a:xfrm>
            <a:off x="8708354"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Fee payer signs only byte-identical tx</a:t>
            </a:r>
            <a:endParaRPr lang="en-US" sz="1200" dirty="0"/>
          </a:p>
        </p:txBody>
      </p:sp>
      <p:sp>
        <p:nvSpPr>
          <p:cNvPr id="28" name="s6"/>
          <p:cNvSpPr/>
          <p:nvPr/>
        </p:nvSpPr>
        <p:spPr>
          <a:xfrm>
            <a:off x="10175704" y="1828800"/>
            <a:ext cx="1467351" cy="1828800"/>
          </a:xfrm>
          <a:prstGeom prst="roundRect">
            <a:avLst>
              <a:gd name="adj" fmla="val 8724"/>
            </a:avLst>
          </a:prstGeom>
          <a:solidFill>
            <a:srgbClr val="FFFFFF"/>
          </a:solidFill>
          <a:ln w="9525">
            <a:solidFill>
              <a:srgbClr val="E2E7EF"/>
            </a:solidFill>
            <a:prstDash val="solid"/>
          </a:ln>
        </p:spPr>
      </p:sp>
      <p:sp>
        <p:nvSpPr>
          <p:cNvPr id="29" name="sn6"/>
          <p:cNvSpPr txBox="1"/>
          <p:nvPr/>
        </p:nvSpPr>
        <p:spPr>
          <a:xfrm>
            <a:off x="10312864" y="1965960"/>
            <a:ext cx="1193031" cy="274320"/>
          </a:xfrm>
          <a:prstGeom prst="rect">
            <a:avLst/>
          </a:prstGeom>
          <a:noFill/>
          <a:ln/>
        </p:spPr>
        <p:txBody>
          <a:bodyPr wrap="square" lIns="0" tIns="0" rIns="0" bIns="0" rtlCol="0" anchor="t"/>
          <a:lstStyle/>
          <a:p>
            <a:pPr algn="l" indent="0" marL="0">
              <a:buNone/>
            </a:pPr>
            <a:r>
              <a:rPr lang="en-US" sz="1200" b="1" dirty="0">
                <a:solidFill>
                  <a:srgbClr val="3D63D9"/>
                </a:solidFill>
                <a:latin typeface="Calibri" pitchFamily="34" charset="0"/>
                <a:ea typeface="Calibri" pitchFamily="34" charset="-122"/>
                <a:cs typeface="Calibri" pitchFamily="34" charset="-120"/>
              </a:rPr>
              <a:t>07</a:t>
            </a:r>
            <a:endParaRPr lang="en-US" sz="1200" dirty="0"/>
          </a:p>
        </p:txBody>
      </p:sp>
      <p:sp>
        <p:nvSpPr>
          <p:cNvPr id="30" name="st6"/>
          <p:cNvSpPr txBox="1"/>
          <p:nvPr/>
        </p:nvSpPr>
        <p:spPr>
          <a:xfrm>
            <a:off x="10312864" y="2267712"/>
            <a:ext cx="1193031" cy="329184"/>
          </a:xfrm>
          <a:prstGeom prst="rect">
            <a:avLst/>
          </a:prstGeom>
          <a:noFill/>
          <a:ln/>
        </p:spPr>
        <p:txBody>
          <a:bodyPr wrap="square" lIns="0" tIns="0" rIns="0" bIns="0" rtlCol="0" anchor="t"/>
          <a:lstStyle/>
          <a:p>
            <a:pPr algn="l" indent="0" marL="0">
              <a:buNone/>
            </a:pPr>
            <a:r>
              <a:rPr lang="en-US" sz="1500" b="1" dirty="0">
                <a:solidFill>
                  <a:srgbClr val="0F1E3A"/>
                </a:solidFill>
                <a:latin typeface="Calibri" pitchFamily="34" charset="0"/>
                <a:ea typeface="Calibri" pitchFamily="34" charset="-122"/>
                <a:cs typeface="Calibri" pitchFamily="34" charset="-120"/>
              </a:rPr>
              <a:t>Track</a:t>
            </a:r>
            <a:endParaRPr lang="en-US" sz="1500" dirty="0"/>
          </a:p>
        </p:txBody>
      </p:sp>
      <p:sp>
        <p:nvSpPr>
          <p:cNvPr id="31" name="sd6"/>
          <p:cNvSpPr txBox="1"/>
          <p:nvPr/>
        </p:nvSpPr>
        <p:spPr>
          <a:xfrm>
            <a:off x="10312864" y="2633472"/>
            <a:ext cx="1238751" cy="914400"/>
          </a:xfrm>
          <a:prstGeom prst="rect">
            <a:avLst/>
          </a:prstGeom>
          <a:noFill/>
          <a:ln/>
        </p:spPr>
        <p:txBody>
          <a:bodyPr wrap="square" lIns="0" tIns="0" rIns="0" bIns="0" rtlCol="0" anchor="t"/>
          <a:lstStyle/>
          <a:p>
            <a:pPr algn="l" indent="0" marL="0">
              <a:buNone/>
            </a:pPr>
            <a:r>
              <a:rPr lang="en-US" sz="1200" dirty="0">
                <a:solidFill>
                  <a:srgbClr val="56627A"/>
                </a:solidFill>
                <a:latin typeface="Calibri" pitchFamily="34" charset="0"/>
                <a:ea typeface="Calibri" pitchFamily="34" charset="-122"/>
                <a:cs typeface="Calibri" pitchFamily="34" charset="-120"/>
              </a:rPr>
              <a:t>Ledger written from chain evidence</a:t>
            </a:r>
            <a:endParaRPr lang="en-US" sz="1200" dirty="0"/>
          </a:p>
        </p:txBody>
      </p:sp>
      <p:sp>
        <p:nvSpPr>
          <p:cNvPr id="32" name="lh"/>
          <p:cNvSpPr txBox="1"/>
          <p:nvPr/>
        </p:nvSpPr>
        <p:spPr>
          <a:xfrm>
            <a:off x="548640" y="3977640"/>
            <a:ext cx="3657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EVERY STEP'S STATE</a:t>
            </a:r>
            <a:endParaRPr lang="en-US" sz="1100" dirty="0"/>
          </a:p>
        </p:txBody>
      </p:sp>
      <p:sp>
        <p:nvSpPr>
          <p:cNvPr id="33" name="ls0"/>
          <p:cNvSpPr/>
          <p:nvPr/>
        </p:nvSpPr>
        <p:spPr>
          <a:xfrm>
            <a:off x="548640" y="4315968"/>
            <a:ext cx="1097280" cy="420624"/>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Planned</a:t>
            </a:r>
            <a:endParaRPr lang="en-US" sz="1400" dirty="0"/>
          </a:p>
        </p:txBody>
      </p:sp>
      <p:pic>
        <p:nvPicPr>
          <p:cNvPr id="34" name="la0" descr="preencoded.png">    </p:cNvPr>
          <p:cNvPicPr>
            <a:picLocks noChangeAspect="1"/>
          </p:cNvPicPr>
          <p:nvPr/>
        </p:nvPicPr>
        <p:blipFill>
          <a:blip r:embed="rId1"/>
          <a:stretch>
            <a:fillRect/>
          </a:stretch>
        </p:blipFill>
        <p:spPr>
          <a:xfrm>
            <a:off x="1737360" y="4416552"/>
            <a:ext cx="219456" cy="219456"/>
          </a:xfrm>
          <a:prstGeom prst="rect">
            <a:avLst/>
          </a:prstGeom>
        </p:spPr>
      </p:pic>
      <p:sp>
        <p:nvSpPr>
          <p:cNvPr id="35" name="ls1"/>
          <p:cNvSpPr/>
          <p:nvPr/>
        </p:nvSpPr>
        <p:spPr>
          <a:xfrm>
            <a:off x="2057400" y="4315968"/>
            <a:ext cx="1280160" cy="420624"/>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Submitted</a:t>
            </a:r>
            <a:endParaRPr lang="en-US" sz="1400" dirty="0"/>
          </a:p>
        </p:txBody>
      </p:sp>
      <p:pic>
        <p:nvPicPr>
          <p:cNvPr id="36" name="la1" descr="preencoded.png">    </p:cNvPr>
          <p:cNvPicPr>
            <a:picLocks noChangeAspect="1"/>
          </p:cNvPicPr>
          <p:nvPr/>
        </p:nvPicPr>
        <p:blipFill>
          <a:blip r:embed="rId2"/>
          <a:stretch>
            <a:fillRect/>
          </a:stretch>
        </p:blipFill>
        <p:spPr>
          <a:xfrm>
            <a:off x="3429000" y="4416552"/>
            <a:ext cx="219456" cy="219456"/>
          </a:xfrm>
          <a:prstGeom prst="rect">
            <a:avLst/>
          </a:prstGeom>
        </p:spPr>
      </p:pic>
      <p:sp>
        <p:nvSpPr>
          <p:cNvPr id="37" name="ls2"/>
          <p:cNvSpPr/>
          <p:nvPr/>
        </p:nvSpPr>
        <p:spPr>
          <a:xfrm>
            <a:off x="3749040" y="4315968"/>
            <a:ext cx="1920240" cy="420624"/>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Pending on chain</a:t>
            </a:r>
            <a:endParaRPr lang="en-US" sz="1400" dirty="0"/>
          </a:p>
        </p:txBody>
      </p:sp>
      <p:pic>
        <p:nvPicPr>
          <p:cNvPr id="38" name="la2" descr="preencoded.png">    </p:cNvPr>
          <p:cNvPicPr>
            <a:picLocks noChangeAspect="1"/>
          </p:cNvPicPr>
          <p:nvPr/>
        </p:nvPicPr>
        <p:blipFill>
          <a:blip r:embed="rId3"/>
          <a:stretch>
            <a:fillRect/>
          </a:stretch>
        </p:blipFill>
        <p:spPr>
          <a:xfrm>
            <a:off x="5806440" y="4416552"/>
            <a:ext cx="219456" cy="219456"/>
          </a:xfrm>
          <a:prstGeom prst="rect">
            <a:avLst/>
          </a:prstGeom>
        </p:spPr>
      </p:pic>
      <p:sp>
        <p:nvSpPr>
          <p:cNvPr id="39" name="ls3"/>
          <p:cNvSpPr/>
          <p:nvPr/>
        </p:nvSpPr>
        <p:spPr>
          <a:xfrm>
            <a:off x="6172200" y="4315968"/>
            <a:ext cx="1097280" cy="420624"/>
          </a:xfrm>
          <a:prstGeom prst="roundRect">
            <a:avLst>
              <a:gd name="adj" fmla="val 50000"/>
            </a:avLst>
          </a:prstGeom>
          <a:solidFill>
            <a:srgbClr val="E3F3EA"/>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Settled</a:t>
            </a:r>
            <a:endParaRPr lang="en-US" sz="1400" dirty="0"/>
          </a:p>
        </p:txBody>
      </p:sp>
      <p:sp>
        <p:nvSpPr>
          <p:cNvPr id="40" name="ls4"/>
          <p:cNvSpPr/>
          <p:nvPr/>
        </p:nvSpPr>
        <p:spPr>
          <a:xfrm>
            <a:off x="7452360" y="4315968"/>
            <a:ext cx="1005840" cy="420624"/>
          </a:xfrm>
          <a:prstGeom prst="roundRect">
            <a:avLst>
              <a:gd name="adj" fmla="val 50000"/>
            </a:avLst>
          </a:prstGeom>
          <a:solidFill>
            <a:srgbClr val="FBE4E1"/>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Failed</a:t>
            </a:r>
            <a:endParaRPr lang="en-US" sz="1400" dirty="0"/>
          </a:p>
        </p:txBody>
      </p:sp>
      <p:sp>
        <p:nvSpPr>
          <p:cNvPr id="41" name="ls5"/>
          <p:cNvSpPr/>
          <p:nvPr/>
        </p:nvSpPr>
        <p:spPr>
          <a:xfrm>
            <a:off x="8641080" y="4315968"/>
            <a:ext cx="1097280" cy="420624"/>
          </a:xfrm>
          <a:prstGeom prst="roundRect">
            <a:avLst>
              <a:gd name="adj" fmla="val 50000"/>
            </a:avLst>
          </a:prstGeom>
          <a:solidFill>
            <a:srgbClr val="FFF3D6"/>
          </a:solidFill>
          <a:ln w="9525">
            <a:solidFill>
              <a:srgbClr val="CBD3DF"/>
            </a:solidFill>
            <a:prstDash val="solid"/>
          </a:ln>
        </p:spPr>
        <p:txBody>
          <a:bodyPr wrap="square" lIns="0" tIns="0" rIns="0" bIns="0" rtlCol="0" anchor="ctr"/>
          <a:lstStyle/>
          <a:p>
            <a:pPr algn="ctr" indent="0" marL="0">
              <a:buNone/>
            </a:pPr>
            <a:r>
              <a:rPr lang="en-US" sz="1400" dirty="0">
                <a:solidFill>
                  <a:srgbClr val="0F1E3A"/>
                </a:solidFill>
                <a:latin typeface="Calibri" pitchFamily="34" charset="0"/>
                <a:ea typeface="Calibri" pitchFamily="34" charset="-122"/>
                <a:cs typeface="Calibri" pitchFamily="34" charset="-120"/>
              </a:rPr>
              <a:t>Unknown</a:t>
            </a:r>
            <a:endParaRPr lang="en-US" sz="1400" dirty="0"/>
          </a:p>
        </p:txBody>
      </p:sp>
      <p:sp>
        <p:nvSpPr>
          <p:cNvPr id="42" name="notes"/>
          <p:cNvSpPr txBox="1"/>
          <p:nvPr/>
        </p:nvSpPr>
        <p:spPr>
          <a:xfrm>
            <a:off x="548640" y="4983480"/>
            <a:ext cx="11094415" cy="1280160"/>
          </a:xfrm>
          <a:prstGeom prst="rect">
            <a:avLst/>
          </a:prstGeom>
          <a:noFill/>
          <a:ln/>
        </p:spPr>
        <p:txBody>
          <a:bodyPr wrap="square" lIns="0" tIns="0" rIns="0" bIns="0" rtlCol="0" anchor="t"/>
          <a:lstStyle/>
          <a:p>
            <a:pPr algn="l" marL="342900" indent="-342900">
              <a:spcAft>
                <a:spcPts val="400"/>
              </a:spcAft>
              <a:buSzPct val="100000"/>
              <a:buChar char="•"/>
            </a:pPr>
            <a:r>
              <a:rPr lang="en-US" sz="1400" dirty="0">
                <a:solidFill>
                  <a:srgbClr val="0F1E3A"/>
                </a:solidFill>
                <a:latin typeface="Calibri" pitchFamily="34" charset="0"/>
                <a:ea typeface="Calibri" pitchFamily="34" charset="-122"/>
                <a:cs typeface="Calibri" pitchFamily="34" charset="-120"/>
              </a:rPr>
              <a:t>Operations can end Partial. An unknown outcome is re-checked hourly for 7 days and never resubmitted.</a:t>
            </a:r>
            <a:endParaRPr lang="en-US" sz="1400" dirty="0"/>
          </a:p>
          <a:p>
            <a:pPr algn="l" marL="342900" indent="-342900">
              <a:spcAft>
                <a:spcPts val="400"/>
              </a:spcAft>
              <a:buSzPct val="100000"/>
              <a:buChar char="•"/>
            </a:pPr>
            <a:r>
              <a:rPr lang="en-US" sz="1400" dirty="0">
                <a:solidFill>
                  <a:srgbClr val="0F1E3A"/>
                </a:solidFill>
                <a:latin typeface="Calibri" pitchFamily="34" charset="0"/>
                <a:ea typeface="Calibri" pitchFamily="34" charset="-122"/>
                <a:cs typeface="Calibri" pitchFamily="34" charset="-120"/>
              </a:rPr>
              <a:t>Guards: price impact refused above 5%, slippage 1% by default (max 3%), exact-amount EVM approvals, Bitcoin PSBT checks.</a:t>
            </a:r>
            <a:endParaRPr lang="en-US" sz="1400" dirty="0"/>
          </a:p>
          <a:p>
            <a:pPr algn="l" marL="342900" indent="-342900">
              <a:spcAft>
                <a:spcPts val="400"/>
              </a:spcAft>
              <a:buSzPct val="100000"/>
              <a:buChar char="•"/>
            </a:pPr>
            <a:r>
              <a:rPr lang="en-US" sz="1400" dirty="0">
                <a:solidFill>
                  <a:srgbClr val="0F1E3A"/>
                </a:solidFill>
                <a:latin typeface="Calibri" pitchFamily="34" charset="0"/>
                <a:ea typeface="Calibri" pitchFamily="34" charset="-122"/>
                <a:cs typeface="Calibri" pitchFamily="34" charset="-120"/>
              </a:rPr>
              <a:t>Gas: Solana steps co-signed by the platform fee payer; EVM steps get one gas drop; costs recovered in USDC.</a:t>
            </a:r>
            <a:endParaRPr lang="en-US" sz="1400" dirty="0"/>
          </a:p>
        </p:txBody>
      </p:sp>
      <p:sp>
        <p:nvSpPr>
          <p:cNvPr id="43"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ADR-013, ADR-014, ADR-017; decisions D-067 to D-075, D-107.</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nodeType="withEffect">
                                  <p:stCondLst>
                                    <p:cond delay="30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10" presetClass="entr" presetSubtype="0" fill="hold" nodeType="withEffect">
                                  <p:stCondLst>
                                    <p:cond delay="32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600"/>
                                        <p:tgtEl>
                                          <p:spTgt spid="24"/>
                                        </p:tgtEl>
                                      </p:cBhvr>
                                    </p:animEffect>
                                  </p:childTnLst>
                                </p:cTn>
                              </p:par>
                              <p:par>
                                <p:cTn id="68" presetID="10" presetClass="entr" presetSubtype="0" fill="hold" nodeType="withEffect">
                                  <p:stCondLst>
                                    <p:cond delay="336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600"/>
                                        <p:tgtEl>
                                          <p:spTgt spid="25"/>
                                        </p:tgtEl>
                                      </p:cBhvr>
                                    </p:animEffect>
                                  </p:childTnLst>
                                </p:cTn>
                              </p:par>
                              <p:par>
                                <p:cTn id="71" presetID="10" presetClass="entr" presetSubtype="0" fill="hold" nodeType="withEffect">
                                  <p:stCondLst>
                                    <p:cond delay="35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10" presetClass="entr" presetSubtype="0" fill="hold" nodeType="withEffect">
                                  <p:stCondLst>
                                    <p:cond delay="36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par>
                                <p:cTn id="77" presetID="10" presetClass="entr" presetSubtype="0" fill="hold" nodeType="withEffect">
                                  <p:stCondLst>
                                    <p:cond delay="384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600"/>
                                        <p:tgtEl>
                                          <p:spTgt spid="28"/>
                                        </p:tgtEl>
                                      </p:cBhvr>
                                    </p:animEffect>
                                  </p:childTnLst>
                                </p:cTn>
                              </p:par>
                              <p:par>
                                <p:cTn id="80" presetID="10" presetClass="entr" presetSubtype="0" fill="hold" nodeType="withEffect">
                                  <p:stCondLst>
                                    <p:cond delay="4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600"/>
                                        <p:tgtEl>
                                          <p:spTgt spid="29"/>
                                        </p:tgtEl>
                                      </p:cBhvr>
                                    </p:animEffect>
                                  </p:childTnLst>
                                </p:cTn>
                              </p:par>
                              <p:par>
                                <p:cTn id="83" presetID="10" presetClass="entr" presetSubtype="0" fill="hold" nodeType="withEffect">
                                  <p:stCondLst>
                                    <p:cond delay="416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600"/>
                                        <p:tgtEl>
                                          <p:spTgt spid="30"/>
                                        </p:tgtEl>
                                      </p:cBhvr>
                                    </p:animEffect>
                                  </p:childTnLst>
                                </p:cTn>
                              </p:par>
                              <p:par>
                                <p:cTn id="86" presetID="10" presetClass="entr" presetSubtype="0" fill="hold" nodeType="withEffect">
                                  <p:stCondLst>
                                    <p:cond delay="432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600"/>
                                        <p:tgtEl>
                                          <p:spTgt spid="31"/>
                                        </p:tgtEl>
                                      </p:cBhvr>
                                    </p:animEffect>
                                  </p:childTnLst>
                                </p:cTn>
                              </p:par>
                              <p:par>
                                <p:cTn id="89" presetID="10" presetClass="entr" presetSubtype="0" fill="hold" nodeType="withEffect">
                                  <p:stCondLst>
                                    <p:cond delay="448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600"/>
                                        <p:tgtEl>
                                          <p:spTgt spid="32"/>
                                        </p:tgtEl>
                                      </p:cBhvr>
                                    </p:animEffect>
                                  </p:childTnLst>
                                </p:cTn>
                              </p:par>
                              <p:par>
                                <p:cTn id="92" presetID="10" presetClass="entr" presetSubtype="0" fill="hold" nodeType="withEffect">
                                  <p:stCondLst>
                                    <p:cond delay="464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600"/>
                                        <p:tgtEl>
                                          <p:spTgt spid="33"/>
                                        </p:tgtEl>
                                      </p:cBhvr>
                                    </p:animEffect>
                                  </p:childTnLst>
                                </p:cTn>
                              </p:par>
                              <p:par>
                                <p:cTn id="95" presetID="10" presetClass="entr" presetSubtype="0" fill="hold" nodeType="withEffect">
                                  <p:stCondLst>
                                    <p:cond delay="48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600"/>
                                        <p:tgtEl>
                                          <p:spTgt spid="34"/>
                                        </p:tgtEl>
                                      </p:cBhvr>
                                    </p:animEffect>
                                  </p:childTnLst>
                                </p:cTn>
                              </p:par>
                              <p:par>
                                <p:cTn id="98" presetID="10" presetClass="entr" presetSubtype="0" fill="hold" nodeType="withEffect">
                                  <p:stCondLst>
                                    <p:cond delay="496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600"/>
                                        <p:tgtEl>
                                          <p:spTgt spid="35"/>
                                        </p:tgtEl>
                                      </p:cBhvr>
                                    </p:animEffect>
                                  </p:childTnLst>
                                </p:cTn>
                              </p:par>
                              <p:par>
                                <p:cTn id="101" presetID="10" presetClass="entr" presetSubtype="0" fill="hold" nodeType="withEffect">
                                  <p:stCondLst>
                                    <p:cond delay="512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600"/>
                                        <p:tgtEl>
                                          <p:spTgt spid="36"/>
                                        </p:tgtEl>
                                      </p:cBhvr>
                                    </p:animEffect>
                                  </p:childTnLst>
                                </p:cTn>
                              </p:par>
                              <p:par>
                                <p:cTn id="104" presetID="10" presetClass="entr" presetSubtype="0" fill="hold" nodeType="withEffect">
                                  <p:stCondLst>
                                    <p:cond delay="528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600"/>
                                        <p:tgtEl>
                                          <p:spTgt spid="37"/>
                                        </p:tgtEl>
                                      </p:cBhvr>
                                    </p:animEffect>
                                  </p:childTnLst>
                                </p:cTn>
                              </p:par>
                              <p:par>
                                <p:cTn id="107" presetID="10" presetClass="entr" presetSubtype="0" fill="hold" nodeType="withEffect">
                                  <p:stCondLst>
                                    <p:cond delay="544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600"/>
                                        <p:tgtEl>
                                          <p:spTgt spid="38"/>
                                        </p:tgtEl>
                                      </p:cBhvr>
                                    </p:animEffect>
                                  </p:childTnLst>
                                </p:cTn>
                              </p:par>
                              <p:par>
                                <p:cTn id="110" presetID="10" presetClass="entr" presetSubtype="0" fill="hold" nodeType="withEffect">
                                  <p:stCondLst>
                                    <p:cond delay="56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600"/>
                                        <p:tgtEl>
                                          <p:spTgt spid="39"/>
                                        </p:tgtEl>
                                      </p:cBhvr>
                                    </p:animEffect>
                                  </p:childTnLst>
                                </p:cTn>
                              </p:par>
                              <p:par>
                                <p:cTn id="113" presetID="10" presetClass="entr" presetSubtype="0" fill="hold" nodeType="withEffect">
                                  <p:stCondLst>
                                    <p:cond delay="576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600"/>
                                        <p:tgtEl>
                                          <p:spTgt spid="40"/>
                                        </p:tgtEl>
                                      </p:cBhvr>
                                    </p:animEffect>
                                  </p:childTnLst>
                                </p:cTn>
                              </p:par>
                              <p:par>
                                <p:cTn id="116" presetID="10" presetClass="entr" presetSubtype="0" fill="hold" nodeType="withEffect">
                                  <p:stCondLst>
                                    <p:cond delay="592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600"/>
                                        <p:tgtEl>
                                          <p:spTgt spid="41"/>
                                        </p:tgtEl>
                                      </p:cBhvr>
                                    </p:animEffect>
                                  </p:childTnLst>
                                </p:cTn>
                              </p:par>
                              <p:par>
                                <p:cTn id="119" presetID="10" presetClass="entr" presetSubtype="0" fill="hold" nodeType="withEffect">
                                  <p:stCondLst>
                                    <p:cond delay="608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6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5" grpId="0" animBg="1"/>
      <p:bldP spid="37" grpId="0" animBg="1"/>
      <p:bldP spid="39" grpId="0" animBg="1"/>
      <p:bldP spid="40" grpId="0" animBg="1"/>
      <p:bldP spid="41" grpId="0" animBg="1"/>
      <p:bldP spid="4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A3 · REBALANCE ENGINE</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Reconcile first, then plan, then let the holder decide</a:t>
            </a:r>
            <a:endParaRPr lang="en-US" sz="3600" dirty="0"/>
          </a:p>
        </p:txBody>
      </p:sp>
      <p:sp>
        <p:nvSpPr>
          <p:cNvPr id="4" name="n0"/>
          <p:cNvSpPr/>
          <p:nvPr/>
        </p:nvSpPr>
        <p:spPr>
          <a:xfrm>
            <a:off x="548640" y="185623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0"/>
          <p:cNvSpPr txBox="1"/>
          <p:nvPr/>
        </p:nvSpPr>
        <p:spPr>
          <a:xfrm>
            <a:off x="1097280" y="178308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Reconcile</a:t>
            </a:r>
            <a:endParaRPr lang="en-US" sz="1600" dirty="0"/>
          </a:p>
        </p:txBody>
      </p:sp>
      <p:sp>
        <p:nvSpPr>
          <p:cNvPr id="6" name="d0"/>
          <p:cNvSpPr txBox="1"/>
          <p:nvPr/>
        </p:nvSpPr>
        <p:spPr>
          <a:xfrm>
            <a:off x="2377440" y="178308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Read holdings from the chain; shared assets split across baskets</a:t>
            </a:r>
            <a:endParaRPr lang="en-US" sz="1300" dirty="0"/>
          </a:p>
        </p:txBody>
      </p:sp>
      <p:sp>
        <p:nvSpPr>
          <p:cNvPr id="7" name="n1"/>
          <p:cNvSpPr/>
          <p:nvPr/>
        </p:nvSpPr>
        <p:spPr>
          <a:xfrm>
            <a:off x="548640" y="258775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1"/>
          <p:cNvSpPr txBox="1"/>
          <p:nvPr/>
        </p:nvSpPr>
        <p:spPr>
          <a:xfrm>
            <a:off x="1097280" y="251460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Decide</a:t>
            </a:r>
            <a:endParaRPr lang="en-US" sz="1600" dirty="0"/>
          </a:p>
        </p:txBody>
      </p:sp>
      <p:sp>
        <p:nvSpPr>
          <p:cNvPr id="9" name="d1"/>
          <p:cNvSpPr txBox="1"/>
          <p:nvPr/>
        </p:nvSpPr>
        <p:spPr>
          <a:xfrm>
            <a:off x="2377440" y="251460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Apply a new version, skip it, or keep a custom mix</a:t>
            </a:r>
            <a:endParaRPr lang="en-US" sz="1300" dirty="0"/>
          </a:p>
        </p:txBody>
      </p:sp>
      <p:sp>
        <p:nvSpPr>
          <p:cNvPr id="10" name="n2"/>
          <p:cNvSpPr/>
          <p:nvPr/>
        </p:nvSpPr>
        <p:spPr>
          <a:xfrm>
            <a:off x="548640" y="331927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2"/>
          <p:cNvSpPr txBox="1"/>
          <p:nvPr/>
        </p:nvSpPr>
        <p:spPr>
          <a:xfrm>
            <a:off x="1097280" y="324612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Plan</a:t>
            </a:r>
            <a:endParaRPr lang="en-US" sz="1600" dirty="0"/>
          </a:p>
        </p:txBody>
      </p:sp>
      <p:sp>
        <p:nvSpPr>
          <p:cNvPr id="12" name="d2"/>
          <p:cNvSpPr txBox="1"/>
          <p:nvPr/>
        </p:nvSpPr>
        <p:spPr>
          <a:xfrm>
            <a:off x="2377440" y="324612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Skip trades under 50 bps or $5; one open operation per user</a:t>
            </a:r>
            <a:endParaRPr lang="en-US" sz="1300" dirty="0"/>
          </a:p>
        </p:txBody>
      </p:sp>
      <p:sp>
        <p:nvSpPr>
          <p:cNvPr id="13" name="n3"/>
          <p:cNvSpPr/>
          <p:nvPr/>
        </p:nvSpPr>
        <p:spPr>
          <a:xfrm>
            <a:off x="548640" y="405079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3"/>
          <p:cNvSpPr txBox="1"/>
          <p:nvPr/>
        </p:nvSpPr>
        <p:spPr>
          <a:xfrm>
            <a:off x="1097280" y="397764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Sell</a:t>
            </a:r>
            <a:endParaRPr lang="en-US" sz="1600" dirty="0"/>
          </a:p>
        </p:txBody>
      </p:sp>
      <p:sp>
        <p:nvSpPr>
          <p:cNvPr id="15" name="d3"/>
          <p:cNvSpPr txBox="1"/>
          <p:nvPr/>
        </p:nvSpPr>
        <p:spPr>
          <a:xfrm>
            <a:off x="2377440" y="397764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Reduced assets sold to USDC on Solana</a:t>
            </a:r>
            <a:endParaRPr lang="en-US" sz="1300" dirty="0"/>
          </a:p>
        </p:txBody>
      </p:sp>
      <p:sp>
        <p:nvSpPr>
          <p:cNvPr id="16" name="n4"/>
          <p:cNvSpPr/>
          <p:nvPr/>
        </p:nvSpPr>
        <p:spPr>
          <a:xfrm>
            <a:off x="548640" y="478231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4"/>
          <p:cNvSpPr txBox="1"/>
          <p:nvPr/>
        </p:nvSpPr>
        <p:spPr>
          <a:xfrm>
            <a:off x="1097280" y="470916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Buy</a:t>
            </a:r>
            <a:endParaRPr lang="en-US" sz="1600" dirty="0"/>
          </a:p>
        </p:txBody>
      </p:sp>
      <p:sp>
        <p:nvSpPr>
          <p:cNvPr id="18" name="d4"/>
          <p:cNvSpPr txBox="1"/>
          <p:nvPr/>
        </p:nvSpPr>
        <p:spPr>
          <a:xfrm>
            <a:off x="2377440" y="470916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Sized to the cash that actually arrived</a:t>
            </a:r>
            <a:endParaRPr lang="en-US" sz="1300" dirty="0"/>
          </a:p>
        </p:txBody>
      </p:sp>
      <p:sp>
        <p:nvSpPr>
          <p:cNvPr id="19" name="n5"/>
          <p:cNvSpPr/>
          <p:nvPr/>
        </p:nvSpPr>
        <p:spPr>
          <a:xfrm>
            <a:off x="548640" y="5513832"/>
            <a:ext cx="402336" cy="402336"/>
          </a:xfrm>
          <a:prstGeom prst="ellipse">
            <a:avLst/>
          </a:prstGeom>
          <a:solidFill>
            <a:srgbClr val="1C2B4A"/>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5"/>
          <p:cNvSpPr txBox="1"/>
          <p:nvPr/>
        </p:nvSpPr>
        <p:spPr>
          <a:xfrm>
            <a:off x="1097280" y="5440680"/>
            <a:ext cx="1280160" cy="54864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Repair</a:t>
            </a:r>
            <a:endParaRPr lang="en-US" sz="1600" dirty="0"/>
          </a:p>
        </p:txBody>
      </p:sp>
      <p:sp>
        <p:nvSpPr>
          <p:cNvPr id="21" name="d5"/>
          <p:cNvSpPr txBox="1"/>
          <p:nvPr/>
        </p:nvSpPr>
        <p:spPr>
          <a:xfrm>
            <a:off x="2377440" y="5440680"/>
            <a:ext cx="3566160" cy="548640"/>
          </a:xfrm>
          <a:prstGeom prst="rect">
            <a:avLst/>
          </a:prstGeom>
          <a:noFill/>
          <a:ln/>
        </p:spPr>
        <p:txBody>
          <a:bodyPr wrap="square" lIns="0" tIns="0" rIns="0" bIns="0" rtlCol="0" anchor="ctr"/>
          <a:lstStyle/>
          <a:p>
            <a:pPr algn="l" indent="0" marL="0">
              <a:buNone/>
            </a:pPr>
            <a:r>
              <a:rPr lang="en-US" sz="1300" dirty="0">
                <a:solidFill>
                  <a:srgbClr val="56627A"/>
                </a:solidFill>
                <a:latin typeface="Calibri" pitchFamily="34" charset="0"/>
                <a:ea typeface="Calibri" pitchFamily="34" charset="-122"/>
                <a:cs typeface="Calibri" pitchFamily="34" charset="-120"/>
              </a:rPr>
              <a:t>Shortfalls fixed by Buy back or Sync, never guessed</a:t>
            </a:r>
            <a:endParaRPr lang="en-US" sz="1300" dirty="0"/>
          </a:p>
        </p:txBody>
      </p:sp>
      <p:sp>
        <p:nvSpPr>
          <p:cNvPr id="22" name="sh"/>
          <p:cNvSpPr/>
          <p:nvPr/>
        </p:nvSpPr>
        <p:spPr>
          <a:xfrm>
            <a:off x="6245352" y="1783080"/>
            <a:ext cx="5397703" cy="3373565"/>
          </a:xfrm>
          <a:prstGeom prst="roundRect">
            <a:avLst>
              <a:gd name="adj" fmla="val 3253"/>
            </a:avLst>
          </a:prstGeom>
          <a:solidFill>
            <a:srgbClr val="FFFFFF"/>
          </a:solidFill>
          <a:ln/>
          <a:effectLst>
            <a:outerShdw sx="100000" sy="100000" kx="0" ky="0" algn="bl" rotWithShape="0" blurRad="177800" dist="50800" dir="5400000">
              <a:srgbClr val="0F1E3A">
                <a:alpha val="12000"/>
              </a:srgbClr>
            </a:outerShdw>
          </a:effectLst>
        </p:spPr>
      </p:sp>
      <p:pic>
        <p:nvPicPr>
          <p:cNvPr id="23" name="pos" descr="Position view with target, allocation and verified holdings">    </p:cNvPr>
          <p:cNvPicPr>
            <a:picLocks noChangeAspect="1"/>
          </p:cNvPicPr>
          <p:nvPr/>
        </p:nvPicPr>
        <p:blipFill>
          <a:blip r:embed="rId1"/>
          <a:stretch>
            <a:fillRect/>
          </a:stretch>
        </p:blipFill>
        <p:spPr>
          <a:xfrm>
            <a:off x="6245352" y="1783080"/>
            <a:ext cx="5397703" cy="3373565"/>
          </a:xfrm>
          <a:prstGeom prst="rect">
            <a:avLst/>
          </a:prstGeom>
        </p:spPr>
      </p:pic>
      <p:sp>
        <p:nvSpPr>
          <p:cNvPr id="24" name="cap"/>
          <p:cNvSpPr txBox="1"/>
          <p:nvPr/>
        </p:nvSpPr>
        <p:spPr>
          <a:xfrm>
            <a:off x="6245352" y="5266373"/>
            <a:ext cx="5397703" cy="548640"/>
          </a:xfrm>
          <a:prstGeom prst="rect">
            <a:avLst/>
          </a:prstGeom>
          <a:noFill/>
          <a:ln/>
        </p:spPr>
        <p:txBody>
          <a:bodyPr wrap="square" lIns="0" tIns="0" rIns="0" bIns="0" rtlCol="0" anchor="t"/>
          <a:lstStyle/>
          <a:p>
            <a:pPr algn="l" indent="0" marL="0">
              <a:buNone/>
            </a:pPr>
            <a:r>
              <a:rPr lang="en-US" sz="1300" dirty="0">
                <a:solidFill>
                  <a:srgbClr val="56627A"/>
                </a:solidFill>
                <a:latin typeface="Calibri" pitchFamily="34" charset="0"/>
                <a:ea typeface="Calibri" pitchFamily="34" charset="-122"/>
                <a:cs typeface="Calibri" pitchFamily="34" charset="-120"/>
              </a:rPr>
              <a:t>Position view: strategy target, basket allocation and verified holdings are separate layers, each with its own state.</a:t>
            </a:r>
            <a:endParaRPr lang="en-US" sz="1300" dirty="0"/>
          </a:p>
        </p:txBody>
      </p:sp>
      <p:sp>
        <p:nvSpPr>
          <p:cNvPr id="25"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ADR-015; D-076 to D-082. Screenshot: real Bytesac web app with demo data.</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600"/>
                                        <p:tgtEl>
                                          <p:spTgt spid="23"/>
                                        </p:tgtEl>
                                      </p:cBhvr>
                                    </p:animEffect>
                                  </p:childTnLst>
                                </p:cTn>
                              </p:par>
                              <p:par>
                                <p:cTn id="62" presetID="10" presetClass="entr" presetSubtype="0" fill="hold" nodeType="withEffect">
                                  <p:stCondLst>
                                    <p:cond delay="304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A4 · MANAGER VERIFICATION</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Four reviewed lifecycles before any basket goes live</a:t>
            </a:r>
            <a:endParaRPr lang="en-US" sz="3600" dirty="0"/>
          </a:p>
        </p:txBody>
      </p:sp>
      <p:sp>
        <p:nvSpPr>
          <p:cNvPr id="4" name="l0"/>
          <p:cNvSpPr txBox="1"/>
          <p:nvPr/>
        </p:nvSpPr>
        <p:spPr>
          <a:xfrm>
            <a:off x="548640" y="1828800"/>
            <a:ext cx="2011680" cy="45720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Application</a:t>
            </a:r>
            <a:endParaRPr lang="en-US" sz="1600" dirty="0"/>
          </a:p>
        </p:txBody>
      </p:sp>
      <p:sp>
        <p:nvSpPr>
          <p:cNvPr id="5" name="c0_0"/>
          <p:cNvSpPr/>
          <p:nvPr/>
        </p:nvSpPr>
        <p:spPr>
          <a:xfrm>
            <a:off x="2651760" y="182880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Email confirmed</a:t>
            </a:r>
            <a:endParaRPr lang="en-US" sz="1300" dirty="0"/>
          </a:p>
        </p:txBody>
      </p:sp>
      <p:pic>
        <p:nvPicPr>
          <p:cNvPr id="6" name="a0_0" descr="preencoded.png">    </p:cNvPr>
          <p:cNvPicPr>
            <a:picLocks noChangeAspect="1"/>
          </p:cNvPicPr>
          <p:nvPr/>
        </p:nvPicPr>
        <p:blipFill>
          <a:blip r:embed="rId1"/>
          <a:stretch>
            <a:fillRect/>
          </a:stretch>
        </p:blipFill>
        <p:spPr>
          <a:xfrm>
            <a:off x="4197096" y="1947672"/>
            <a:ext cx="219456" cy="219456"/>
          </a:xfrm>
          <a:prstGeom prst="rect">
            <a:avLst/>
          </a:prstGeom>
        </p:spPr>
      </p:pic>
      <p:sp>
        <p:nvSpPr>
          <p:cNvPr id="7" name="c0_1"/>
          <p:cNvSpPr/>
          <p:nvPr/>
        </p:nvSpPr>
        <p:spPr>
          <a:xfrm>
            <a:off x="4480560" y="182880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Submitted</a:t>
            </a:r>
            <a:endParaRPr lang="en-US" sz="1300" dirty="0"/>
          </a:p>
        </p:txBody>
      </p:sp>
      <p:pic>
        <p:nvPicPr>
          <p:cNvPr id="8" name="a0_1" descr="preencoded.png">    </p:cNvPr>
          <p:cNvPicPr>
            <a:picLocks noChangeAspect="1"/>
          </p:cNvPicPr>
          <p:nvPr/>
        </p:nvPicPr>
        <p:blipFill>
          <a:blip r:embed="rId2"/>
          <a:stretch>
            <a:fillRect/>
          </a:stretch>
        </p:blipFill>
        <p:spPr>
          <a:xfrm>
            <a:off x="6025896" y="1947672"/>
            <a:ext cx="219456" cy="219456"/>
          </a:xfrm>
          <a:prstGeom prst="rect">
            <a:avLst/>
          </a:prstGeom>
        </p:spPr>
      </p:pic>
      <p:sp>
        <p:nvSpPr>
          <p:cNvPr id="9" name="c0_2"/>
          <p:cNvSpPr/>
          <p:nvPr/>
        </p:nvSpPr>
        <p:spPr>
          <a:xfrm>
            <a:off x="6309360" y="182880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Screening</a:t>
            </a:r>
            <a:endParaRPr lang="en-US" sz="1300" dirty="0"/>
          </a:p>
        </p:txBody>
      </p:sp>
      <p:pic>
        <p:nvPicPr>
          <p:cNvPr id="10" name="a0_2" descr="preencoded.png">    </p:cNvPr>
          <p:cNvPicPr>
            <a:picLocks noChangeAspect="1"/>
          </p:cNvPicPr>
          <p:nvPr/>
        </p:nvPicPr>
        <p:blipFill>
          <a:blip r:embed="rId3"/>
          <a:stretch>
            <a:fillRect/>
          </a:stretch>
        </p:blipFill>
        <p:spPr>
          <a:xfrm>
            <a:off x="7854696" y="1947672"/>
            <a:ext cx="219456" cy="219456"/>
          </a:xfrm>
          <a:prstGeom prst="rect">
            <a:avLst/>
          </a:prstGeom>
        </p:spPr>
      </p:pic>
      <p:sp>
        <p:nvSpPr>
          <p:cNvPr id="11" name="c0_3"/>
          <p:cNvSpPr/>
          <p:nvPr/>
        </p:nvSpPr>
        <p:spPr>
          <a:xfrm>
            <a:off x="8138160" y="182880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Info requested</a:t>
            </a:r>
            <a:endParaRPr lang="en-US" sz="1300" dirty="0"/>
          </a:p>
        </p:txBody>
      </p:sp>
      <p:pic>
        <p:nvPicPr>
          <p:cNvPr id="12" name="a0_3" descr="preencoded.png">    </p:cNvPr>
          <p:cNvPicPr>
            <a:picLocks noChangeAspect="1"/>
          </p:cNvPicPr>
          <p:nvPr/>
        </p:nvPicPr>
        <p:blipFill>
          <a:blip r:embed="rId4"/>
          <a:stretch>
            <a:fillRect/>
          </a:stretch>
        </p:blipFill>
        <p:spPr>
          <a:xfrm>
            <a:off x="9683496" y="1947672"/>
            <a:ext cx="219456" cy="219456"/>
          </a:xfrm>
          <a:prstGeom prst="rect">
            <a:avLst/>
          </a:prstGeom>
        </p:spPr>
      </p:pic>
      <p:sp>
        <p:nvSpPr>
          <p:cNvPr id="13" name="c0_4"/>
          <p:cNvSpPr/>
          <p:nvPr/>
        </p:nvSpPr>
        <p:spPr>
          <a:xfrm>
            <a:off x="9966960" y="1828800"/>
            <a:ext cx="1481328" cy="457200"/>
          </a:xfrm>
          <a:prstGeom prst="roundRect">
            <a:avLst>
              <a:gd name="adj" fmla="val 50000"/>
            </a:avLst>
          </a:prstGeom>
          <a:solidFill>
            <a:srgbClr val="1C2B4A"/>
          </a:solid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Approved</a:t>
            </a:r>
            <a:endParaRPr lang="en-US" sz="1300" dirty="0"/>
          </a:p>
        </p:txBody>
      </p:sp>
      <p:sp>
        <p:nvSpPr>
          <p:cNvPr id="14" name="l1"/>
          <p:cNvSpPr txBox="1"/>
          <p:nvPr/>
        </p:nvSpPr>
        <p:spPr>
          <a:xfrm>
            <a:off x="548640" y="2788920"/>
            <a:ext cx="2011680" cy="45720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Organization</a:t>
            </a:r>
            <a:endParaRPr lang="en-US" sz="1600" dirty="0"/>
          </a:p>
        </p:txBody>
      </p:sp>
      <p:sp>
        <p:nvSpPr>
          <p:cNvPr id="15" name="c1_0"/>
          <p:cNvSpPr/>
          <p:nvPr/>
        </p:nvSpPr>
        <p:spPr>
          <a:xfrm>
            <a:off x="2651760" y="278892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Draft</a:t>
            </a:r>
            <a:endParaRPr lang="en-US" sz="1300" dirty="0"/>
          </a:p>
        </p:txBody>
      </p:sp>
      <p:pic>
        <p:nvPicPr>
          <p:cNvPr id="16" name="a1_0" descr="preencoded.png">    </p:cNvPr>
          <p:cNvPicPr>
            <a:picLocks noChangeAspect="1"/>
          </p:cNvPicPr>
          <p:nvPr/>
        </p:nvPicPr>
        <p:blipFill>
          <a:blip r:embed="rId5"/>
          <a:stretch>
            <a:fillRect/>
          </a:stretch>
        </p:blipFill>
        <p:spPr>
          <a:xfrm>
            <a:off x="4197096" y="2907792"/>
            <a:ext cx="219456" cy="219456"/>
          </a:xfrm>
          <a:prstGeom prst="rect">
            <a:avLst/>
          </a:prstGeom>
        </p:spPr>
      </p:pic>
      <p:sp>
        <p:nvSpPr>
          <p:cNvPr id="17" name="c1_1"/>
          <p:cNvSpPr/>
          <p:nvPr/>
        </p:nvSpPr>
        <p:spPr>
          <a:xfrm>
            <a:off x="4480560" y="278892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Submitted</a:t>
            </a:r>
            <a:endParaRPr lang="en-US" sz="1300" dirty="0"/>
          </a:p>
        </p:txBody>
      </p:sp>
      <p:pic>
        <p:nvPicPr>
          <p:cNvPr id="18" name="a1_1" descr="preencoded.png">    </p:cNvPr>
          <p:cNvPicPr>
            <a:picLocks noChangeAspect="1"/>
          </p:cNvPicPr>
          <p:nvPr/>
        </p:nvPicPr>
        <p:blipFill>
          <a:blip r:embed="rId6"/>
          <a:stretch>
            <a:fillRect/>
          </a:stretch>
        </p:blipFill>
        <p:spPr>
          <a:xfrm>
            <a:off x="6025896" y="2907792"/>
            <a:ext cx="219456" cy="219456"/>
          </a:xfrm>
          <a:prstGeom prst="rect">
            <a:avLst/>
          </a:prstGeom>
        </p:spPr>
      </p:pic>
      <p:sp>
        <p:nvSpPr>
          <p:cNvPr id="19" name="c1_2"/>
          <p:cNvSpPr/>
          <p:nvPr/>
        </p:nvSpPr>
        <p:spPr>
          <a:xfrm>
            <a:off x="6309360" y="278892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Under review</a:t>
            </a:r>
            <a:endParaRPr lang="en-US" sz="1300" dirty="0"/>
          </a:p>
        </p:txBody>
      </p:sp>
      <p:pic>
        <p:nvPicPr>
          <p:cNvPr id="20" name="a1_2" descr="preencoded.png">    </p:cNvPr>
          <p:cNvPicPr>
            <a:picLocks noChangeAspect="1"/>
          </p:cNvPicPr>
          <p:nvPr/>
        </p:nvPicPr>
        <p:blipFill>
          <a:blip r:embed="rId7"/>
          <a:stretch>
            <a:fillRect/>
          </a:stretch>
        </p:blipFill>
        <p:spPr>
          <a:xfrm>
            <a:off x="7854696" y="2907792"/>
            <a:ext cx="219456" cy="219456"/>
          </a:xfrm>
          <a:prstGeom prst="rect">
            <a:avLst/>
          </a:prstGeom>
        </p:spPr>
      </p:pic>
      <p:sp>
        <p:nvSpPr>
          <p:cNvPr id="21" name="c1_3"/>
          <p:cNvSpPr/>
          <p:nvPr/>
        </p:nvSpPr>
        <p:spPr>
          <a:xfrm>
            <a:off x="8138160" y="278892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Changes required</a:t>
            </a:r>
            <a:endParaRPr lang="en-US" sz="1300" dirty="0"/>
          </a:p>
        </p:txBody>
      </p:sp>
      <p:pic>
        <p:nvPicPr>
          <p:cNvPr id="22" name="a1_3" descr="preencoded.png">    </p:cNvPr>
          <p:cNvPicPr>
            <a:picLocks noChangeAspect="1"/>
          </p:cNvPicPr>
          <p:nvPr/>
        </p:nvPicPr>
        <p:blipFill>
          <a:blip r:embed="rId8"/>
          <a:stretch>
            <a:fillRect/>
          </a:stretch>
        </p:blipFill>
        <p:spPr>
          <a:xfrm>
            <a:off x="9683496" y="2907792"/>
            <a:ext cx="219456" cy="219456"/>
          </a:xfrm>
          <a:prstGeom prst="rect">
            <a:avLst/>
          </a:prstGeom>
        </p:spPr>
      </p:pic>
      <p:sp>
        <p:nvSpPr>
          <p:cNvPr id="23" name="c1_4"/>
          <p:cNvSpPr/>
          <p:nvPr/>
        </p:nvSpPr>
        <p:spPr>
          <a:xfrm>
            <a:off x="9966960" y="2788920"/>
            <a:ext cx="1481328" cy="457200"/>
          </a:xfrm>
          <a:prstGeom prst="roundRect">
            <a:avLst>
              <a:gd name="adj" fmla="val 50000"/>
            </a:avLst>
          </a:prstGeom>
          <a:solidFill>
            <a:srgbClr val="1C2B4A"/>
          </a:solid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Verified</a:t>
            </a:r>
            <a:endParaRPr lang="en-US" sz="1300" dirty="0"/>
          </a:p>
        </p:txBody>
      </p:sp>
      <p:sp>
        <p:nvSpPr>
          <p:cNvPr id="24" name="l2"/>
          <p:cNvSpPr txBox="1"/>
          <p:nvPr/>
        </p:nvSpPr>
        <p:spPr>
          <a:xfrm>
            <a:off x="548640" y="3749040"/>
            <a:ext cx="2011680" cy="45720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Team member</a:t>
            </a:r>
            <a:endParaRPr lang="en-US" sz="1600" dirty="0"/>
          </a:p>
        </p:txBody>
      </p:sp>
      <p:sp>
        <p:nvSpPr>
          <p:cNvPr id="25" name="c2_0"/>
          <p:cNvSpPr/>
          <p:nvPr/>
        </p:nvSpPr>
        <p:spPr>
          <a:xfrm>
            <a:off x="2651760" y="374904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Invited</a:t>
            </a:r>
            <a:endParaRPr lang="en-US" sz="1300" dirty="0"/>
          </a:p>
        </p:txBody>
      </p:sp>
      <p:pic>
        <p:nvPicPr>
          <p:cNvPr id="26" name="a2_0" descr="preencoded.png">    </p:cNvPr>
          <p:cNvPicPr>
            <a:picLocks noChangeAspect="1"/>
          </p:cNvPicPr>
          <p:nvPr/>
        </p:nvPicPr>
        <p:blipFill>
          <a:blip r:embed="rId9"/>
          <a:stretch>
            <a:fillRect/>
          </a:stretch>
        </p:blipFill>
        <p:spPr>
          <a:xfrm>
            <a:off x="4197096" y="3867912"/>
            <a:ext cx="219456" cy="219456"/>
          </a:xfrm>
          <a:prstGeom prst="rect">
            <a:avLst/>
          </a:prstGeom>
        </p:spPr>
      </p:pic>
      <p:sp>
        <p:nvSpPr>
          <p:cNvPr id="27" name="c2_1"/>
          <p:cNvSpPr/>
          <p:nvPr/>
        </p:nvSpPr>
        <p:spPr>
          <a:xfrm>
            <a:off x="4480560" y="374904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Wallet proven</a:t>
            </a:r>
            <a:endParaRPr lang="en-US" sz="1300" dirty="0"/>
          </a:p>
        </p:txBody>
      </p:sp>
      <p:pic>
        <p:nvPicPr>
          <p:cNvPr id="28" name="a2_1" descr="preencoded.png">    </p:cNvPr>
          <p:cNvPicPr>
            <a:picLocks noChangeAspect="1"/>
          </p:cNvPicPr>
          <p:nvPr/>
        </p:nvPicPr>
        <p:blipFill>
          <a:blip r:embed="rId10"/>
          <a:stretch>
            <a:fillRect/>
          </a:stretch>
        </p:blipFill>
        <p:spPr>
          <a:xfrm>
            <a:off x="6025896" y="3867912"/>
            <a:ext cx="219456" cy="219456"/>
          </a:xfrm>
          <a:prstGeom prst="rect">
            <a:avLst/>
          </a:prstGeom>
        </p:spPr>
      </p:pic>
      <p:sp>
        <p:nvSpPr>
          <p:cNvPr id="29" name="c2_2"/>
          <p:cNvSpPr/>
          <p:nvPr/>
        </p:nvSpPr>
        <p:spPr>
          <a:xfrm>
            <a:off x="6309360" y="374904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Documents</a:t>
            </a:r>
            <a:endParaRPr lang="en-US" sz="1300" dirty="0"/>
          </a:p>
        </p:txBody>
      </p:sp>
      <p:pic>
        <p:nvPicPr>
          <p:cNvPr id="30" name="a2_2" descr="preencoded.png">    </p:cNvPr>
          <p:cNvPicPr>
            <a:picLocks noChangeAspect="1"/>
          </p:cNvPicPr>
          <p:nvPr/>
        </p:nvPicPr>
        <p:blipFill>
          <a:blip r:embed="rId11"/>
          <a:stretch>
            <a:fillRect/>
          </a:stretch>
        </p:blipFill>
        <p:spPr>
          <a:xfrm>
            <a:off x="7854696" y="3867912"/>
            <a:ext cx="219456" cy="219456"/>
          </a:xfrm>
          <a:prstGeom prst="rect">
            <a:avLst/>
          </a:prstGeom>
        </p:spPr>
      </p:pic>
      <p:sp>
        <p:nvSpPr>
          <p:cNvPr id="31" name="c2_3"/>
          <p:cNvSpPr/>
          <p:nvPr/>
        </p:nvSpPr>
        <p:spPr>
          <a:xfrm>
            <a:off x="8138160" y="374904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Under review</a:t>
            </a:r>
            <a:endParaRPr lang="en-US" sz="1300" dirty="0"/>
          </a:p>
        </p:txBody>
      </p:sp>
      <p:pic>
        <p:nvPicPr>
          <p:cNvPr id="32" name="a2_3" descr="preencoded.png">    </p:cNvPr>
          <p:cNvPicPr>
            <a:picLocks noChangeAspect="1"/>
          </p:cNvPicPr>
          <p:nvPr/>
        </p:nvPicPr>
        <p:blipFill>
          <a:blip r:embed="rId12"/>
          <a:stretch>
            <a:fillRect/>
          </a:stretch>
        </p:blipFill>
        <p:spPr>
          <a:xfrm>
            <a:off x="9683496" y="3867912"/>
            <a:ext cx="219456" cy="219456"/>
          </a:xfrm>
          <a:prstGeom prst="rect">
            <a:avLst/>
          </a:prstGeom>
        </p:spPr>
      </p:pic>
      <p:sp>
        <p:nvSpPr>
          <p:cNvPr id="33" name="c2_4"/>
          <p:cNvSpPr/>
          <p:nvPr/>
        </p:nvSpPr>
        <p:spPr>
          <a:xfrm>
            <a:off x="9966960" y="3749040"/>
            <a:ext cx="1481328" cy="457200"/>
          </a:xfrm>
          <a:prstGeom prst="roundRect">
            <a:avLst>
              <a:gd name="adj" fmla="val 50000"/>
            </a:avLst>
          </a:prstGeom>
          <a:solidFill>
            <a:srgbClr val="1C2B4A"/>
          </a:solid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Active</a:t>
            </a:r>
            <a:endParaRPr lang="en-US" sz="1300" dirty="0"/>
          </a:p>
        </p:txBody>
      </p:sp>
      <p:sp>
        <p:nvSpPr>
          <p:cNvPr id="34" name="l3"/>
          <p:cNvSpPr txBox="1"/>
          <p:nvPr/>
        </p:nvSpPr>
        <p:spPr>
          <a:xfrm>
            <a:off x="548640" y="4709160"/>
            <a:ext cx="2011680" cy="457200"/>
          </a:xfrm>
          <a:prstGeom prst="rect">
            <a:avLst/>
          </a:prstGeom>
          <a:noFill/>
          <a:ln/>
        </p:spPr>
        <p:txBody>
          <a:bodyPr wrap="square" lIns="0" tIns="0" rIns="0" bIns="0" rtlCol="0" anchor="ctr"/>
          <a:lstStyle/>
          <a:p>
            <a:pPr algn="l" indent="0" marL="0">
              <a:buNone/>
            </a:pPr>
            <a:r>
              <a:rPr lang="en-US" sz="1600" b="1" dirty="0">
                <a:solidFill>
                  <a:srgbClr val="0F1E3A"/>
                </a:solidFill>
                <a:latin typeface="Calibri" pitchFamily="34" charset="0"/>
                <a:ea typeface="Calibri" pitchFamily="34" charset="-122"/>
                <a:cs typeface="Calibri" pitchFamily="34" charset="-120"/>
              </a:rPr>
              <a:t>Basket version</a:t>
            </a:r>
            <a:endParaRPr lang="en-US" sz="1600" dirty="0"/>
          </a:p>
        </p:txBody>
      </p:sp>
      <p:sp>
        <p:nvSpPr>
          <p:cNvPr id="35" name="c3_0"/>
          <p:cNvSpPr/>
          <p:nvPr/>
        </p:nvSpPr>
        <p:spPr>
          <a:xfrm>
            <a:off x="2651760" y="470916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Draft</a:t>
            </a:r>
            <a:endParaRPr lang="en-US" sz="1300" dirty="0"/>
          </a:p>
        </p:txBody>
      </p:sp>
      <p:pic>
        <p:nvPicPr>
          <p:cNvPr id="36" name="a3_0" descr="preencoded.png">    </p:cNvPr>
          <p:cNvPicPr>
            <a:picLocks noChangeAspect="1"/>
          </p:cNvPicPr>
          <p:nvPr/>
        </p:nvPicPr>
        <p:blipFill>
          <a:blip r:embed="rId13"/>
          <a:stretch>
            <a:fillRect/>
          </a:stretch>
        </p:blipFill>
        <p:spPr>
          <a:xfrm>
            <a:off x="4197096" y="4828032"/>
            <a:ext cx="219456" cy="219456"/>
          </a:xfrm>
          <a:prstGeom prst="rect">
            <a:avLst/>
          </a:prstGeom>
        </p:spPr>
      </p:pic>
      <p:sp>
        <p:nvSpPr>
          <p:cNvPr id="37" name="c3_1"/>
          <p:cNvSpPr/>
          <p:nvPr/>
        </p:nvSpPr>
        <p:spPr>
          <a:xfrm>
            <a:off x="4480560" y="470916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Submitted, hashed</a:t>
            </a:r>
            <a:endParaRPr lang="en-US" sz="1300" dirty="0"/>
          </a:p>
        </p:txBody>
      </p:sp>
      <p:pic>
        <p:nvPicPr>
          <p:cNvPr id="38" name="a3_1" descr="preencoded.png">    </p:cNvPr>
          <p:cNvPicPr>
            <a:picLocks noChangeAspect="1"/>
          </p:cNvPicPr>
          <p:nvPr/>
        </p:nvPicPr>
        <p:blipFill>
          <a:blip r:embed="rId14"/>
          <a:stretch>
            <a:fillRect/>
          </a:stretch>
        </p:blipFill>
        <p:spPr>
          <a:xfrm>
            <a:off x="6025896" y="4828032"/>
            <a:ext cx="219456" cy="219456"/>
          </a:xfrm>
          <a:prstGeom prst="rect">
            <a:avLst/>
          </a:prstGeom>
        </p:spPr>
      </p:pic>
      <p:sp>
        <p:nvSpPr>
          <p:cNvPr id="39" name="c3_2"/>
          <p:cNvSpPr/>
          <p:nvPr/>
        </p:nvSpPr>
        <p:spPr>
          <a:xfrm>
            <a:off x="6309360" y="470916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Ops review</a:t>
            </a:r>
            <a:endParaRPr lang="en-US" sz="1300" dirty="0"/>
          </a:p>
        </p:txBody>
      </p:sp>
      <p:pic>
        <p:nvPicPr>
          <p:cNvPr id="40" name="a3_2" descr="preencoded.png">    </p:cNvPr>
          <p:cNvPicPr>
            <a:picLocks noChangeAspect="1"/>
          </p:cNvPicPr>
          <p:nvPr/>
        </p:nvPicPr>
        <p:blipFill>
          <a:blip r:embed="rId15"/>
          <a:stretch>
            <a:fillRect/>
          </a:stretch>
        </p:blipFill>
        <p:spPr>
          <a:xfrm>
            <a:off x="7854696" y="4828032"/>
            <a:ext cx="219456" cy="219456"/>
          </a:xfrm>
          <a:prstGeom prst="rect">
            <a:avLst/>
          </a:prstGeom>
        </p:spPr>
      </p:pic>
      <p:sp>
        <p:nvSpPr>
          <p:cNvPr id="41" name="c3_3"/>
          <p:cNvSpPr/>
          <p:nvPr/>
        </p:nvSpPr>
        <p:spPr>
          <a:xfrm>
            <a:off x="8138160" y="4709160"/>
            <a:ext cx="1481328" cy="457200"/>
          </a:xfrm>
          <a:prstGeom prst="roundRect">
            <a:avLst>
              <a:gd name="adj" fmla="val 50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Approved</a:t>
            </a:r>
            <a:endParaRPr lang="en-US" sz="1300" dirty="0"/>
          </a:p>
        </p:txBody>
      </p:sp>
      <p:pic>
        <p:nvPicPr>
          <p:cNvPr id="42" name="a3_3" descr="preencoded.png">    </p:cNvPr>
          <p:cNvPicPr>
            <a:picLocks noChangeAspect="1"/>
          </p:cNvPicPr>
          <p:nvPr/>
        </p:nvPicPr>
        <p:blipFill>
          <a:blip r:embed="rId16"/>
          <a:stretch>
            <a:fillRect/>
          </a:stretch>
        </p:blipFill>
        <p:spPr>
          <a:xfrm>
            <a:off x="9683496" y="4828032"/>
            <a:ext cx="219456" cy="219456"/>
          </a:xfrm>
          <a:prstGeom prst="rect">
            <a:avLst/>
          </a:prstGeom>
        </p:spPr>
      </p:pic>
      <p:sp>
        <p:nvSpPr>
          <p:cNvPr id="43" name="c3_4"/>
          <p:cNvSpPr/>
          <p:nvPr/>
        </p:nvSpPr>
        <p:spPr>
          <a:xfrm>
            <a:off x="9966960" y="4709160"/>
            <a:ext cx="1481328" cy="457200"/>
          </a:xfrm>
          <a:prstGeom prst="roundRect">
            <a:avLst>
              <a:gd name="adj" fmla="val 50000"/>
            </a:avLst>
          </a:prstGeom>
          <a:solidFill>
            <a:srgbClr val="1C2B4A"/>
          </a:solid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Published</a:t>
            </a:r>
            <a:endParaRPr lang="en-US" sz="1300" dirty="0"/>
          </a:p>
        </p:txBody>
      </p:sp>
      <p:sp>
        <p:nvSpPr>
          <p:cNvPr id="44" name="rules"/>
          <p:cNvSpPr txBox="1"/>
          <p:nvPr/>
        </p:nvSpPr>
        <p:spPr>
          <a:xfrm>
            <a:off x="548640" y="5486400"/>
            <a:ext cx="11094415" cy="868680"/>
          </a:xfrm>
          <a:prstGeom prst="rect">
            <a:avLst/>
          </a:prstGeom>
          <a:noFill/>
          <a:ln/>
        </p:spPr>
        <p:txBody>
          <a:bodyPr wrap="square" lIns="0" tIns="0" rIns="0" bIns="0" rtlCol="0" anchor="t"/>
          <a:lstStyle/>
          <a:p>
            <a:pPr algn="l" marL="342900" indent="-342900">
              <a:spcAft>
                <a:spcPts val="200"/>
              </a:spcAft>
              <a:buSzPct val="100000"/>
              <a:buChar char="•"/>
            </a:pPr>
            <a:r>
              <a:rPr lang="en-US" sz="1300" dirty="0">
                <a:solidFill>
                  <a:srgbClr val="56627A"/>
                </a:solidFill>
                <a:latin typeface="Calibri" pitchFamily="34" charset="0"/>
                <a:ea typeface="Calibri" pitchFamily="34" charset="-122"/>
                <a:cs typeface="Calibri" pitchFamily="34" charset="-120"/>
              </a:rPr>
              <a:t>A typed wallet address never grants anything; the applicant must sign with it.</a:t>
            </a:r>
            <a:endParaRPr lang="en-US" sz="1300" dirty="0"/>
          </a:p>
          <a:p>
            <a:pPr algn="l" marL="342900" indent="-342900">
              <a:spcAft>
                <a:spcPts val="200"/>
              </a:spcAft>
              <a:buSzPct val="100000"/>
              <a:buChar char="•"/>
            </a:pPr>
            <a:r>
              <a:rPr lang="en-US" sz="1300" dirty="0">
                <a:solidFill>
                  <a:srgbClr val="56627A"/>
                </a:solidFill>
                <a:latin typeface="Calibri" pitchFamily="34" charset="0"/>
                <a:ea typeface="Calibri" pitchFamily="34" charset="-122"/>
                <a:cs typeface="Calibri" pitchFamily="34" charset="-120"/>
              </a:rPr>
              <a:t>Self-approval is blocked, and reviewers who belong to an organization cannot act on it.</a:t>
            </a:r>
            <a:endParaRPr lang="en-US" sz="1300" dirty="0"/>
          </a:p>
          <a:p>
            <a:pPr algn="l" marL="342900" indent="-342900">
              <a:spcAft>
                <a:spcPts val="200"/>
              </a:spcAft>
              <a:buSzPct val="100000"/>
              <a:buChar char="•"/>
            </a:pPr>
            <a:r>
              <a:rPr lang="en-US" sz="1300" dirty="0">
                <a:solidFill>
                  <a:srgbClr val="56627A"/>
                </a:solidFill>
                <a:latin typeface="Calibri" pitchFamily="34" charset="0"/>
                <a:ea typeface="Calibri" pitchFamily="34" charset="-122"/>
                <a:cs typeface="Calibri" pitchFamily="34" charset="-120"/>
              </a:rPr>
              <a:t>Payout wallet proven by its own signature; replacing it needs a new signature and ops approval. Every action is audited.</a:t>
            </a:r>
            <a:endParaRPr lang="en-US" sz="1300" dirty="0"/>
          </a:p>
        </p:txBody>
      </p:sp>
      <p:sp>
        <p:nvSpPr>
          <p:cNvPr id="45"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ADR-007, ADR-008, ADR-009, ADR-011.</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par>
                                <p:cTn id="47" presetID="10" presetClass="entr" presetSubtype="0" fill="hold" nodeType="withEffect">
                                  <p:stCondLst>
                                    <p:cond delay="22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600"/>
                                        <p:tgtEl>
                                          <p:spTgt spid="18"/>
                                        </p:tgtEl>
                                      </p:cBhvr>
                                    </p:animEffect>
                                  </p:childTnLst>
                                </p:cTn>
                              </p:par>
                              <p:par>
                                <p:cTn id="50" presetID="10" presetClass="entr" presetSubtype="0" fill="hold" nodeType="withEffect">
                                  <p:stCondLst>
                                    <p:cond delay="24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600"/>
                                        <p:tgtEl>
                                          <p:spTgt spid="19"/>
                                        </p:tgtEl>
                                      </p:cBhvr>
                                    </p:animEffect>
                                  </p:childTnLst>
                                </p:cTn>
                              </p:par>
                              <p:par>
                                <p:cTn id="53" presetID="10" presetClass="entr" presetSubtype="0" fill="hold" nodeType="withEffect">
                                  <p:stCondLst>
                                    <p:cond delay="256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600"/>
                                        <p:tgtEl>
                                          <p:spTgt spid="20"/>
                                        </p:tgtEl>
                                      </p:cBhvr>
                                    </p:animEffect>
                                  </p:childTnLst>
                                </p:cTn>
                              </p:par>
                              <p:par>
                                <p:cTn id="56" presetID="10" presetClass="entr" presetSubtype="0" fill="hold" nodeType="withEffect">
                                  <p:stCondLst>
                                    <p:cond delay="272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600"/>
                                        <p:tgtEl>
                                          <p:spTgt spid="21"/>
                                        </p:tgtEl>
                                      </p:cBhvr>
                                    </p:animEffect>
                                  </p:childTnLst>
                                </p:cTn>
                              </p:par>
                              <p:par>
                                <p:cTn id="59" presetID="10" presetClass="entr" presetSubtype="0" fill="hold" nodeType="withEffect">
                                  <p:stCondLst>
                                    <p:cond delay="288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600"/>
                                        <p:tgtEl>
                                          <p:spTgt spid="22"/>
                                        </p:tgtEl>
                                      </p:cBhvr>
                                    </p:animEffect>
                                  </p:childTnLst>
                                </p:cTn>
                              </p:par>
                              <p:par>
                                <p:cTn id="62" presetID="10" presetClass="entr" presetSubtype="0" fill="hold" nodeType="withEffect">
                                  <p:stCondLst>
                                    <p:cond delay="304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600"/>
                                        <p:tgtEl>
                                          <p:spTgt spid="23"/>
                                        </p:tgtEl>
                                      </p:cBhvr>
                                    </p:animEffect>
                                  </p:childTnLst>
                                </p:cTn>
                              </p:par>
                              <p:par>
                                <p:cTn id="65" presetID="10" presetClass="entr" presetSubtype="0" fill="hold" nodeType="withEffect">
                                  <p:stCondLst>
                                    <p:cond delay="320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600"/>
                                        <p:tgtEl>
                                          <p:spTgt spid="24"/>
                                        </p:tgtEl>
                                      </p:cBhvr>
                                    </p:animEffect>
                                  </p:childTnLst>
                                </p:cTn>
                              </p:par>
                              <p:par>
                                <p:cTn id="68" presetID="10" presetClass="entr" presetSubtype="0" fill="hold" nodeType="withEffect">
                                  <p:stCondLst>
                                    <p:cond delay="336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600"/>
                                        <p:tgtEl>
                                          <p:spTgt spid="25"/>
                                        </p:tgtEl>
                                      </p:cBhvr>
                                    </p:animEffect>
                                  </p:childTnLst>
                                </p:cTn>
                              </p:par>
                              <p:par>
                                <p:cTn id="71" presetID="10" presetClass="entr" presetSubtype="0" fill="hold" nodeType="withEffect">
                                  <p:stCondLst>
                                    <p:cond delay="352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600"/>
                                        <p:tgtEl>
                                          <p:spTgt spid="26"/>
                                        </p:tgtEl>
                                      </p:cBhvr>
                                    </p:animEffect>
                                  </p:childTnLst>
                                </p:cTn>
                              </p:par>
                              <p:par>
                                <p:cTn id="74" presetID="10" presetClass="entr" presetSubtype="0" fill="hold" nodeType="withEffect">
                                  <p:stCondLst>
                                    <p:cond delay="368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par>
                                <p:cTn id="77" presetID="10" presetClass="entr" presetSubtype="0" fill="hold" nodeType="withEffect">
                                  <p:stCondLst>
                                    <p:cond delay="384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600"/>
                                        <p:tgtEl>
                                          <p:spTgt spid="28"/>
                                        </p:tgtEl>
                                      </p:cBhvr>
                                    </p:animEffect>
                                  </p:childTnLst>
                                </p:cTn>
                              </p:par>
                              <p:par>
                                <p:cTn id="80" presetID="10" presetClass="entr" presetSubtype="0" fill="hold" nodeType="withEffect">
                                  <p:stCondLst>
                                    <p:cond delay="40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600"/>
                                        <p:tgtEl>
                                          <p:spTgt spid="29"/>
                                        </p:tgtEl>
                                      </p:cBhvr>
                                    </p:animEffect>
                                  </p:childTnLst>
                                </p:cTn>
                              </p:par>
                              <p:par>
                                <p:cTn id="83" presetID="10" presetClass="entr" presetSubtype="0" fill="hold" nodeType="withEffect">
                                  <p:stCondLst>
                                    <p:cond delay="416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600"/>
                                        <p:tgtEl>
                                          <p:spTgt spid="30"/>
                                        </p:tgtEl>
                                      </p:cBhvr>
                                    </p:animEffect>
                                  </p:childTnLst>
                                </p:cTn>
                              </p:par>
                              <p:par>
                                <p:cTn id="86" presetID="10" presetClass="entr" presetSubtype="0" fill="hold" nodeType="withEffect">
                                  <p:stCondLst>
                                    <p:cond delay="432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600"/>
                                        <p:tgtEl>
                                          <p:spTgt spid="31"/>
                                        </p:tgtEl>
                                      </p:cBhvr>
                                    </p:animEffect>
                                  </p:childTnLst>
                                </p:cTn>
                              </p:par>
                              <p:par>
                                <p:cTn id="89" presetID="10" presetClass="entr" presetSubtype="0" fill="hold" nodeType="withEffect">
                                  <p:stCondLst>
                                    <p:cond delay="448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600"/>
                                        <p:tgtEl>
                                          <p:spTgt spid="32"/>
                                        </p:tgtEl>
                                      </p:cBhvr>
                                    </p:animEffect>
                                  </p:childTnLst>
                                </p:cTn>
                              </p:par>
                              <p:par>
                                <p:cTn id="92" presetID="10" presetClass="entr" presetSubtype="0" fill="hold" nodeType="withEffect">
                                  <p:stCondLst>
                                    <p:cond delay="464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600"/>
                                        <p:tgtEl>
                                          <p:spTgt spid="33"/>
                                        </p:tgtEl>
                                      </p:cBhvr>
                                    </p:animEffect>
                                  </p:childTnLst>
                                </p:cTn>
                              </p:par>
                              <p:par>
                                <p:cTn id="95" presetID="10" presetClass="entr" presetSubtype="0" fill="hold" nodeType="withEffect">
                                  <p:stCondLst>
                                    <p:cond delay="480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600"/>
                                        <p:tgtEl>
                                          <p:spTgt spid="34"/>
                                        </p:tgtEl>
                                      </p:cBhvr>
                                    </p:animEffect>
                                  </p:childTnLst>
                                </p:cTn>
                              </p:par>
                              <p:par>
                                <p:cTn id="98" presetID="10" presetClass="entr" presetSubtype="0" fill="hold" nodeType="withEffect">
                                  <p:stCondLst>
                                    <p:cond delay="496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600"/>
                                        <p:tgtEl>
                                          <p:spTgt spid="35"/>
                                        </p:tgtEl>
                                      </p:cBhvr>
                                    </p:animEffect>
                                  </p:childTnLst>
                                </p:cTn>
                              </p:par>
                              <p:par>
                                <p:cTn id="101" presetID="10" presetClass="entr" presetSubtype="0" fill="hold" nodeType="withEffect">
                                  <p:stCondLst>
                                    <p:cond delay="512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600"/>
                                        <p:tgtEl>
                                          <p:spTgt spid="36"/>
                                        </p:tgtEl>
                                      </p:cBhvr>
                                    </p:animEffect>
                                  </p:childTnLst>
                                </p:cTn>
                              </p:par>
                              <p:par>
                                <p:cTn id="104" presetID="10" presetClass="entr" presetSubtype="0" fill="hold" nodeType="withEffect">
                                  <p:stCondLst>
                                    <p:cond delay="528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600"/>
                                        <p:tgtEl>
                                          <p:spTgt spid="37"/>
                                        </p:tgtEl>
                                      </p:cBhvr>
                                    </p:animEffect>
                                  </p:childTnLst>
                                </p:cTn>
                              </p:par>
                              <p:par>
                                <p:cTn id="107" presetID="10" presetClass="entr" presetSubtype="0" fill="hold" nodeType="withEffect">
                                  <p:stCondLst>
                                    <p:cond delay="544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600"/>
                                        <p:tgtEl>
                                          <p:spTgt spid="38"/>
                                        </p:tgtEl>
                                      </p:cBhvr>
                                    </p:animEffect>
                                  </p:childTnLst>
                                </p:cTn>
                              </p:par>
                              <p:par>
                                <p:cTn id="110" presetID="10" presetClass="entr" presetSubtype="0" fill="hold" nodeType="withEffect">
                                  <p:stCondLst>
                                    <p:cond delay="560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600"/>
                                        <p:tgtEl>
                                          <p:spTgt spid="39"/>
                                        </p:tgtEl>
                                      </p:cBhvr>
                                    </p:animEffect>
                                  </p:childTnLst>
                                </p:cTn>
                              </p:par>
                              <p:par>
                                <p:cTn id="113" presetID="10" presetClass="entr" presetSubtype="0" fill="hold" nodeType="withEffect">
                                  <p:stCondLst>
                                    <p:cond delay="576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600"/>
                                        <p:tgtEl>
                                          <p:spTgt spid="40"/>
                                        </p:tgtEl>
                                      </p:cBhvr>
                                    </p:animEffect>
                                  </p:childTnLst>
                                </p:cTn>
                              </p:par>
                              <p:par>
                                <p:cTn id="116" presetID="10" presetClass="entr" presetSubtype="0" fill="hold" nodeType="withEffect">
                                  <p:stCondLst>
                                    <p:cond delay="592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600"/>
                                        <p:tgtEl>
                                          <p:spTgt spid="41"/>
                                        </p:tgtEl>
                                      </p:cBhvr>
                                    </p:animEffect>
                                  </p:childTnLst>
                                </p:cTn>
                              </p:par>
                              <p:par>
                                <p:cTn id="119" presetID="10" presetClass="entr" presetSubtype="0" fill="hold" nodeType="withEffect">
                                  <p:stCondLst>
                                    <p:cond delay="608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600"/>
                                        <p:tgtEl>
                                          <p:spTgt spid="42"/>
                                        </p:tgtEl>
                                      </p:cBhvr>
                                    </p:animEffect>
                                  </p:childTnLst>
                                </p:cTn>
                              </p:par>
                              <p:par>
                                <p:cTn id="122" presetID="10" presetClass="entr" presetSubtype="0" fill="hold" nodeType="withEffect">
                                  <p:stCondLst>
                                    <p:cond delay="624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600"/>
                                        <p:tgtEl>
                                          <p:spTgt spid="43"/>
                                        </p:tgtEl>
                                      </p:cBhvr>
                                    </p:animEffect>
                                  </p:childTnLst>
                                </p:cTn>
                              </p:par>
                              <p:par>
                                <p:cTn id="125" presetID="10" presetClass="entr" presetSubtype="0" fill="hold" nodeType="withEffect">
                                  <p:stCondLst>
                                    <p:cond delay="640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6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1" grpId="0" animBg="1"/>
      <p:bldP spid="13" grpId="0" animBg="1"/>
      <p:bldP spid="14" grpId="0" animBg="1"/>
      <p:bldP spid="15" grpId="0" animBg="1"/>
      <p:bldP spid="17" grpId="0" animBg="1"/>
      <p:bldP spid="19" grpId="0" animBg="1"/>
      <p:bldP spid="21" grpId="0" animBg="1"/>
      <p:bldP spid="23" grpId="0" animBg="1"/>
      <p:bldP spid="24" grpId="0" animBg="1"/>
      <p:bldP spid="25" grpId="0" animBg="1"/>
      <p:bldP spid="27" grpId="0" animBg="1"/>
      <p:bldP spid="29" grpId="0" animBg="1"/>
      <p:bldP spid="31" grpId="0" animBg="1"/>
      <p:bldP spid="33" grpId="0" animBg="1"/>
      <p:bldP spid="34" grpId="0" animBg="1"/>
      <p:bldP spid="35" grpId="0" animBg="1"/>
      <p:bldP spid="37" grpId="0" animBg="1"/>
      <p:bldP spid="39" grpId="0" animBg="1"/>
      <p:bldP spid="41" grpId="0" animBg="1"/>
      <p:bldP spid="43" grpId="0" animBg="1"/>
      <p:bldP spid="4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A5 · ELIGIBILITY AND ROADMAP</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Tokenized assets are offered only where they are allowed</a:t>
            </a:r>
            <a:endParaRPr lang="en-US" sz="3600" dirty="0"/>
          </a:p>
        </p:txBody>
      </p:sp>
      <p:sp>
        <p:nvSpPr>
          <p:cNvPr id="4" name="in0"/>
          <p:cNvSpPr/>
          <p:nvPr/>
        </p:nvSpPr>
        <p:spPr>
          <a:xfrm>
            <a:off x="548640" y="1828800"/>
            <a:ext cx="2103120" cy="438912"/>
          </a:xfrm>
          <a:prstGeom prst="roundRect">
            <a:avLst>
              <a:gd name="adj" fmla="val 25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Declared country</a:t>
            </a:r>
            <a:endParaRPr lang="en-US" sz="1300" dirty="0"/>
          </a:p>
        </p:txBody>
      </p:sp>
      <p:sp>
        <p:nvSpPr>
          <p:cNvPr id="5" name="in1"/>
          <p:cNvSpPr/>
          <p:nvPr/>
        </p:nvSpPr>
        <p:spPr>
          <a:xfrm>
            <a:off x="548640" y="2395728"/>
            <a:ext cx="2103120" cy="438912"/>
          </a:xfrm>
          <a:prstGeom prst="roundRect">
            <a:avLst>
              <a:gd name="adj" fmla="val 25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Investor status</a:t>
            </a:r>
            <a:endParaRPr lang="en-US" sz="1300" dirty="0"/>
          </a:p>
        </p:txBody>
      </p:sp>
      <p:sp>
        <p:nvSpPr>
          <p:cNvPr id="6" name="in2"/>
          <p:cNvSpPr/>
          <p:nvPr/>
        </p:nvSpPr>
        <p:spPr>
          <a:xfrm>
            <a:off x="548640" y="2962656"/>
            <a:ext cx="2103120" cy="438912"/>
          </a:xfrm>
          <a:prstGeom prst="roundRect">
            <a:avLst>
              <a:gd name="adj" fmla="val 25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Geo-IP signal</a:t>
            </a:r>
            <a:endParaRPr lang="en-US" sz="1300" dirty="0"/>
          </a:p>
        </p:txBody>
      </p:sp>
      <p:sp>
        <p:nvSpPr>
          <p:cNvPr id="7" name="in3"/>
          <p:cNvSpPr/>
          <p:nvPr/>
        </p:nvSpPr>
        <p:spPr>
          <a:xfrm>
            <a:off x="548640" y="3529584"/>
            <a:ext cx="2103120" cy="438912"/>
          </a:xfrm>
          <a:prstGeom prst="roundRect">
            <a:avLst>
              <a:gd name="adj" fmla="val 25000"/>
            </a:avLst>
          </a:prstGeom>
          <a:solidFill>
            <a:srgbClr val="FFFFFF"/>
          </a:solidFill>
          <a:ln w="9525">
            <a:solidFill>
              <a:srgbClr val="CBD3DF"/>
            </a:solidFill>
            <a:prstDash val="solid"/>
          </a:ln>
        </p:spPr>
        <p:txBody>
          <a:bodyPr wrap="square" lIns="0" tIns="0" rIns="0" bIns="0" rtlCol="0" anchor="ctr"/>
          <a:lstStyle/>
          <a:p>
            <a:pPr algn="ctr" indent="0" marL="0">
              <a:buNone/>
            </a:pPr>
            <a:r>
              <a:rPr lang="en-US" sz="1300" dirty="0">
                <a:solidFill>
                  <a:srgbClr val="0F1E3A"/>
                </a:solidFill>
                <a:latin typeface="Calibri" pitchFamily="34" charset="0"/>
                <a:ea typeface="Calibri" pitchFamily="34" charset="-122"/>
                <a:cs typeface="Calibri" pitchFamily="34" charset="-120"/>
              </a:rPr>
              <a:t>Asset and route rules</a:t>
            </a:r>
            <a:endParaRPr lang="en-US" sz="1300" dirty="0"/>
          </a:p>
        </p:txBody>
      </p:sp>
      <p:sp>
        <p:nvSpPr>
          <p:cNvPr id="8" name="eng"/>
          <p:cNvSpPr/>
          <p:nvPr/>
        </p:nvSpPr>
        <p:spPr>
          <a:xfrm>
            <a:off x="2926080" y="2331720"/>
            <a:ext cx="1828800" cy="1188720"/>
          </a:xfrm>
          <a:prstGeom prst="roundRect">
            <a:avLst>
              <a:gd name="adj" fmla="val 12308"/>
            </a:avLst>
          </a:prstGeom>
          <a:solidFill>
            <a:srgbClr val="1C2B4A"/>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Eligibility engine</a:t>
            </a:r>
            <a:endParaRPr lang="en-US" sz="1400" dirty="0"/>
          </a:p>
          <a:p>
            <a:pPr algn="ctr" indent="0" marL="0">
              <a:buNone/>
            </a:pPr>
            <a:r>
              <a:rPr lang="en-US" sz="1200" dirty="0">
                <a:solidFill>
                  <a:srgbClr val="B6C7F0"/>
                </a:solidFill>
                <a:latin typeface="Calibri" pitchFamily="34" charset="0"/>
                <a:ea typeface="Calibri" pitchFamily="34" charset="-122"/>
                <a:cs typeface="Calibri" pitchFamily="34" charset="-120"/>
              </a:rPr>
              <a:t>per user, asset, route and action</a:t>
            </a:r>
            <a:endParaRPr lang="en-US" sz="1400" dirty="0"/>
          </a:p>
        </p:txBody>
      </p:sp>
      <p:sp>
        <p:nvSpPr>
          <p:cNvPr id="9" name="out0"/>
          <p:cNvSpPr/>
          <p:nvPr/>
        </p:nvSpPr>
        <p:spPr>
          <a:xfrm>
            <a:off x="5029200" y="1828800"/>
            <a:ext cx="1737360" cy="365760"/>
          </a:xfrm>
          <a:prstGeom prst="roundRect">
            <a:avLst>
              <a:gd name="adj" fmla="val 50000"/>
            </a:avLst>
          </a:prstGeom>
          <a:solidFill>
            <a:srgbClr val="E3F3EA"/>
          </a:solidFill>
          <a:ln/>
        </p:spPr>
        <p:txBody>
          <a:bodyPr wrap="square" lIns="0" tIns="0" rIns="0" bIns="0" rtlCol="0" anchor="ctr"/>
          <a:lstStyle/>
          <a:p>
            <a:pPr algn="ctr" indent="0" marL="0">
              <a:buNone/>
            </a:pPr>
            <a:r>
              <a:rPr lang="en-US" sz="1200" dirty="0">
                <a:solidFill>
                  <a:srgbClr val="0F1E3A"/>
                </a:solidFill>
                <a:latin typeface="Calibri" pitchFamily="34" charset="0"/>
                <a:ea typeface="Calibri" pitchFamily="34" charset="-122"/>
                <a:cs typeface="Calibri" pitchFamily="34" charset="-120"/>
              </a:rPr>
              <a:t>Allowed</a:t>
            </a:r>
            <a:endParaRPr lang="en-US" sz="1200" dirty="0"/>
          </a:p>
        </p:txBody>
      </p:sp>
      <p:sp>
        <p:nvSpPr>
          <p:cNvPr id="10" name="out1"/>
          <p:cNvSpPr/>
          <p:nvPr/>
        </p:nvSpPr>
        <p:spPr>
          <a:xfrm>
            <a:off x="5029200" y="2286000"/>
            <a:ext cx="1737360" cy="365760"/>
          </a:xfrm>
          <a:prstGeom prst="roundRect">
            <a:avLst>
              <a:gd name="adj" fmla="val 50000"/>
            </a:avLst>
          </a:prstGeom>
          <a:solidFill>
            <a:srgbClr val="FBE4E1"/>
          </a:solidFill>
          <a:ln/>
        </p:spPr>
        <p:txBody>
          <a:bodyPr wrap="square" lIns="0" tIns="0" rIns="0" bIns="0" rtlCol="0" anchor="ctr"/>
          <a:lstStyle/>
          <a:p>
            <a:pPr algn="ctr" indent="0" marL="0">
              <a:buNone/>
            </a:pPr>
            <a:r>
              <a:rPr lang="en-US" sz="1200" dirty="0">
                <a:solidFill>
                  <a:srgbClr val="0F1E3A"/>
                </a:solidFill>
                <a:latin typeface="Calibri" pitchFamily="34" charset="0"/>
                <a:ea typeface="Calibri" pitchFamily="34" charset="-122"/>
                <a:cs typeface="Calibri" pitchFamily="34" charset="-120"/>
              </a:rPr>
              <a:t>Restricted</a:t>
            </a:r>
            <a:endParaRPr lang="en-US" sz="1200" dirty="0"/>
          </a:p>
        </p:txBody>
      </p:sp>
      <p:sp>
        <p:nvSpPr>
          <p:cNvPr id="11" name="out2"/>
          <p:cNvSpPr/>
          <p:nvPr/>
        </p:nvSpPr>
        <p:spPr>
          <a:xfrm>
            <a:off x="5029200" y="2743200"/>
            <a:ext cx="1737360" cy="365760"/>
          </a:xfrm>
          <a:prstGeom prst="roundRect">
            <a:avLst>
              <a:gd name="adj" fmla="val 50000"/>
            </a:avLst>
          </a:prstGeom>
          <a:solidFill>
            <a:srgbClr val="FFF3D6"/>
          </a:solidFill>
          <a:ln/>
        </p:spPr>
        <p:txBody>
          <a:bodyPr wrap="square" lIns="0" tIns="0" rIns="0" bIns="0" rtlCol="0" anchor="ctr"/>
          <a:lstStyle/>
          <a:p>
            <a:pPr algn="ctr" indent="0" marL="0">
              <a:buNone/>
            </a:pPr>
            <a:r>
              <a:rPr lang="en-US" sz="1200" dirty="0">
                <a:solidFill>
                  <a:srgbClr val="0F1E3A"/>
                </a:solidFill>
                <a:latin typeface="Calibri" pitchFamily="34" charset="0"/>
                <a:ea typeface="Calibri" pitchFamily="34" charset="-122"/>
                <a:cs typeface="Calibri" pitchFamily="34" charset="-120"/>
              </a:rPr>
              <a:t>KYC required</a:t>
            </a:r>
            <a:endParaRPr lang="en-US" sz="1200" dirty="0"/>
          </a:p>
        </p:txBody>
      </p:sp>
      <p:sp>
        <p:nvSpPr>
          <p:cNvPr id="12" name="out3"/>
          <p:cNvSpPr/>
          <p:nvPr/>
        </p:nvSpPr>
        <p:spPr>
          <a:xfrm>
            <a:off x="5029200" y="3200400"/>
            <a:ext cx="1737360" cy="365760"/>
          </a:xfrm>
          <a:prstGeom prst="roundRect">
            <a:avLst>
              <a:gd name="adj" fmla="val 50000"/>
            </a:avLst>
          </a:prstGeom>
          <a:solidFill>
            <a:srgbClr val="FFF3D6"/>
          </a:solidFill>
          <a:ln/>
        </p:spPr>
        <p:txBody>
          <a:bodyPr wrap="square" lIns="0" tIns="0" rIns="0" bIns="0" rtlCol="0" anchor="ctr"/>
          <a:lstStyle/>
          <a:p>
            <a:pPr algn="ctr" indent="0" marL="0">
              <a:buNone/>
            </a:pPr>
            <a:r>
              <a:rPr lang="en-US" sz="1200" dirty="0">
                <a:solidFill>
                  <a:srgbClr val="0F1E3A"/>
                </a:solidFill>
                <a:latin typeface="Calibri" pitchFamily="34" charset="0"/>
                <a:ea typeface="Calibri" pitchFamily="34" charset="-122"/>
                <a:cs typeface="Calibri" pitchFamily="34" charset="-120"/>
              </a:rPr>
              <a:t>Review required</a:t>
            </a:r>
            <a:endParaRPr lang="en-US" sz="1200" dirty="0"/>
          </a:p>
        </p:txBody>
      </p:sp>
      <p:sp>
        <p:nvSpPr>
          <p:cNvPr id="13" name="out4"/>
          <p:cNvSpPr/>
          <p:nvPr/>
        </p:nvSpPr>
        <p:spPr>
          <a:xfrm>
            <a:off x="5029200" y="3657600"/>
            <a:ext cx="1737360" cy="365760"/>
          </a:xfrm>
          <a:prstGeom prst="roundRect">
            <a:avLst>
              <a:gd name="adj" fmla="val 50000"/>
            </a:avLst>
          </a:prstGeom>
          <a:solidFill>
            <a:srgbClr val="FFF3D6"/>
          </a:solidFill>
          <a:ln/>
        </p:spPr>
        <p:txBody>
          <a:bodyPr wrap="square" lIns="0" tIns="0" rIns="0" bIns="0" rtlCol="0" anchor="ctr"/>
          <a:lstStyle/>
          <a:p>
            <a:pPr algn="ctr" indent="0" marL="0">
              <a:buNone/>
            </a:pPr>
            <a:r>
              <a:rPr lang="en-US" sz="1200" dirty="0">
                <a:solidFill>
                  <a:srgbClr val="0F1E3A"/>
                </a:solidFill>
                <a:latin typeface="Calibri" pitchFamily="34" charset="0"/>
                <a:ea typeface="Calibri" pitchFamily="34" charset="-122"/>
                <a:cs typeface="Calibri" pitchFamily="34" charset="-120"/>
              </a:rPr>
              <a:t>Declaration required</a:t>
            </a:r>
            <a:endParaRPr lang="en-US" sz="1200" dirty="0"/>
          </a:p>
        </p:txBody>
      </p:sp>
      <p:sp>
        <p:nvSpPr>
          <p:cNvPr id="14" name="erules"/>
          <p:cNvSpPr txBox="1"/>
          <p:nvPr/>
        </p:nvSpPr>
        <p:spPr>
          <a:xfrm>
            <a:off x="548640" y="4251960"/>
            <a:ext cx="5669280" cy="1828800"/>
          </a:xfrm>
          <a:prstGeom prst="rect">
            <a:avLst/>
          </a:prstGeom>
          <a:noFill/>
          <a:ln/>
        </p:spPr>
        <p:txBody>
          <a:bodyPr wrap="square" lIns="0" tIns="0" rIns="0" bIns="0" rtlCol="0" anchor="t"/>
          <a:lstStyle/>
          <a:p>
            <a:pPr algn="l" marL="342900" indent="-342900">
              <a:spcAft>
                <a:spcPts val="300"/>
              </a:spcAft>
              <a:buSzPct val="100000"/>
              <a:buChar char="•"/>
            </a:pPr>
            <a:r>
              <a:rPr lang="en-US" sz="1300" dirty="0">
                <a:solidFill>
                  <a:srgbClr val="56627A"/>
                </a:solidFill>
                <a:latin typeface="Calibri" pitchFamily="34" charset="0"/>
                <a:ea typeface="Calibri" pitchFamily="34" charset="-122"/>
                <a:cs typeface="Calibri" pitchFamily="34" charset="-120"/>
              </a:rPr>
              <a:t>No rule means restricted; crypto and stablecoins are not affected.</a:t>
            </a:r>
            <a:endParaRPr lang="en-US" sz="1300" dirty="0"/>
          </a:p>
          <a:p>
            <a:pPr algn="l" marL="342900" indent="-342900">
              <a:spcAft>
                <a:spcPts val="300"/>
              </a:spcAft>
              <a:buSzPct val="100000"/>
              <a:buChar char="•"/>
            </a:pPr>
            <a:r>
              <a:rPr lang="en-US" sz="1300" dirty="0">
                <a:solidFill>
                  <a:srgbClr val="56627A"/>
                </a:solidFill>
                <a:latin typeface="Calibri" pitchFamily="34" charset="0"/>
                <a:ea typeface="Calibri" pitchFamily="34" charset="-122"/>
                <a:cs typeface="Calibri" pitchFamily="34" charset="-120"/>
              </a:rPr>
              <a:t>Declarations are versioned and expire after 365 days.</a:t>
            </a:r>
            <a:endParaRPr lang="en-US" sz="1300" dirty="0"/>
          </a:p>
          <a:p>
            <a:pPr algn="l" marL="342900" indent="-342900">
              <a:spcAft>
                <a:spcPts val="300"/>
              </a:spcAft>
              <a:buSzPct val="100000"/>
              <a:buChar char="•"/>
            </a:pPr>
            <a:r>
              <a:rPr lang="en-US" sz="1300" dirty="0">
                <a:solidFill>
                  <a:srgbClr val="56627A"/>
                </a:solidFill>
                <a:latin typeface="Calibri" pitchFamily="34" charset="0"/>
                <a:ea typeface="Calibri" pitchFamily="34" charset="-122"/>
                <a:cs typeface="Calibri" pitchFamily="34" charset="-120"/>
              </a:rPr>
              <a:t>Restricted holdings are never force-sold; they stay in the wallet.</a:t>
            </a:r>
            <a:endParaRPr lang="en-US" sz="1300" dirty="0"/>
          </a:p>
          <a:p>
            <a:pPr algn="l" marL="342900" indent="-342900">
              <a:spcAft>
                <a:spcPts val="300"/>
              </a:spcAft>
              <a:buSzPct val="100000"/>
              <a:buChar char="•"/>
            </a:pPr>
            <a:r>
              <a:rPr lang="en-US" sz="1300" dirty="0">
                <a:solidFill>
                  <a:srgbClr val="56627A"/>
                </a:solidFill>
                <a:latin typeface="Calibri" pitchFamily="34" charset="0"/>
                <a:ea typeface="Calibri" pitchFamily="34" charset="-122"/>
                <a:cs typeface="Calibri" pitchFamily="34" charset="-120"/>
              </a:rPr>
              <a:t>Legal review per jurisdiction is still open.</a:t>
            </a:r>
            <a:endParaRPr lang="en-US" sz="1300" dirty="0"/>
          </a:p>
        </p:txBody>
      </p:sp>
      <p:sp>
        <p:nvSpPr>
          <p:cNvPr id="15" name="rbg"/>
          <p:cNvSpPr/>
          <p:nvPr/>
        </p:nvSpPr>
        <p:spPr>
          <a:xfrm>
            <a:off x="6675120" y="1783080"/>
            <a:ext cx="4967935" cy="4389120"/>
          </a:xfrm>
          <a:prstGeom prst="roundRect">
            <a:avLst>
              <a:gd name="adj" fmla="val 4167"/>
            </a:avLst>
          </a:prstGeom>
          <a:solidFill>
            <a:srgbClr val="FFFFFF"/>
          </a:solidFill>
          <a:ln w="9525">
            <a:solidFill>
              <a:srgbClr val="E2E7EF"/>
            </a:solidFill>
            <a:prstDash val="solid"/>
          </a:ln>
        </p:spPr>
      </p:sp>
      <p:sp>
        <p:nvSpPr>
          <p:cNvPr id="16" name="rh"/>
          <p:cNvSpPr txBox="1"/>
          <p:nvPr/>
        </p:nvSpPr>
        <p:spPr>
          <a:xfrm>
            <a:off x="6949440" y="1993392"/>
            <a:ext cx="27432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ROADMAP DETAIL</a:t>
            </a:r>
            <a:endParaRPr lang="en-US" sz="1100" dirty="0"/>
          </a:p>
        </p:txBody>
      </p:sp>
      <p:sp>
        <p:nvSpPr>
          <p:cNvPr id="17" name="road"/>
          <p:cNvSpPr txBox="1"/>
          <p:nvPr/>
        </p:nvSpPr>
        <p:spPr>
          <a:xfrm>
            <a:off x="6949440" y="2377440"/>
            <a:ext cx="4419295" cy="3657600"/>
          </a:xfrm>
          <a:prstGeom prst="rect">
            <a:avLst/>
          </a:prstGeom>
          <a:noFill/>
          <a:ln/>
        </p:spPr>
        <p:txBody>
          <a:bodyPr wrap="square" lIns="0" tIns="0" rIns="0" bIns="0" rtlCol="0" anchor="t"/>
          <a:lstStyle/>
          <a:p>
            <a:pPr algn="l" indent="0" marL="0">
              <a:spcAft>
                <a:spcPts val="500"/>
              </a:spcAft>
              <a:buNone/>
            </a:pPr>
            <a:r>
              <a:rPr lang="en-US" sz="1300" b="1" dirty="0">
                <a:solidFill>
                  <a:srgbClr val="0F1E3A"/>
                </a:solidFill>
                <a:latin typeface="Calibri" pitchFamily="34" charset="0"/>
                <a:ea typeface="Calibri" pitchFamily="34" charset="-122"/>
                <a:cs typeface="Calibri" pitchFamily="34" charset="-120"/>
              </a:rPr>
              <a:t>Next</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Link a different address per chain and several wallets (D-120, D-121)</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KYC vendor, permissioned RWAs, issuer subscription and redemption</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One combined repair plan; instant drift alerts by webhook</a:t>
            </a:r>
            <a:endParaRPr lang="en-US" sz="1300" dirty="0"/>
          </a:p>
          <a:p>
            <a:pPr algn="l" indent="0" marL="0">
              <a:spcAft>
                <a:spcPts val="500"/>
              </a:spcAft>
              <a:buNone/>
            </a:pPr>
            <a:r>
              <a:rPr lang="en-US" sz="1300" b="1" dirty="0">
                <a:solidFill>
                  <a:srgbClr val="0F1E3A"/>
                </a:solidFill>
                <a:latin typeface="Calibri" pitchFamily="34" charset="0"/>
                <a:ea typeface="Calibri" pitchFamily="34" charset="-122"/>
                <a:cs typeface="Calibri" pitchFamily="34" charset="-120"/>
              </a:rPr>
              <a:t>Later</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US and global stocks, ETFs (needs a custody decision)</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Commodities, indices, currencies, deposits, pre-IPO</a:t>
            </a:r>
            <a:endParaRPr lang="en-US" sz="1300" dirty="0"/>
          </a:p>
          <a:p>
            <a:pPr algn="l" marL="342900" indent="-342900">
              <a:spcAft>
                <a:spcPts val="500"/>
              </a:spcAft>
              <a:buSzPct val="100000"/>
              <a:buChar char="•"/>
            </a:pPr>
            <a:r>
              <a:rPr lang="en-US" sz="1300" dirty="0">
                <a:solidFill>
                  <a:srgbClr val="56627A"/>
                </a:solidFill>
                <a:latin typeface="Calibri" pitchFamily="34" charset="0"/>
                <a:ea typeface="Calibri" pitchFamily="34" charset="-122"/>
                <a:cs typeface="Calibri" pitchFamily="34" charset="-120"/>
              </a:rPr>
              <a:t>Management-fee collection, subscriptions, more settlement currencies</a:t>
            </a:r>
            <a:endParaRPr lang="en-US" sz="1300" dirty="0"/>
          </a:p>
        </p:txBody>
      </p:sp>
      <p:sp>
        <p:nvSpPr>
          <p:cNvPr id="18"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ADR-018; D-025, D-100 to D-106; docs/domains/FUTURE-PLANS.md.</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3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48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64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8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96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112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128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144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16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176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19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208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
          <p:cNvSpPr txBox="1"/>
          <p:nvPr/>
        </p:nvSpPr>
        <p:spPr>
          <a:xfrm>
            <a:off x="548640" y="411480"/>
            <a:ext cx="8229600" cy="256032"/>
          </a:xfrm>
          <a:prstGeom prst="rect">
            <a:avLst/>
          </a:prstGeom>
          <a:noFill/>
          <a:ln/>
        </p:spPr>
        <p:txBody>
          <a:bodyPr wrap="square" lIns="0" tIns="0" rIns="0" bIns="0" rtlCol="0" anchor="t"/>
          <a:lstStyle/>
          <a:p>
            <a:pPr algn="l" indent="0" marL="0">
              <a:buNone/>
            </a:pPr>
            <a:r>
              <a:rPr lang="en-US" sz="1100" b="1" spc="200" kern="0" dirty="0">
                <a:solidFill>
                  <a:srgbClr val="3D63D9"/>
                </a:solidFill>
                <a:latin typeface="Calibri" pitchFamily="34" charset="0"/>
                <a:ea typeface="Calibri" pitchFamily="34" charset="-122"/>
                <a:cs typeface="Calibri" pitchFamily="34" charset="-120"/>
              </a:rPr>
              <a:t>APPENDIX A6 · SOURCES</a:t>
            </a:r>
            <a:endParaRPr lang="en-US" sz="1100" dirty="0"/>
          </a:p>
        </p:txBody>
      </p:sp>
      <p:sp>
        <p:nvSpPr>
          <p:cNvPr id="3" name="Text 0"/>
          <p:cNvSpPr/>
          <p:nvPr>
            <p:ph idx="101" type="title" hasCustomPrompt="1"/>
          </p:nvPr>
        </p:nvSpPr>
        <p:spPr>
          <a:xfrm>
            <a:off x="548640" y="749808"/>
            <a:ext cx="11094415" cy="777240"/>
          </a:xfrm>
          <a:prstGeom prst="rect">
            <a:avLst/>
          </a:prstGeom>
          <a:noFill/>
          <a:ln/>
        </p:spPr>
        <p:txBody>
          <a:bodyPr wrap="square" lIns="0" tIns="0" rIns="0" bIns="0" rtlCol="0" anchor="t"/>
          <a:lstStyle/>
          <a:p>
            <a:pPr indent="0" marL="0">
              <a:buNone/>
            </a:pPr>
            <a:r>
              <a:rPr lang="en-US" sz="3600" dirty="0">
                <a:solidFill>
                  <a:srgbClr val="0F1E3A"/>
                </a:solidFill>
                <a:latin typeface="Calibri Light" pitchFamily="34" charset="0"/>
                <a:ea typeface="Calibri Light" pitchFamily="34" charset="-122"/>
                <a:cs typeface="Calibri Light" pitchFamily="34" charset="-120"/>
              </a:rPr>
              <a:t>Every number in this deck, with its source</a:t>
            </a:r>
            <a:endParaRPr lang="en-US" sz="3600" dirty="0"/>
          </a:p>
        </p:txBody>
      </p:sp>
      <p:sp>
        <p:nvSpPr>
          <p:cNvPr id="4" name="src0"/>
          <p:cNvSpPr txBox="1"/>
          <p:nvPr/>
        </p:nvSpPr>
        <p:spPr>
          <a:xfrm>
            <a:off x="548640" y="1828800"/>
            <a:ext cx="5394960" cy="4297680"/>
          </a:xfrm>
          <a:prstGeom prst="rect">
            <a:avLst/>
          </a:prstGeom>
          <a:noFill/>
          <a:ln/>
        </p:spPr>
        <p:txBody>
          <a:bodyPr wrap="square" lIns="0" tIns="0" rIns="0" bIns="0" rtlCol="0" anchor="t"/>
          <a:lstStyle/>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Tokenized RWAs $39.02B distributed, 9 Oct 2026: rwa.xyz via KuCoin blog</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RWAs ~$21B Jan and ~$27.5B end Q1 2026: Investax Q1 2026 report</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RWAs $38.29B mid-Aug 2026: Cryptobriefing</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Solana RWAs $3.1B (Jun), $4.23B (5 Sep): Cryptobriefing, Memeburn</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Solana RWAs $4.6B, $17.51B stablecoins, 13.07M stablecoin wallets, 1M+ tokenized-stock holders, 3,000+ assets: Solana Foundation Sep 2026 roundup</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47% of on-chain RWA trades (12 months to 18 Aug 2026): Allium via Hokanews</a:t>
            </a:r>
            <a:endParaRPr lang="en-US" sz="1300" dirty="0"/>
          </a:p>
        </p:txBody>
      </p:sp>
      <p:sp>
        <p:nvSpPr>
          <p:cNvPr id="5" name="src1"/>
          <p:cNvSpPr txBox="1"/>
          <p:nvPr/>
        </p:nvSpPr>
        <p:spPr>
          <a:xfrm>
            <a:off x="6217920" y="1828800"/>
            <a:ext cx="5394960" cy="4297680"/>
          </a:xfrm>
          <a:prstGeom prst="rect">
            <a:avLst/>
          </a:prstGeom>
          <a:noFill/>
          <a:ln/>
        </p:spPr>
        <p:txBody>
          <a:bodyPr wrap="square" lIns="0" tIns="0" rIns="0" bIns="0" rtlCol="0" anchor="t"/>
          <a:lstStyle/>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~$17B scam proceeds 2025, impersonation +1,400%: Chainalysis 2026 via FastBull</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62% of users manage 2+ wallets: Reown/Nansen 2025 via Benzinga</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smallcase 10M+ investors: smallcase.com</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eToro 3.81M funded accounts: Q4 2025 earnings call; copy trading record: Q1 2026 call</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Symmetry basket tokens: symmetry.fi · Glider: Glider blog, ZeroDev case study</a:t>
            </a:r>
            <a:endParaRPr lang="en-US" sz="1300" dirty="0"/>
          </a:p>
          <a:p>
            <a:pPr algn="l" marL="342900" indent="-342900">
              <a:spcAft>
                <a:spcPts val="700"/>
              </a:spcAft>
              <a:buSzPct val="100000"/>
              <a:buChar char="•"/>
            </a:pPr>
            <a:r>
              <a:rPr lang="en-US" sz="1300" dirty="0">
                <a:solidFill>
                  <a:srgbClr val="0F1E3A"/>
                </a:solidFill>
                <a:latin typeface="Calibri" pitchFamily="34" charset="0"/>
                <a:ea typeface="Calibri" pitchFamily="34" charset="-122"/>
                <a:cs typeface="Calibri" pitchFamily="34" charset="-120"/>
              </a:rPr>
              <a:t>Pitch format: Colosseum hackathon page and submission workshop; Storydoc and DocSend deck studies</a:t>
            </a:r>
            <a:endParaRPr lang="en-US" sz="1300" dirty="0"/>
          </a:p>
        </p:txBody>
      </p:sp>
      <p:sp>
        <p:nvSpPr>
          <p:cNvPr id="6" name="source"/>
          <p:cNvSpPr txBox="1"/>
          <p:nvPr/>
        </p:nvSpPr>
        <p:spPr>
          <a:xfrm>
            <a:off x="548640" y="6382512"/>
            <a:ext cx="9326880" cy="274320"/>
          </a:xfrm>
          <a:prstGeom prst="rect">
            <a:avLst/>
          </a:prstGeom>
          <a:noFill/>
          <a:ln/>
        </p:spPr>
        <p:txBody>
          <a:bodyPr wrap="square" lIns="0" tIns="0" rIns="0" bIns="0" rtlCol="0" anchor="t"/>
          <a:lstStyle/>
          <a:p>
            <a:pPr algn="l" indent="0" marL="0">
              <a:buNone/>
            </a:pPr>
            <a:r>
              <a:rPr lang="en-US" sz="1000" dirty="0">
                <a:solidFill>
                  <a:srgbClr val="68728A"/>
                </a:solidFill>
                <a:latin typeface="Calibri" pitchFamily="34" charset="0"/>
                <a:ea typeface="Calibri" pitchFamily="34" charset="-122"/>
                <a:cs typeface="Calibri" pitchFamily="34" charset="-120"/>
              </a:rPr>
              <a:t>Retrieved 10–11 Oct 2026. Market figures change daily: re-check rwa.xyz and the Solana Foundation before presenting. Links: docs/pitch/PITCH-DECK-PLAN.md.</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8728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6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theme1.xml><?xml version="1.0" encoding="utf-8"?>
<a:theme xmlns:a="http://schemas.openxmlformats.org/drawingml/2006/main" name="Bytesac">
  <a:themeElements>
    <a:clrScheme name="Bytesac">
      <a:dk1>
        <a:srgbClr val="0F1E3A"/>
      </a:dk1>
      <a:lt1>
        <a:srgbClr val="FFFFFF"/>
      </a:lt1>
      <a:dk2>
        <a:srgbClr val="1C2B4A"/>
      </a:dk2>
      <a:lt2>
        <a:srgbClr val="F6F8FB"/>
      </a:lt2>
      <a:accent1>
        <a:srgbClr val="3D63D9"/>
      </a:accent1>
      <a:accent2>
        <a:srgbClr val="1C2B4A"/>
      </a:accent2>
      <a:accent3>
        <a:srgbClr val="7C98E6"/>
      </a:accent3>
      <a:accent4>
        <a:srgbClr val="B6C7F0"/>
      </a:accent4>
      <a:accent5>
        <a:srgbClr val="1F7A4D"/>
      </a:accent5>
      <a:accent6>
        <a:srgbClr val="C2410C"/>
      </a:accent6>
      <a:hlink>
        <a:srgbClr val="3D63D9"/>
      </a:hlink>
      <a:folHlink>
        <a:srgbClr val="56627A"/>
      </a:folHlink>
    </a:clrScheme>
    <a:fontScheme name="Bytesac">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Bytesac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Bytesac — investor and hackathon pitch</dc:title>
  <dc:subject>PptxGenJS Presentation</dc:subject>
  <dc:creator>Bytesac</dc:creator>
  <cp:lastModifiedBy>Bytesac</cp:lastModifiedBy>
  <cp:revision>1</cp:revision>
  <dcterms:created xsi:type="dcterms:W3CDTF">2026-10-10T22:13:57Z</dcterms:created>
  <dcterms:modified xsi:type="dcterms:W3CDTF">2026-10-10T22:13:57Z</dcterms:modified>
</cp:coreProperties>
</file>